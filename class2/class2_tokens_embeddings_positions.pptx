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第二课：输入表示的算法与机制</a:t>
            </a:r>
          </a:p>
          <a:p>
            <a:r>
              <a:t>Tokenizer：怎样学习规则，怎样执行编码</a:t>
            </a:r>
          </a:p>
          <a:p>
            <a:r>
              <a:t>Embedding：怎样选行，误差怎样更新表</a:t>
            </a:r>
          </a:p>
          <a:p>
            <a:r>
              <a:t>位置机制：顺序怎样进入 Q/K 计算</a:t>
            </a:r>
          </a:p>
          <a:p>
            <a:r>
              <a:t>文本 → token ID → 可训练向量 → 位置机制 → Attention</a:t>
            </a:r>
          </a:p>
          <a:p>
            <a:r>
              <a:t>沿用第一课的Q/K/V概念，新增B、T、D、V四个形状符号。本课有字符级BPE机制实验与真实ByteLevel BPE实现，两者的词表和ID不混用。课堂运行已保存的本地配置，不下载预训练模型。准备阶段安装Tokenizers与PyTorch。</a:t>
            </a:r>
          </a:p>
          <a:p>
            <a:r>
              <a:t>页面解释：</a:t>
            </a:r>
          </a:p>
          <a:p>
            <a:r>
              <a:t>语言模型预测的是下一个 token；本课先解决文本怎样进入模型。</a:t>
            </a:r>
          </a:p>
          <a:p>
            <a:r>
              <a:t>文本先按固定规则得到 ID；ID 再读取可训练参数，成为向量。</a:t>
            </a:r>
          </a:p>
          <a:p>
            <a:r>
              <a:t>同一 ID 在不同位置仍读取同一行，因此还要让位置参与计算。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词表规模是计算取舍，不只是“怎么分词”</a:t>
            </a:r>
          </a:p>
          <a:p>
            <a:r>
              <a:t>V 增大，embedding 与输出层参数随之增大</a:t>
            </a:r>
          </a:p>
          <a:p>
            <a:r>
              <a:t>T 增大，稠密注意力分数矩阵按 T² 增长</a:t>
            </a:r>
          </a:p>
          <a:p>
            <a:r>
              <a:t>在覆盖、序列长度和参数规模之间权衡</a:t>
            </a:r>
          </a:p>
          <a:p>
            <a:r>
              <a:t>E 的参数量 V×D；V=32768、D=4096、FP16 时约占 256 MiB。</a:t>
            </a:r>
          </a:p>
          <a:p>
            <a:r>
              <a:t>只计算单个embedding矩阵，32768×4096×2字节=256MiB；未绑定的输出权重另占一份。注意力分数矩阵的T²描述稠密实现，不能说整个模型成本仅由T²决定；logits投影也有T×D×V成本。更大的词表不保证所有文本都更短，本页仅用手工切分比较粒度，不再讲词表320/384的数量对比。</a:t>
            </a:r>
          </a:p>
          <a:p>
            <a:r>
              <a:t>页面解释：</a:t>
            </a:r>
          </a:p>
          <a:p>
            <a:r>
              <a:t>按字：片段短、组合灵活，但同一段文本通常需要更多 token。</a:t>
            </a:r>
          </a:p>
          <a:p>
            <a:r>
              <a:t>按整词：序列可能更短，但词表更大，新词也更难处理。</a:t>
            </a:r>
          </a:p>
          <a:p>
            <a:r>
              <a:t>BPE 在基础单位之上合并常见片段，复用已有片段表示新组合。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页｜6–10 分钟</a:t>
            </a:r>
          </a:p>
          <a:p>
            <a:r>
              <a:t>BPE 训练：加权统计、合并、重新统计</a:t>
            </a:r>
          </a:p>
          <a:p>
            <a:r>
              <a:t>把每种文本的相邻次数，乘以该文本的出现频次</a:t>
            </a:r>
          </a:p>
          <a:p>
            <a:r>
              <a:t>选择当前最高频 pair，合并非重叠出现</a:t>
            </a:r>
          </a:p>
          <a:p>
            <a:r>
              <a:t>重算频次，直到词表预算或停止条件满足</a:t>
            </a:r>
          </a:p>
          <a:p>
            <a:r>
              <a:t>本例语料频次 5、3、2；四轮合并频次为 10、10、8、8。</a:t>
            </a:r>
          </a:p>
          <a:p>
            <a:r>
              <a:t>打开bpe_core.train_bpe，解释corpus中的频次乘数。首轮喜+欢与欢+喝同为10，本例按首次出现顺序打破并列。边界由预切分决定，本字符示例把每句作为一个片段；真实库下一页展示正则预切分。讲清训练不是梯度下降，而是统计和贪心合并。 演示语料改为奶茶与咖啡，四轮频次仍为10、10、8、8。</a:t>
            </a:r>
          </a:p>
          <a:p>
            <a:r>
              <a:t>页面解释：</a:t>
            </a:r>
          </a:p>
          <a:p>
            <a:r>
              <a:t>演示语料：我喜欢喝奶茶×5、你喜欢喝奶茶×3、我喜欢喝咖啡×2。</a:t>
            </a:r>
          </a:p>
          <a:p>
            <a:r>
              <a:t>第一轮“喜+欢”频次为5+3+2=10；“我+喜”只有5+2=7。</a:t>
            </a:r>
          </a:p>
          <a:p>
            <a:r>
              <a:t>先合并喜+欢，再重新统计；四轮依次得到喜欢、喜欢喝、喜欢喝奶、喜欢喝奶茶。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1，bpe_core.py:train_bpe</a:t>
            </a:r>
          </a:p>
          <a:p>
            <a:r>
              <a:t>观察：四轮合并频次：10 → 10 → 8 →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页｜10–14 分钟</a:t>
            </a:r>
          </a:p>
          <a:p>
            <a:r>
              <a:t>BPE 编码：按 merge rank，不按最长词匹配</a:t>
            </a:r>
          </a:p>
          <a:p>
            <a:r>
              <a:t>固定 merges：第 0 条 b+c，第 1 条 a+b</a:t>
            </a:r>
          </a:p>
          <a:p>
            <a:r>
              <a:t>abc 的当前候选：bc(rank 0)、ab(rank 1)</a:t>
            </a:r>
          </a:p>
          <a:p>
            <a:r>
              <a:t>先合并 bc，得到 a / bc</a:t>
            </a:r>
          </a:p>
          <a:p>
            <a:r>
              <a:t>merge rank 表示合并优先级；token ID 表示词表地址，两者不能混用。</a:t>
            </a:r>
          </a:p>
          <a:p>
            <a:r>
              <a:t>用语料bc×6、ab×5、abc×1训练两轮，先bc频次7，再ab频次5。词表含ab、bc，但编码abc按rank得到a/bc，最长前缀会得到ab/c。运行bpe_core.demo看反例，再指出encode_bpe每轮枚举当前相邻候选并选最小rank。真实实现常用更高效数据结构，本课重在规则语义。 先走完奶茶例子的四步编码，再用abc说明重叠候选为何不能最长匹配。</a:t>
            </a:r>
          </a:p>
          <a:p>
            <a:r>
              <a:t>页面解释：</a:t>
            </a:r>
          </a:p>
          <a:p>
            <a:r>
              <a:t>固定上一页学到的四条 merges，对“你喜欢喝奶茶”逐轮执行。</a:t>
            </a:r>
          </a:p>
          <a:p>
            <a:r>
              <a:t>编码时不再统计训练语料，也不更新 merges，只选择当前候选的最小 rank。</a:t>
            </a:r>
          </a:p>
          <a:p>
            <a:r>
              <a:t>遇到重叠候选时，优先级比片段长度重要；abc 的反例得到 a/bc。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2，bpe_core.py:encode_bpe</a:t>
            </a:r>
          </a:p>
          <a:p>
            <a:r>
              <a:t>观察：你喜欢喝奶茶 → 你 / 喜欢喝奶茶；重叠反例 abc → a / bc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页｜14–18 分钟</a:t>
            </a:r>
          </a:p>
          <a:p>
            <a:r>
              <a:t>真实实现：ByteLevel BPE 的完整流水线</a:t>
            </a:r>
          </a:p>
          <a:p>
            <a:r>
              <a:t>本地语料 → ByteLevel 预切分 → BPE 训练</a:t>
            </a:r>
          </a:p>
          <a:p>
            <a:r>
              <a:t>保存 tokenizer.json：词表、merges 和配置</a:t>
            </a:r>
          </a:p>
          <a:p>
            <a:r>
              <a:t>加载配置 → encode → tokens / ids / offsets</a:t>
            </a:r>
          </a:p>
          <a:p>
            <a:r>
              <a:t>分词器训练与语言模型训练，是两套不同的学习过程。</a:t>
            </a:r>
          </a:p>
          <a:p>
            <a:r>
              <a:t>展示train_tokenizer.py中的Tokenizer(BPE)、ByteLevel、BpeTrainer和save。设置完整256字节基础字母表，四个特殊token，目标词表320或384。不设置有损normalizer，add_prefix_space=False。本地语料28行，重复10遍用于频次。已提交配置用于课堂复现，现场不必重训。不能把该小语料tokenizer称为商用模型的预训练配置。</a:t>
            </a:r>
          </a:p>
          <a:p>
            <a:r>
              <a:t>页面解释：</a:t>
            </a:r>
          </a:p>
          <a:p>
            <a:r>
              <a:t>字符演示说明合并规则；真实库还要处理文本边界、基础字节和解码。</a:t>
            </a:r>
          </a:p>
          <a:p>
            <a:r>
              <a:t>本课 ByteLevel 用完整256字节字母表覆盖UTF-8字节，并设置4个特殊符号。</a:t>
            </a:r>
          </a:p>
          <a:p>
            <a:r>
              <a:t>保存的不只是词表，还包括merges、预切分和decoder；之后加载完整配置。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3，train_tokenizer.py:train</a:t>
            </a:r>
          </a:p>
          <a:p>
            <a:r>
              <a:t>观察：从本地语料训练，完整配置保存在 JSON 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页｜18–20 分钟</a:t>
            </a:r>
          </a:p>
          <a:p>
            <a:r>
              <a:t>tokenizer 必须与模型参数配套</a:t>
            </a:r>
          </a:p>
          <a:p>
            <a:r>
              <a:t>特殊符号也有 ID：pad=0、unk=1、bos=2、eos=3</a:t>
            </a:r>
          </a:p>
          <a:p>
            <a:r>
              <a:t>相同词表大小，不代表 ID 与 merges 相同</a:t>
            </a:r>
          </a:p>
          <a:p>
            <a:r>
              <a:t>先固定配置，再为它构造和训练参数表</a:t>
            </a:r>
          </a:p>
          <a:p>
            <a:r>
              <a:t>本课默认配置：V=320；“我喜欢喝牛奶。”→ [300,304,262]。</a:t>
            </a:r>
          </a:p>
          <a:p>
            <a:r>
              <a:t>展示assets/tokenizer_320.json及384版本。ByteLevel与decoder让普通测试文本完整回解；skip_special_tokens默认会处理特殊符号，不能据普通文本测试承诺所有特殊字符串也逐字可逆。配置改变时须同步参数映射，不能直接拿320模型的embedding套384词表。</a:t>
            </a:r>
          </a:p>
          <a:p>
            <a:r>
              <a:t>页面解释：</a:t>
            </a:r>
          </a:p>
          <a:p>
            <a:r>
              <a:t>默认配置把“我喜欢喝牛奶。”编码为[300,304,262]，这些ID是参数表的行地址。</a:t>
            </a:r>
          </a:p>
          <a:p>
            <a:r>
              <a:t>另一份同样大小的词表，也可能给同一片段分配不同ID，直接替换会读错参数。</a:t>
            </a:r>
          </a:p>
          <a:p>
            <a:r>
              <a:t>bos/eos由本课batch代码显式加入；pad=0只用于补齐，不代表真实文本。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4，runtime.py:load_tokenizer</a:t>
            </a:r>
          </a:p>
          <a:p>
            <a:r>
              <a:t>观察：默认配置下：我喜欢喝牛奶。→ [300,304,262]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页｜20–24 分钟</a:t>
            </a:r>
          </a:p>
          <a:p>
            <a:r>
              <a:t>Embedding：查表与 one-hot 乘法等价</a:t>
            </a:r>
          </a:p>
          <a:p>
            <a:r>
              <a:t>每个 ID 选择参数表的一行，得到 D 维向量</a:t>
            </a:r>
          </a:p>
          <a:p>
            <a:r>
              <a:t>batch 的每个位置都执行同一次查表操作</a:t>
            </a:r>
          </a:p>
          <a:p>
            <a:r>
              <a:t>one-hot 乘法用于理解，实际实现直接 gather</a:t>
            </a:r>
          </a:p>
          <a:p>
            <a:r>
              <a:t>ID 没有语义距离；表示的可学习几何来自 E 和训练目标。</a:t>
            </a:r>
          </a:p>
          <a:p>
            <a:r>
              <a:t>运行embeddings.py的前半段，torch.allclose(lookup,one_hot@E)为True。真实示例E为[320,8]，batch为[2,6]，X为[2,6,8]。one-hot只为验证构造，不建议大词表训练时这么实现。对应重编号并重排行能保持前向结果不变。</a:t>
            </a:r>
          </a:p>
          <a:p>
            <a:r>
              <a:t>页面解释：</a:t>
            </a:r>
          </a:p>
          <a:p>
            <a:r>
              <a:t>查表等于用one-hot选择一行，既保留可学习参数，又避免显式分配大one-hot张量。</a:t>
            </a:r>
          </a:p>
          <a:p>
            <a:r>
              <a:t>算术小表中，ID=[1,2,1]会读到第1行、第2行、再读一次第1行。</a:t>
            </a:r>
          </a:p>
          <a:p>
            <a:r>
              <a:t>行向量最初可以随机初始化；训练任务逐步调整它们，每一维没有预先规定的语义。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5，embeddings.py:demo</a:t>
            </a:r>
          </a:p>
          <a:p>
            <a:r>
              <a:t>观察：[2,6] → [2,6,8]；与 one-hot 乘法前向等价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页｜24–27 分钟</a:t>
            </a:r>
          </a:p>
          <a:p>
            <a:r>
              <a:t>真实 batch：padding 不等于真实文本</a:t>
            </a:r>
          </a:p>
          <a:p>
            <a:r>
              <a:t>两条不同长度序列，补齐到 T=6</a:t>
            </a:r>
          </a:p>
          <a:p>
            <a:r>
              <a:t>nn.Embedding(..., padding_idx=0) 控制 lookup 梯度</a:t>
            </a:r>
          </a:p>
          <a:p>
            <a:r>
              <a:t>valid mask 仍需传给后续注意力或损失</a:t>
            </a:r>
          </a:p>
          <a:p>
            <a:r>
              <a:t>padding_idx 不会自动遮住 Attention，也不会自动忽略 loss。</a:t>
            </a:r>
          </a:p>
          <a:p>
            <a:r>
              <a:t>make_batch手动加bos/eos；第一句长度5，第二句长度6，第一句末尾补pad。nn.Embedding默认将padding行初始化为0并在lookup反传中抑制其梯度；加载或手动改值时不要假定它永远为0。Attention的padding key mask以及交叉熵ignore_index各自仍要处理。</a:t>
            </a:r>
          </a:p>
          <a:p>
            <a:r>
              <a:t>页面解释：</a:t>
            </a:r>
          </a:p>
          <a:p>
            <a:r>
              <a:t>第一句3个普通token加bos/eos得5项；第二句4个加标记得6项，因此前者补1个pad。</a:t>
            </a:r>
          </a:p>
          <a:p>
            <a:r>
              <a:t>补齐只统一张量形状；Attention仍应屏蔽pad key，训练loss仍应忽略pad标签。</a:t>
            </a:r>
          </a:p>
          <a:p>
            <a:r>
              <a:t>padding_idx抑制lookup路径的pad行梯度，不会替后续网络自动处理mask。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5，runtime.py:make_batch</a:t>
            </a:r>
          </a:p>
          <a:p>
            <a:r>
              <a:t>观察：第一句 5 项补齐到 6；第二句 6 项无需补齐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页｜27–31 分钟</a:t>
            </a:r>
          </a:p>
          <a:p>
            <a:r>
              <a:t>重复 token 怎样更新同一行？</a:t>
            </a:r>
          </a:p>
          <a:p>
            <a:r>
              <a:t>先得到每个出现位置的向量梯度</a:t>
            </a:r>
          </a:p>
          <a:p>
            <a:r>
              <a:t>同一参数行可能被多个位置共同读取</a:t>
            </a:r>
          </a:p>
          <a:p>
            <a:r>
              <a:t>把这些位置的梯度相加，更新共享表行</a:t>
            </a:r>
          </a:p>
          <a:p>
            <a:r>
              <a:t>诊断输入 [a,a,b,pad]：求和 loss 的梯度分别是 2、1、0。</a:t>
            </a:r>
          </a:p>
          <a:p>
            <a:r>
              <a:t>运行embeddings.py后半段，用.sum().backward()明确上游每维梯度是1；a出现两次所以对应行每维2，b每维1，padding lookup为0。这是诊断loss，不是语言模型交叉熵。未用作输入的行在此lookup路径梯度为0；绑定输出权重或施加weight decay时不能把它说成所有训练情形的更新规律。</a:t>
            </a:r>
          </a:p>
          <a:p>
            <a:r>
              <a:t>页面解释：</a:t>
            </a:r>
          </a:p>
          <a:p>
            <a:r>
              <a:t>把同一行看成被多处引用的共享参数；每个位置贡献自己的向量梯度。</a:t>
            </a:r>
          </a:p>
          <a:p>
            <a:r>
              <a:t>若ID1两次上游梯度为[1,0]和[0,2]，第1行收到[1,2]，不是取平均也不是覆盖。</a:t>
            </a:r>
          </a:p>
          <a:p>
            <a:r>
              <a:t>求和损失只是特殊情况：上游全为1，出现两次的行每一维梯度为2。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6，embeddings.py:demo</a:t>
            </a:r>
          </a:p>
          <a:p>
            <a:r>
              <a:t>观察：每维梯度：a 行 2，b 行 1，pad 行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页｜31–34 分钟</a:t>
            </a:r>
          </a:p>
          <a:p>
            <a:r>
              <a:t>从下一 token 交叉熵追到 embedding</a:t>
            </a:r>
          </a:p>
          <a:p>
            <a:r>
              <a:t>输入向量经过输出投影，得到各 token 的 logits</a:t>
            </a:r>
          </a:p>
          <a:p>
            <a:r>
              <a:t>交叉熵衡量正确下一 token 的预测概率</a:t>
            </a:r>
          </a:p>
          <a:p>
            <a:r>
              <a:t>误差信号右乘输出权重，传回输入向量</a:t>
            </a:r>
          </a:p>
          <a:p>
            <a:r>
              <a:t>先得到每次出现的向量梯度，再按 token ID 累加到 E。</a:t>
            </a:r>
          </a:p>
          <a:p>
            <a:r>
              <a:t>W_out形状[V,D]，p-y是[V]，右乘得到[D]梯度。写一个正确类别的p_y低时误差大的例子，不推导softmax完整Jacobian。公式按单个位置；实际batch mean loss还包含平均因子。F.cross_entropy直接接原始logits，内部完成log_softmax，不先softmax。</a:t>
            </a:r>
          </a:p>
          <a:p>
            <a:r>
              <a:t>页面解释：</a:t>
            </a:r>
          </a:p>
          <a:p>
            <a:r>
              <a:t>类别编号0/1/2，目标y=1，预测p=[0.1,0.7,0.2]；交叉熵为−ln(0.7)≈0.3567。</a:t>
            </a:r>
          </a:p>
          <a:p>
            <a:r>
              <a:t>类别误差p−one_hot(1)=[0.1,−0.3,0.2]，右乘输出权重得到输入向量梯度。</a:t>
            </a:r>
          </a:p>
          <a:p>
            <a:r>
              <a:t>小算例得到[-0.1,-0.2]，与autograd一致；真实词表只是把类别数扩到V。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7，gradient_chain.py:demo</a:t>
            </a:r>
          </a:p>
          <a:p>
            <a:r>
              <a:t>观察：手算向量梯度与 autograd 逐项一致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页｜34–37 分钟</a:t>
            </a:r>
          </a:p>
          <a:p>
            <a:r>
              <a:t>运行一次真实的下一 token 训练</a:t>
            </a:r>
          </a:p>
          <a:p>
            <a:r>
              <a:t>真实 ByteLevel BPE，7 句训练文本、57 对相邻 token</a:t>
            </a:r>
          </a:p>
          <a:p>
            <a:r>
              <a:t>nn.Embedding(320,16) → Linear(16,320)</a:t>
            </a:r>
          </a:p>
          <a:p>
            <a:r>
              <a:t>Adam 训练 120 步，观察 loss 与表行变化</a:t>
            </a:r>
          </a:p>
          <a:p>
            <a:r>
              <a:t>实测 loss：5.7565 → 0.3559；26 个输入表行发生更新。</a:t>
            </a:r>
          </a:p>
          <a:p>
            <a:r>
              <a:t>运行embedding_train.py或Notebook训练单元。模型只用当前token预测下一项，因此是bigram基线，不是Transformer；同一个输入可能有多个后续，loss不必归零。无验证集，仅观察训练拟合。在无weight decay、未绑定输出权重的本实验中，更新行数26与出现过的输入行数一致。 本数据仅依赖当前token时的经验条件熵下界约0.35583；此项供老师解释loss平台，不要求课内计算。训练pair未补齐，不含pad标签。</a:t>
            </a:r>
          </a:p>
          <a:p>
            <a:r>
              <a:t>页面解释：</a:t>
            </a:r>
          </a:p>
          <a:p>
            <a:r>
              <a:t>把相邻token构成(x,y)：当前ID查表，经Linear产生所有候选的logits，再与真实下一ID比较。</a:t>
            </a:r>
          </a:p>
          <a:p>
            <a:r>
              <a:t>每步依次前向、清梯度、backward、optimizer.step；梯度负责指出如何调整参数。</a:t>
            </a:r>
          </a:p>
          <a:p>
            <a:r>
              <a:t>本例只利用当前token；同一token可能有多个后续，所以训练loss不必降到0。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8，embedding_train.py:train</a:t>
            </a:r>
          </a:p>
          <a:p>
            <a:r>
              <a:t>观察：120 步：loss 5.7565 → 0.3559；26 行更新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页｜37–39 分钟</a:t>
            </a:r>
          </a:p>
          <a:p>
            <a:r>
              <a:t>输入表、输出表与权重绑定</a:t>
            </a:r>
          </a:p>
          <a:p>
            <a:r>
              <a:t>输入 embedding 与输出投影可共用同一份 E</a:t>
            </a:r>
          </a:p>
          <a:p>
            <a:r>
              <a:t>输入查表和输出分类，形成两条梯度路径</a:t>
            </a:r>
          </a:p>
          <a:p>
            <a:r>
              <a:t>输入表行固定，上下文隐藏表示仍可变化</a:t>
            </a:r>
          </a:p>
          <a:p>
            <a:r>
              <a:t>绑定权重后，E 会同时接收输入 lookup 与输出分类器的梯度。</a:t>
            </a:r>
          </a:p>
          <a:p>
            <a:r>
              <a:t>本课bigram代码未绑定，便于先看lookup行更新。若绑定，词表全体候选参与输出softmax，未作为输入的行也可能收到输出梯度；padding_idx只限制lookup路径。设置output.weight=embedding.weight应在创建optimizer之前完成，并用去重的参数迭代器。相似度受训练任务影响，不能把每维解释为固定语义标签。</a:t>
            </a:r>
          </a:p>
          <a:p>
            <a:r>
              <a:t>页面解释：</a:t>
            </a:r>
          </a:p>
          <a:p>
            <a:r>
              <a:t>不绑定时，输入E与输出W是两个参数；绑定后输出直接使用E的转置。</a:t>
            </a:r>
          </a:p>
          <a:p>
            <a:r>
              <a:t>输入查表只读取少数行，输出softmax却把全词表作为候选，因此更多行可能收到梯度。</a:t>
            </a:r>
          </a:p>
          <a:p>
            <a:r>
              <a:t>padding_idx只限制lookup路径；绑权重并不保证pad行完全没有梯度。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对应：课后扩展验证，tools/check_experiments.py:main</a:t>
            </a:r>
          </a:p>
          <a:p>
            <a:r>
              <a:t>观察：课后验证：没作为输入的行也可能得到输出梯度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页｜39–42 分钟</a:t>
            </a:r>
          </a:p>
          <a:p>
            <a:r>
              <a:t>无位置时：为什么是置换等变？</a:t>
            </a:r>
          </a:p>
          <a:p>
            <a:r>
              <a:t>把 token 行重排，Q/K/V 也对应重排</a:t>
            </a:r>
          </a:p>
          <a:p>
            <a:r>
              <a:t>分数矩阵的 query 行和 key 列同时重排</a:t>
            </a:r>
          </a:p>
          <a:p>
            <a:r>
              <a:t>输出跟随输入重排：没有引入固定位置坐标</a:t>
            </a:r>
          </a:p>
          <a:p>
            <a:r>
              <a:t>这里假设没有位置机制、没有因果 mask；等变不等于输出完全相同。</a:t>
            </a:r>
          </a:p>
          <a:p>
            <a:r>
              <a:t>给出三行token的重排，说明输出随行重排，而非整个矩阵不变。运行position_mechanics.py：无位置时True，给新行位置加PE后False。不要求证明任意网络性质，只连接QK转置和softmax逐行对称性。因果mask并不随任意置换同样改变，所以不满足这里的假设。 用 Π 记行置换，与学习式位置表 P 区分。</a:t>
            </a:r>
          </a:p>
          <a:p>
            <a:r>
              <a:t>页面解释：</a:t>
            </a:r>
          </a:p>
          <a:p>
            <a:r>
              <a:t>“我/喜欢/你”换成“你/喜欢/我”，仅查表得到的仍是同一组内容向量。</a:t>
            </a:r>
          </a:p>
          <a:p>
            <a:r>
              <a:t>无位置、无mask时，Q/K/V随行重排，scores行列同时重排，输出也对应重排。</a:t>
            </a:r>
          </a:p>
          <a:p>
            <a:r>
              <a:t>因果mask带有可读范围约束，不满足这里任意置换的假设；等变不等于输出不变。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9，position_mechanics.py:attention</a:t>
            </a:r>
          </a:p>
          <a:p>
            <a:r>
              <a:t>观察：重排后输出也重排：True；加入位置后通常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页｜42–45 分钟</a:t>
            </a:r>
          </a:p>
          <a:p>
            <a:r>
              <a:t>绝对位置：学习表与固定函数</a:t>
            </a:r>
          </a:p>
          <a:p>
            <a:r>
              <a:t>学习式位置表按 token 序号查行</a:t>
            </a:r>
          </a:p>
          <a:p>
            <a:r>
              <a:t>把内容向量与同维度的位置向量相加</a:t>
            </a:r>
          </a:p>
          <a:p>
            <a:r>
              <a:t>正弦编码则用固定函数生成位置向量</a:t>
            </a:r>
          </a:p>
          <a:p>
            <a:r>
              <a:t>P 的索引是 token 位置；L 限制学习式表能直接查询的范围。</a:t>
            </a:r>
          </a:p>
          <a:p>
            <a:r>
              <a:t>不要把BPE的字符offset当成token位置。可学习位置表也参与反向传播；正弦表不需要训练其数值。相加式输入与RoPE是不同接口，下一页分别说明，代码不会先加绝对PE又声称相对旋转分数必然保持不变。</a:t>
            </a:r>
          </a:p>
          <a:p>
            <a:r>
              <a:t>页面解释：</a:t>
            </a:r>
          </a:p>
          <a:p>
            <a:r>
              <a:t>内容向量表示“是什么”，位置向量提供“在第几个token”；相加后仍是D维。</a:t>
            </a:r>
          </a:p>
          <a:p>
            <a:r>
              <a:t>学习式位置表通过训练更新，直接查询范围受表长L限制；正弦编码由固定函数生成。</a:t>
            </a:r>
          </a:p>
          <a:p>
            <a:r>
              <a:t>相加式位置与RoPE是不同接口，本课RoPE分支不先叠加绝对位置。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观察：相加后形状保持 [B,T,D]；本课代码演示固定函数</a:t>
            </a:r>
          </a:p>
          <a:p>
            <a:r>
              <a:t>投影代码出自 position_mechanics.py:demo；位置函数来自 positions.py:sinusoidal。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页｜45–48 分钟</a:t>
            </a:r>
          </a:p>
          <a:p>
            <a:r>
              <a:t>正弦为什么使用多组频率？</a:t>
            </a:r>
          </a:p>
          <a:p>
            <a:r>
              <a:t>频率随维度对编号变化，提供多种变化尺度</a:t>
            </a:r>
          </a:p>
          <a:p>
            <a:r>
              <a:t>每个位置乘以各组频率，得到旋转角度</a:t>
            </a:r>
          </a:p>
          <a:p>
            <a:r>
              <a:t>相邻两维分别存放角度的 sin 与 cos</a:t>
            </a:r>
          </a:p>
          <a:p>
            <a:r>
              <a:t>从位置 t，到角度 tω，再到每一对维度的 sin / cos。</a:t>
            </a:r>
          </a:p>
          <a:p>
            <a:r>
              <a:t>D=4时频率1与0.01，沿用上一版四维数值核对。多个频率提供不同变化尺度，单一周期不能代替全部设计。指出pos[:,None]*frequencies[None,:]的广播形状[T,D/2]，而非逐token循环。可计算更大p不等于模型长上下文质量有保证。 统一记号：ω_i 为频率，θ_{t,i}=tω_i 为角度；分别对应 frequencies 与 angles。</a:t>
            </a:r>
          </a:p>
          <a:p>
            <a:r>
              <a:t>页面解释：</a:t>
            </a:r>
          </a:p>
          <a:p>
            <a:r>
              <a:t>D=4时有两对维度，频率分别为1和0.01；同一位置形成两种变化尺度。</a:t>
            </a:r>
          </a:p>
          <a:p>
            <a:r>
              <a:t>t=1时角度为[1,0.01]，分别取sin/cos并交错排列，得到4维位置向量。</a:t>
            </a:r>
          </a:p>
          <a:p>
            <a:r>
              <a:t>广播[T,1]×[1,D/2]生成全部角度；能计算更远位置不等于模型一定能泛化。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观察：位置 0：[0,1,0,1]；不同维度对有不同变化尺度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页｜48–51 分钟</a:t>
            </a:r>
          </a:p>
          <a:p>
            <a:r>
              <a:t>RoPE 二维推导：相对位移从哪来？</a:t>
            </a:r>
          </a:p>
          <a:p>
            <a:r>
              <a:t>每一对维度用二维旋转矩阵变换</a:t>
            </a:r>
          </a:p>
          <a:p>
            <a:r>
              <a:t>q 按位置 m 旋转，k 按位置 n 旋转</a:t>
            </a:r>
          </a:p>
          <a:p>
            <a:r>
              <a:t>旋转后的点积出现相对位移 n−m</a:t>
            </a:r>
          </a:p>
          <a:p>
            <a:r>
              <a:t>转置是反向旋转，连续旋转可相加，因此最终角度为 (n−m)ω。</a:t>
            </a:r>
          </a:p>
          <a:p>
            <a:r>
              <a:t>从二维旋转矩阵的转置等于反向旋转、旋转可相加讲到相对位移，约两步，不展开所有矩阵项。保持未旋转q/k不变、同时平移位置时点积不变；完整模型的q/k可能随上下文变化，所以不推出任意平移文本模型输出不变。</a:t>
            </a:r>
          </a:p>
          <a:p>
            <a:r>
              <a:t>页面解释：</a:t>
            </a:r>
          </a:p>
          <a:p>
            <a:r>
              <a:t>一对维度用二维旋转R；转置相当于反向旋转，两次旋转的角度相加。</a:t>
            </a:r>
          </a:p>
          <a:p>
            <a:r>
              <a:t>q、k按mω、nω旋转后，点积里出现(n−m)ω，因此相对位移影响分数。</a:t>
            </a:r>
          </a:p>
          <a:p>
            <a:r>
              <a:t>二维算例m=1,n=3,q=k=[1,0]得到cos(2)≈−0.4161；两位置同时加5结果不变。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观察：固定 q/k 内容：点积由相对位置 n−m 调节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页｜51–54 分钟</a:t>
            </a:r>
          </a:p>
          <a:p>
            <a:r>
              <a:t>把 RoPE 写成张量运算</a:t>
            </a:r>
          </a:p>
          <a:p>
            <a:r>
              <a:t>把最后一维拆成相邻的 even / odd 分量</a:t>
            </a:r>
          </a:p>
          <a:p>
            <a:r>
              <a:t>按分量公式旋转，广播到 batch 与 head</a:t>
            </a:r>
          </a:p>
          <a:p>
            <a:r>
              <a:t>函数保持形状，整合时作用于多头 Q/K</a:t>
            </a:r>
          </a:p>
          <a:p>
            <a:r>
              <a:t>RoPE 保持每个向量范数；点积仍会随相对位置改变。</a:t>
            </a:r>
          </a:p>
          <a:p>
            <a:r>
              <a:t>展示positions.apply_rope。使用相邻维度配对，另一种split-half实现需有一致的坐标排列；不混用两种配对约定。函数支持[...,T,D]，D必须为正偶数。运行整体位置平移与范数检查，float64分数差在1e-15量级。RoPE作用Q/K，本实现不旋转V。</a:t>
            </a:r>
          </a:p>
          <a:p>
            <a:r>
              <a:t>页面解释：</a:t>
            </a:r>
          </a:p>
          <a:p>
            <a:r>
              <a:t>把相邻维度分成even/odd两组，分别实现旋转矩阵的两个分量。</a:t>
            </a:r>
          </a:p>
          <a:p>
            <a:r>
              <a:t>Q/K形状[B,H,T,d_h]，角度[T,d_h/2]广播到batch和head，旋转后形状保持。</a:t>
            </a:r>
          </a:p>
          <a:p>
            <a:r>
              <a:t>相邻配对与split-half是不同坐标约定；本实现只旋转Q/K，不旋转V。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观察：范数保持；整体平移位置后分数误差约 10⁻¹⁵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页｜54–56 分钟</a:t>
            </a:r>
          </a:p>
          <a:p>
            <a:r>
              <a:t>三种机制：位置、因果范围与 padding</a:t>
            </a:r>
          </a:p>
          <a:p>
            <a:r>
              <a:t>RoPE 或绝对位置：让位置参与数值计算</a:t>
            </a:r>
          </a:p>
          <a:p>
            <a:r>
              <a:t>causal mask:[T,T]，限制读取未来</a:t>
            </a:r>
          </a:p>
          <a:p>
            <a:r>
              <a:t>padding key mask:[B,1,1,T]，屏蔽补齐位置</a:t>
            </a:r>
          </a:p>
          <a:p>
            <a:r>
              <a:t>padding_idx、Attention mask、loss ignore_index 互不替代。</a:t>
            </a:r>
          </a:p>
          <a:p>
            <a:r>
              <a:t>pipeline将上三角future和无效key位置做逻辑或，再把score设为-inf；不会修改token ID来实现mask。批中每句含bos/eos，至少有可见有效key；对全屏蔽行必须另作处理以免softmax NaN。padding query的输出最后清零，但训练损失仍需独立忽略padding标签。</a:t>
            </a:r>
          </a:p>
          <a:p>
            <a:r>
              <a:t>页面解释：</a:t>
            </a:r>
          </a:p>
          <a:p>
            <a:r>
              <a:t>位置机制改变分数的数值关系，因果mask禁止读取未来，padding key mask禁止读取补齐项。</a:t>
            </a:r>
          </a:p>
          <a:p>
            <a:r>
              <a:t>禁止位置设为−∞，softmax后权重为0；示意中最后一个key为pad，整列权重为0。</a:t>
            </a:r>
          </a:p>
          <a:p>
            <a:r>
              <a:t>pad query输出清零与loss忽略标签仍需各自处理；全屏蔽行需要避免softmax产生NaN。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观察：未来 key 与 padding key 的权重均为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页｜56–58 分钟</a:t>
            </a:r>
          </a:p>
          <a:p>
            <a:r>
              <a:t>真实输入链路：把 shape 全部接上</a:t>
            </a:r>
          </a:p>
          <a:p>
            <a:r>
              <a:t>真实 tokenizer → ID [2,6] → embedding [2,6,8]</a:t>
            </a:r>
          </a:p>
          <a:p>
            <a:r>
              <a:t>投影并拆头 → Q/K [2,2,6,4]</a:t>
            </a:r>
          </a:p>
          <a:p>
            <a:r>
              <a:t>RoPE + 两种 mask → 输出 [2,6,8]</a:t>
            </a:r>
          </a:p>
          <a:p>
            <a:r>
              <a:t>该脚本验证输入端与 Attention 接口，不包含完整 Block 或生成循环。</a:t>
            </a:r>
          </a:p>
          <a:p>
            <a:r>
              <a:t>运行input_pipeline.py，只跟踪形状与一行RoPE、一行mask。此分支不先加绝对PE，随机参数未训练；上面的bigram训练也没有Attention。明确两个实验各验证什么，避免把它们拼成已训练的大模型。首句实际token3个，加bos/eos为5，补到6；另一句4个token，加标记为6。</a:t>
            </a:r>
          </a:p>
          <a:p>
            <a:r>
              <a:t>页面解释：</a:t>
            </a:r>
          </a:p>
          <a:p>
            <a:r>
              <a:t>tokenizer先生成离散ID，Embedding读取参数，线性层一次投影出Q/K/V。</a:t>
            </a:r>
          </a:p>
          <a:p>
            <a:r>
              <a:t>把D=8拆成H=2个head，每头d_h=4；RoPE只处理Q/K，mask在scores上生效。</a:t>
            </a:r>
          </a:p>
          <a:p>
            <a:r>
              <a:t>softmax沿key维，再乘V并合并head；该脚本参数随机，未训练完整Block。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观察：ID [2,6] → X [2,6,8] → Q/K [2,2,6,4] → 输出 [2,6,8]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页｜58–60 分钟</a:t>
            </a:r>
          </a:p>
          <a:p>
            <a:r>
              <a:t>检查理解：解释一次编码、一次反传、一次旋转</a:t>
            </a:r>
          </a:p>
          <a:p>
            <a:r>
              <a:t>为什么 abc 在 rank 规则下是 a/bc 而非 ab/c？</a:t>
            </a:r>
          </a:p>
          <a:p>
            <a:r>
              <a:t>同一 token 出现三次，它的表行梯度怎么计算？</a:t>
            </a:r>
          </a:p>
          <a:p>
            <a:r>
              <a:t>为什么保持 n−m 后旋转点积相同，mask 却仍必要？</a:t>
            </a:r>
          </a:p>
          <a:p>
            <a:r>
              <a:t>课后：改词表规模、检查梯度、验证旋转等式并记录结果。</a:t>
            </a:r>
          </a:p>
          <a:p>
            <a:r>
              <a:t>答案：重叠候选选最小rank；按各位置上游梯度求和，不是简单覆盖；旋转编码位置关系，mask决定哪些关系可读取。作业增加一个权重绑定实验，观察输出路径使更多embedding行获得梯度。完整答案及检查在exercises.md，保留数据与机制来源。</a:t>
            </a:r>
          </a:p>
          <a:p>
            <a:r>
              <a:t>页面解释：</a:t>
            </a:r>
          </a:p>
          <a:p>
            <a:r>
              <a:t>编码：按冻结merges逐步执行，重叠候选选择最小rank。</a:t>
            </a:r>
          </a:p>
          <a:p>
            <a:r>
              <a:t>反传：同一ID在不同位置的向量梯度相加；padding lookup有专门约定。</a:t>
            </a:r>
          </a:p>
          <a:p>
            <a:r>
              <a:t>位置与mask：前者描述位置关系，后者限制哪些key可读，二者互不替代。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00–03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文本怎样成为模型输入？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从真实文本出发，追踪 ID、可训练参数和位置三个接口。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今天沿同一条链路，解释规则、参数和顺序。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67208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635507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例子：把“我喜欢喝牛奶。”送进模型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23160"/>
            <a:ext cx="201168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文本 →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2423160"/>
            <a:ext cx="4160520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[300,304,262]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2752344"/>
            <a:ext cx="41605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固定的 tokenizer 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136391"/>
            <a:ext cx="201168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ID → 向量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136391"/>
            <a:ext cx="4160520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E[300]、E[304]、E[262]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3465575"/>
            <a:ext cx="41605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可训练参数；初始可以随机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3849624"/>
            <a:ext cx="201168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加入位置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849624"/>
            <a:ext cx="4160520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位置 0、1、2 → Q/K 的关系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4178808"/>
            <a:ext cx="41605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同一 ID 查同一行，位置另处理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535424"/>
            <a:ext cx="62179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这里先看普通token；batch页再加入起止标记与pad。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1901952"/>
            <a:ext cx="41605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039112"/>
            <a:ext cx="379475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最终用途：预测下一个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450592"/>
            <a:ext cx="368503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模型计算候选 token 的概率，通过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预测误差调整参数。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072384"/>
            <a:ext cx="368503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本课先看输入怎么构造；下一课再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深入信息怎样在 token 之间交互。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694176"/>
            <a:ext cx="3685032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B=句子数，T=序列长度，V=词表项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数，D=向量维度。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5175504"/>
            <a:ext cx="1060704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三件事：规则决定读哪些片段；参数学习怎么表示；位置补上顺序关系。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03–06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分得更细，还是词表更大？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词表大小 V 与序列长度 T，会影响不同部分的计算成本。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选择切分粒度，也是在选择参数与计算的开销。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同一句“我喜欢喝奶茶”：不同切分粒度的取舍（示意）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87168"/>
            <a:ext cx="13716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按字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487168"/>
            <a:ext cx="41148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我 / 喜 / 欢 / 喝 / 奶 / 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10058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6项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487168"/>
            <a:ext cx="3566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片段短，序列更长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017520"/>
            <a:ext cx="13716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按整词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017520"/>
            <a:ext cx="41148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我 / 喜欢 / 喝 / 奶茶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017520"/>
            <a:ext cx="10058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4项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017520"/>
            <a:ext cx="3566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需要词边界，词表可能更大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547872"/>
            <a:ext cx="13716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458C6"/>
                </a:solidFill>
                <a:latin typeface="Arial Unicode MS"/>
              </a:defRPr>
            </a:pPr>
            <a:r>
              <a:t>本例 BPE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547872"/>
            <a:ext cx="41148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我 / 喜欢喝奶茶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547872"/>
            <a:ext cx="10058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2项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547872"/>
            <a:ext cx="3566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高频合并，新组合复用片段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050791"/>
            <a:ext cx="1056132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BPE 的 2 项来自后面奶茶小语料的4次合并，不代表商用模型一定这样切。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53712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90872"/>
            <a:ext cx="50749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单份 E：D=4096，FP16，每参数2字节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20056"/>
            <a:ext cx="5001768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V=32k → 256 MiB；64k → 512 MiB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553712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690872"/>
            <a:ext cx="507492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序列相关开销：稠密 scores 的格数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1656" y="5020056"/>
            <a:ext cx="5001768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T=6 → 36格；T=2 → 4格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5815584"/>
            <a:ext cx="1056132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输出投影还涉及 T×D×V；上面只比较单份E与稠密scores，不代表全部模型成本。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06–10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BPE：先统计，再合并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每轮重新统计当前相邻片段，选择最高频的一对。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频次来自语料；合并后要重新统计。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029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66344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① 语料与权重：不是每句话只算一次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2316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我喜欢喝奶茶  ×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83464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你喜欢喝奶茶  ×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246120"/>
            <a:ext cx="452628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我喜欢喝咖啡 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67328"/>
            <a:ext cx="4553712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Arial Unicode MS"/>
              </a:defRPr>
            </a:pPr>
            <a:r>
              <a:t>喜+欢：5+3+2=10；我+喜：5+2=7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901952"/>
            <a:ext cx="58521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039112"/>
            <a:ext cx="548640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② 每次合并后重算；同频按首次出现处理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2395728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0：喜 + 欢   频次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2788920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1：喜欢 + 喝   频次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182112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2：喜欢喝 + 奶   频次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575304"/>
            <a:ext cx="541324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rank 3：喜欢喝奶 + 茶   频次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4480560"/>
            <a:ext cx="10607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先从字符出发，学出“喜欢喝奶茶”；这是高频片段，不是人工指定的语言学词语。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counts[pair] += corpus[text]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pair = max(counts, key=counts.get)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01   ·   bpe_core.py / train_bpe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10–14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BPE 编码：谁的 rank 更小？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规则已经冻结；每次在当前候选中选择优先级最高的一对。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merge rank 决定合并顺序，token ID 决定查表地址。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3895344" cy="25237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352958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① 冻结规则：不再计算语料频次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0：喜 + 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98064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1：喜欢 + 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91256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2：喜欢喝 + 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84448"/>
            <a:ext cx="3493008" cy="338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3：喜欢喝奶 + 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6864" y="1901952"/>
            <a:ext cx="6986016" cy="25237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039112"/>
            <a:ext cx="6620255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② 编码“你喜欢喝奶茶”：按最小可用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359152"/>
            <a:ext cx="6492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475569"/>
                </a:solidFill>
                <a:latin typeface="Arial Unicode MS"/>
              </a:defRPr>
            </a:pPr>
            <a:r>
              <a:t>你 / 喜 / 欢 / 喝 / 奶 / 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76148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0 → 你 / 喜欢 / 喝 / 奶 / 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12724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1 → 你 / 喜欢喝 / 奶 / 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49300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2 → 你 / 喜欢喝奶 / 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858768"/>
            <a:ext cx="649224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3 → 你 / 喜欢喝奶茶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90288"/>
            <a:ext cx="106070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重叠反例：bc 的 rank=0、ab 的 rank=1；abc 先合并 bc → a/bc，而非 ab/c。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rank, pair = min(candidates, key=lambda item: item[0])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parts = merge_pair(parts, pair)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02   ·   bpe_core.py / encode_bpe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14–18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 BPE 接到真实文本上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ByteLevel 处理字节与边界；BPE 处理合并规则。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先训练并保存配置，再加载同一配置进行编码。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98347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合并规则以外，还要固定哪些步骤？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32304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字符演示说明合并规则；真实库还要处理文本边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界、基础字节和解码。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054096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本课 ByteLevel 用完整256字节字母表覆盖UTF-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8字节，并设置4个特殊符号。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75887"/>
            <a:ext cx="491032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保存的不只是词表，还包括merges、预切分和d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ecoder；之后加载完整配置。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937760"/>
            <a:ext cx="4910328" cy="6309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458C6"/>
                </a:solidFill>
                <a:latin typeface="Arial Unicode MS"/>
              </a:defRPr>
            </a:pPr>
            <a:r>
              <a:t>基础字节负责覆盖；预切分规定边界；merge</a:t>
            </a:r>
          </a:p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458C6"/>
                </a:solidFill>
                <a:latin typeface="Arial Unicode MS"/>
              </a:defRPr>
            </a:pPr>
            <a:r>
              <a:t>s 决定合并次序。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01952"/>
            <a:ext cx="55321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39112"/>
            <a:ext cx="516635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API位置示意；完整参数见实验3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441448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Tokenizer(models.BPE(...))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862072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pre_tokenizers.ByteLevel(...)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3282696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trainers.BpeTrainer(...)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703320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tokenizer.train_from_iterator(...)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123944"/>
            <a:ext cx="512064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Menlo"/>
              </a:defRPr>
            </a:pPr>
            <a:r>
              <a:t>tokenizer.save(...)  # 完整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tokenizer = load_tokenizer()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enc = tokenizer.encode(text)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03   ·   train_tokenizer.py /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18–20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ID 必须与参数表配套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同样大小的词表，也可能把同一片段映射到不同的地址。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更换 tokenizer 时，必须核对 ID 与模型参数的对应关系。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真实配置：普通文本的 ID 只对当前词表有意义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我喜欢喝牛奶。 → [300,304,262] → E[300]、E[304]、E[262]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27832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64991"/>
            <a:ext cx="498347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地址相同、含义不同：假设两份词表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739896"/>
            <a:ext cx="4892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词表 A：奶茶 →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197096"/>
            <a:ext cx="4892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087F8C"/>
                </a:solidFill>
                <a:latin typeface="Arial Unicode MS"/>
              </a:defRPr>
            </a:pPr>
            <a:r>
              <a:t>词表 B：咖啡 →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227832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364991"/>
            <a:ext cx="5166359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只换词表会怎样？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739896"/>
            <a:ext cx="5093208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模型原先把 E[7] 当作奶茶的表示。只替换词表后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，咖啡会读到原来的参数行。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361688"/>
            <a:ext cx="5093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这不是向量算错，而是 ID 与参数地址约定失配。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212080"/>
            <a:ext cx="1051560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默认特殊符号：pad=0，unk=1，bos=2，eos=3；本课显式添加 bos/eos。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04   ·   runtime.py / load_tokenizer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20–24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Embedding：一个 ID 选择一行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查表与 one-hot 乘法前向等价；实际实现直接选行。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ID 是地址；可训练的表示存放在 E 的每一行。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=\mathbf{E}[I]=\operatorname{one\_hot}(I)\,\mathbf{E}" descr="\mathbf{X}=\mathbf{E}[I]=\operatorname{one\_hot}(I)\,\mathbf{E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368" y="2136267"/>
            <a:ext cx="3974782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查表等于用one-hot选择一行，既保留可学习参数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，又避免显式分配大one-hot张量。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算术小表中，ID=[1,2,1]会读到第1行、第2行、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再读一次第1行。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算术小表 E 的第 1、2 行：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85615"/>
            <a:ext cx="502920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E[1] = [0.2, -0.1, 0.4]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60520"/>
            <a:ext cx="502920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E[2] = [0.5, 0.3,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53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I=[1,2,1] → 依次取第1、第2、第1行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vectors = embedding(ids)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one_hot @ embedding.weight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05   ·   embeddings.py   ·   算例 worked_examples.py/lookup_example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24–27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不同长度，怎样组成 batch？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先添加起止标记，再补齐；pad 只是占位。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padding_idx、注意力 mask 和损失忽略，需要分别处理。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B=2，T=6：t₁…t₄ 是普通 token；起止标记也占位置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569464"/>
            <a:ext cx="100584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263D"/>
                </a:solidFill>
                <a:latin typeface="Arial Unicode MS"/>
              </a:defRPr>
            </a:pPr>
            <a:r>
              <a:t>句1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83664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bos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1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1183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7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7376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7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eos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60" y="2459736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2523744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227832"/>
            <a:ext cx="100584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263D"/>
                </a:solidFill>
                <a:latin typeface="Arial Unicode MS"/>
              </a:defRPr>
            </a:pPr>
            <a:r>
              <a:t>句2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83664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bos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9856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01183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6047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37376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3567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28431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t₄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3118104"/>
            <a:ext cx="1298448" cy="530352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64624" y="3182112"/>
            <a:ext cx="1188719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458C6"/>
                </a:solidFill>
                <a:latin typeface="Arial Unicode MS"/>
              </a:defRPr>
            </a:pPr>
            <a:r>
              <a:t>eos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904487"/>
            <a:ext cx="11064240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041648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三个接口分别负责什么？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" y="438912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padding_idx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38912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抑制 pad 行的 lookup 梯度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475488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padding key mask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475488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Attention 不读取 pad key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" y="5120640"/>
            <a:ext cx="36576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ignore_index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5120640"/>
            <a:ext cx="649224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损失不计算 pad 标签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05   ·   runtime.py / make_batch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27–31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读了同一行，梯度就要相加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共享参数接收所有读取位置的贡献；这里先看 lookup 路径。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反向是 scatter-add：累加贡献，而不是覆盖旧值。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09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_j}=\sum_{(b,t):\,I_{b,t}=j}\frac{\partial L}{\partial\mathbf{X}_{b,t}}\quad(j\ne\mathrm{pad})" descr="\frac{\partial L}{\partial\mathbf{E}_j}=\sum_{(b,t):\,I_{b,t}=j}\frac{\partial L}{\partial\mathbf{X}_{b,t}}\quad(j\ne\mathrm{pad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076" y="1920240"/>
            <a:ext cx="4805367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把同一行看成被多处引用的共享参数；每个位置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贡献自己的向量梯度。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若ID1两次上游梯度为[1,0]和[0,2]，第1行收到[1,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2]，不是取平均也不是覆盖。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ID 1：[1,0]+[0,2] = [1, 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31336"/>
            <a:ext cx="5029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Arial Unicode MS"/>
              </a:defRPr>
            </a:pPr>
            <a:r>
              <a:t>ID 2：第2行梯度 = [3, 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88536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pad 行的 lookup 梯度为 [0,0]。上游梯度是向量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，累加不是数出现次数这么简单。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 = (embedding(ids) * upstream).sum()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06   ·   embeddings.py   ·   算例 worked_examples.py/gradient_example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31–34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预测误差怎样传回向量？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单位置交叉熵：先得到类别误差，再乘回输出权重。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先算每次出现的向量梯度，再按 ID 汇总到参数表。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}=(\mathbf{p}-\operatorname{one\_hot}(y))\mathbf{W}_{\rm out}" descr="\frac{\partial L}{\partial\mathbf{e}}=(\mathbf{p}-\operatorname{one\_hot}(y))\mathbf{W}_{\rm out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345" y="2073402"/>
            <a:ext cx="4354830" cy="4800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类别编号0/1/2，目标y=1，预测p=[0.1,0.7,0.2]；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交叉熵为−ln(0.7)≈0.3567。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类别误差p−one_hot(1)=[0.1,−0.3,0.2]，右乘输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出权重得到输入向量梯度。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9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p−one_hot(y) = [0.1, -0.3, 0.2]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W_out 三行：[1,0]、[0,1]、[−1,0.5]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87568"/>
                </a:solidFill>
                <a:latin typeface="Arial Unicode MS"/>
              </a:defRPr>
            </a:pPr>
            <a:r>
              <a:t>向量梯度 = [-0.1,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这只是三类算术例；真实类别数为 V。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 = F.cross_entropy(logits, target)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07   ·   gradient_chain.py   ·   算例 worked_examples.py/cross_entropy_example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34–37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让 Embedding 真正学一次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57 对相邻 token；Embedding → Linear → CrossEntropy。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这是只看当前 token 的 bigram；没有 Attention。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L=-\frac{1}{N}\sum_{r=1}^{N}\log p(y_r\mid x_r)" descr="L=-\frac{1}{N}\sum_{r=1}^{N}\log p(y_r\mid x_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95" y="1920240"/>
            <a:ext cx="3026528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把相邻token构成(x,y)：当前ID查表，经Linear产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生所有候选的logits，再与真实下一ID比较。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每步依次前向、清梯度、backward、optimizer.s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tep；梯度负责指出如何调整参数。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步数       0          30         120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03904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loss   5.7565   0.3607   0.3559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0248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26 行参数改变；模型只看当前 token。同一输入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存在多种后续，loss 不必归零。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logits = output(embedding(x)); loss = F.cross_entropy(logits, 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optimizer.zero_grad(); loss.backward(); optimizer.step()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08   ·   embedding_train.py / 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37–39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一张表，两条梯度路径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权重绑定：输入查表和输出分类器共享同一个 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绑定后，没作为输入的行也可能收到输出梯度。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z}=\mathbf{h}\mathbf{E}^{\mathsf{T}}+\mathbf{b},\qquad\nabla_{\mathbf{E}}L=\nabla_{\mathbf{E}}^{\rm lookup}L+\nabla_{\mathbf{E}}^{\rm output}L" descr="\mathbf{z}=\mathbf{h}\mathbf{E}^{\mathsf{T}}+\mathbf{b},\qquad\nabla_{\mathbf{E}}L=\nabla_{\mathbf{E}}^{\rm lookup}L+\nabla_{\mathbf{E}}^{\rm output}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595" y="2034825"/>
            <a:ext cx="7212330" cy="5572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不绑定时，输入E与输出W是两个参数；绑定后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输出直接使用E的转置。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输入查表只读取少数行，输出softmax却把全词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表作为候选，因此更多行可能收到梯度。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49834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输入路径：只读取当前出现的行。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53612"/>
            <a:ext cx="49834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输出路径：softmax 对全词表候选求导。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096512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两条贡献相加：没出现在输入里的行，也可能因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输出分类收到梯度。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head.weight = tied_embedding.weight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课后扩展   ·   tools/check_experiments.py / main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39–42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没有位置，重排会怎样？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假设：没有位置机制，也没有因果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等变表示“输出跟着重排”，不是“输出完全不变”。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peratorname{Attn}(\Pi\mathbf{X})=\Pi\operatorname{Attn}(\mathbf{X})" descr="\operatorname{Attn}(\Pi\mathbf{X})=\Pi\operatorname{Attn}(\mathbf{X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677" y="2136267"/>
            <a:ext cx="3606165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“我/喜欢/你”换成“你/喜欢/我”，仅查表得到的仍是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同一组内容向量。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无位置、无mask时，Q/K/V随行重排，scores行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列同时重排，输出也对应重排。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内容顺序：我 / 喜欢 / 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94760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Arial Unicode MS"/>
              </a:defRPr>
            </a:pPr>
            <a:r>
              <a:t>重排为：你 / 喜欢 / 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51960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Q/K/V 都随行重排，scores 的行列一起重排。加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上固定位置坐标后，一般不再满足这个等式。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rearranged = attention(x[permutation])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torch.allclose(rearranged, original[permutation])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09   ·   position_mechanics.py / attention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42–45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把位置向量加进输入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内容与位置使用同样的维度，相加后形状保持不变。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位置是 token 序号，不是原文的字符 offset。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_{b,t}=\mathbf{E}[I_{b,t}]+\operatorname{PE}(t)" descr="\mathbf{X}_{b,t}=\mathbf{E}[I_{b,t}]+\operatorname{PE}(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830" y="2123408"/>
            <a:ext cx="3451860" cy="3800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内容向量表示“是什么”，位置向量提供“在第几个t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oken”；相加后仍是D维。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学习式位置表通过训练更新，直接查询范围受表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长L限制；正弦编码由固定函数生成。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75569"/>
                </a:solidFill>
                <a:latin typeface="Arial Unicode MS"/>
              </a:defRPr>
            </a:pPr>
            <a:r>
              <a:t>D=4，位置 t=0 的正弦向量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263D"/>
                </a:solidFill>
                <a:latin typeface="Arial Unicode MS"/>
              </a:defRPr>
            </a:pPr>
            <a:r>
              <a:t>内容：[0.2, −0.1, 0.4, 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位置：[0, 1, 0, 1]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07992"/>
            <a:ext cx="502920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相加：[0.2, 0.9, 0.4, 1]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pe = sinusoidal(torch.arange(3), 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absolute_original = attention(x + pe)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10   ·   positions.py   ·   算例 worked_examples.py/rope_example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45–48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位置 × 频率，得到角度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不同维度对使用不同频率，再交错存放 sin 与 cos。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positions → angles → sin / cos：每一步都有明确形状。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mega_i=10000^{-2i/D},\quad\theta_{t,i}=t\omega_i" descr="\omega_i=10000^{-2i/D},\quad\theta_{t,i}=t\omega_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671" y="1920240"/>
            <a:ext cx="3756176" cy="384048"/>
          </a:xfrm>
          <a:prstGeom prst="rect">
            <a:avLst/>
          </a:prstGeom>
        </p:spPr>
      </p:pic>
      <p:pic>
        <p:nvPicPr>
          <p:cNvPr id="18" name="Formula: \operatorname{PE}(t,2i)=\sin\theta_{t,i},\quad\operatorname{PE}(t,2i+1)=\cos\theta_{t,i}" descr="\operatorname{PE}(t,2i)=\sin\theta_{t,i},\quad\operatorname{PE}(t,2i+1)=\cos\theta_{t,i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895" y="2324576"/>
            <a:ext cx="6983730" cy="38004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D=4：两对维度的频率为 [1,0.01]。t=1 时角度为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 [1,0.01]。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[T,1] × [1,D/2] 广播得到 [T,D/2]；不是逐个 token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 写循环。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458C6"/>
                </a:solidFill>
                <a:latin typeface="Arial Unicode MS"/>
              </a:defRPr>
            </a:pPr>
            <a:r>
              <a:t>PE(0) = [0, 1, 0, 1]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31336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PE(1) ≈ [0.8415, 0.5403,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4169663"/>
            <a:ext cx="402336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Arial Unicode MS"/>
              </a:defRPr>
            </a:pPr>
            <a:r>
              <a:t>0.0100, 1.0000]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高低频率提供不同的位置变化尺度。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angles = positions[:, None] * frequencies[None, :]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result[:, 0::2], result[:, 1::2] = angles.sin(), angles.cos()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10   ·   positions.py   ·   算例 worked_examples.py/rope_example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48–51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RoPE：相对位移从哪里来？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q、k 分别按绝对位置旋转；点积里出现位置之差。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转置是反向旋转；角度相加后，剩下 n−m。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R(\varphi)=\begin{bmatrix}\cos\varphi&amp;-\sin\varphi\\\sin\varphi&amp;\cos\varphi\end{bmatrix}" descr="R(\varphi)=\begin{bmatrix}\cos\varphi&amp;-\sin\varphi\\\sin\varphi&amp;\cos\varphi\end{bmatrix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82540"/>
            <a:ext cx="3200400" cy="652639"/>
          </a:xfrm>
          <a:prstGeom prst="rect">
            <a:avLst/>
          </a:prstGeom>
        </p:spPr>
      </p:pic>
      <p:pic>
        <p:nvPicPr>
          <p:cNvPr id="18" name="Formula: \widetilde{\mathbf{q}}_m^{\mathsf{T}}\widetilde{\mathbf{k}}_n=\mathbf{q}^{\mathsf{T}}R((n-m)\omega)\mathbf{k}" descr="\widetilde{\mathbf{q}}_m^{\mathsf{T}}\widetilde{\mathbf{k}}_n=\mathbf{q}^{\mathsf{T}}R((n-m)\omega)\mathbf{k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147" y="2043112"/>
            <a:ext cx="3949065" cy="53149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pic>
        <p:nvPicPr>
          <p:cNvPr id="23" name="Formula: R(m\omega)^{\mathsf{T}}=R(-m\omega)" descr="R(m\omega)^{\mathsf{T}}=R(-m\omega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3385" y="3456432"/>
            <a:ext cx="2614612" cy="365760"/>
          </a:xfrm>
          <a:prstGeom prst="rect">
            <a:avLst/>
          </a:prstGeom>
        </p:spPr>
      </p:pic>
      <p:pic>
        <p:nvPicPr>
          <p:cNvPr id="24" name="Formula: R(-m\omega)R(n\omega)=R((n-m)\omega)" descr="R(-m\omega)R(n\omega)=R((n-m)\omega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4741" y="3957923"/>
            <a:ext cx="3771900" cy="27717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489704"/>
            <a:ext cx="489204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固定未旋转 q/k；只讨论位置变化。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二维算例：q=k=[1,0]，ω=1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13048"/>
            <a:ext cx="5029200" cy="325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458C6"/>
                </a:solidFill>
                <a:latin typeface="Arial Unicode MS"/>
              </a:defRPr>
            </a:pPr>
            <a:r>
              <a:t>m=1，n=3 → 点积 cos(2)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197096"/>
            <a:ext cx="5029200" cy="371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87568"/>
                </a:solidFill>
                <a:latin typeface="Arial Unicode MS"/>
              </a:defRPr>
            </a:pPr>
            <a:r>
              <a:t>数值 ≈ -0.4161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81144"/>
            <a:ext cx="5029200" cy="301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m=6，n=8：差仍为2，点积相同。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qr, kr = apply_rope(q, [1]), apply_rope(k, [3])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score = (qr * kr).sum()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11   ·   positions.py   ·   算例 worked_examples.py/rope_example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51–54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把二维旋转写成两行代码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相邻维度组成一对；同一公式广播到 batch 与 head。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保持向量范数；点积仍会随相对位置改变。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x'_{2i}=x_{2i}\cos\theta-x_{2i+1}\sin\theta" descr="x'_{2i}=x_{2i}\cos\theta-x_{2i+1}\sin\th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135" y="1920240"/>
            <a:ext cx="3699249" cy="384048"/>
          </a:xfrm>
          <a:prstGeom prst="rect">
            <a:avLst/>
          </a:prstGeom>
        </p:spPr>
      </p:pic>
      <p:pic>
        <p:nvPicPr>
          <p:cNvPr id="18" name="Formula: x'_{2i+1}=x_{2i}\sin\theta+x_{2i+1}\cos\theta" descr="x'_{2i+1}=x_{2i}\sin\theta+x_{2i+1}\cos\th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916" y="2322576"/>
            <a:ext cx="4095686" cy="38404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算例：跟着数值走一遍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把相邻维度分成even/odd两组，分别实现旋转矩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阵的两个分量。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Q/K形状[B,H,T,d_h]，角度[T,d_h/2]广播到batch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和head，旋转后形状保持。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4263D"/>
                </a:solidFill>
                <a:latin typeface="Arial Unicode MS"/>
              </a:defRPr>
            </a:pPr>
            <a:r>
              <a:t>一对分量：[1,0]，旋转角 θ=1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31336"/>
            <a:ext cx="5029200" cy="371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458C6"/>
                </a:solidFill>
                <a:latin typeface="Arial Unicode MS"/>
              </a:defRPr>
            </a:pPr>
            <a:r>
              <a:t>→ [0.5403, 0.8415]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306824"/>
            <a:ext cx="498348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平方和仍为1，所以范数保持。实现按相邻维度配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对；split-half 需要匹配的坐标排列。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result[..., 0::2] = even * cos - odd * sin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result[..., 1::2] = even * sin + odd * 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11   ·   positions.py   ·   算例 worked_examples.py/rope_example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54–56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位置关系与可读范围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RoPE 改变分数；mask 决定哪些 key 可以被读取。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有了位置机制，仍要屏蔽未来 key 与 padding key。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A}=\operatorname{softmax}\!\left(\frac{\widetilde{\mathbf{Q}}\widetilde{\mathbf{K}}^{\mathsf{T}}}{\sqrt{d_h}}+\mathbf{M}\right)" descr="\mathbf{A}=\operatorname{softmax}\!\left(\frac{\widetilde{\mathbf{Q}}\widetilde{\mathbf{K}}^{\mathsf{T}}}{\sqrt{d_h}}+\mathbf{M}\righ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951" y="1920240"/>
            <a:ext cx="3887616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S全0、末列为pad：注意力权重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位置机制改变分数的数值关系，因果mask禁止读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取未来，padding key mask禁止读取补齐项。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禁止位置设为−∞，softmax后权重为0；示意中最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263D"/>
                </a:solidFill>
                <a:latin typeface="Arial Unicode MS"/>
              </a:defRPr>
            </a:pPr>
            <a:r>
              <a:t>后一个key为pad，整列权重为0。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1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6" y="3410712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1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4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3675887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1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0616" y="3941063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34071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1/3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4206240"/>
            <a:ext cx="9144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458C6"/>
                </a:solidFill>
                <a:latin typeface="Menlo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590288"/>
            <a:ext cx="5029200" cy="278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pad query 的输出另行清零。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6000"/>
            </a:avLst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8BCFD2"/>
                </a:solidFill>
                <a:latin typeface="Arial Unicode MS"/>
              </a:defRPr>
            </a:pPr>
            <a:r>
              <a:t>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forbidden = future | ~valid[None, :]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enlo"/>
              </a:defRPr>
            </a:pPr>
            <a:r>
              <a:t>weights = scores.masked_fill(forbidden, -torch.inf).softmax(-1)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12   ·   input_pipeline.py   ·   算例 worked_examples.py/mask_example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56–58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沿真实输入，把形状接起来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本地 tokenizer → Embedding → 多头 Q/K → RoPE +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这是随机参数的接口实验，尚未训练完整 Transformer。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19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从本地 ID 到多头注意力输出：每个轴都有含义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10561320" cy="3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458C6"/>
                </a:solidFill>
                <a:latin typeface="Arial Unicode MS"/>
              </a:defRPr>
            </a:pPr>
            <a:r>
              <a:t>[2,6] → [2,6,8] → Q/K [2,2,6,4] → scores [2,2,6,6] → [2,6,8]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110642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对应实现与每步目的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39312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1  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639312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embedding(ids)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39312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离散地址 → D维参数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59936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2  投影、拆头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059936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Linear → view → transpose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059936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D=8 拆成 H=2、d_h=4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80560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3  位置、遮罩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480560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apply_rope → masked_fill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80560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位置进入Q/K，mask限制key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901184"/>
            <a:ext cx="2240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458C6"/>
                </a:solidFill>
                <a:latin typeface="Arial Unicode MS"/>
              </a:defRPr>
            </a:pPr>
            <a:r>
              <a:t>4  混合、合头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901184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263D"/>
                </a:solidFill>
                <a:latin typeface="Arial Unicode MS"/>
              </a:defRPr>
            </a:pPr>
            <a:r>
              <a:t>softmax → @v → reshape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901184"/>
            <a:ext cx="3611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75569"/>
                </a:solidFill>
                <a:latin typeface="Arial Unicode MS"/>
              </a:defRPr>
            </a:pPr>
            <a:r>
              <a:t>沿key归一化，再合并各head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15584"/>
            <a:ext cx="1097280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实验 12   ·   input_pipeline.py / demo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E6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6000"/>
            </a:avLst>
          </a:prstGeom>
          <a:solidFill>
            <a:srgbClr val="245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 Unicode MS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75569"/>
                </a:solidFill>
                <a:latin typeface="Arial Unicode MS"/>
              </a:defRPr>
            </a:pPr>
            <a:r>
              <a:t>58–60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4263D"/>
                </a:solidFill>
                <a:latin typeface="Arial Unicode MS"/>
              </a:defRPr>
            </a:pPr>
            <a:r>
              <a:t>用三个问题，检查是否理解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解释一次编码、一次反传、一次位置计算。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458C6"/>
                </a:solidFill>
                <a:latin typeface="Arial Unicode MS"/>
              </a:defRPr>
            </a:pPr>
            <a:r>
              <a:t>课后：改词表、查梯度、验证旋转，并保留实验结果。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75569"/>
                </a:solidFill>
                <a:latin typeface="Arial Unicode MS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75569"/>
                </a:solidFill>
                <a:latin typeface="Arial Unicode MS"/>
              </a:defRPr>
            </a:pPr>
            <a:r>
              <a:t>20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3813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458C6"/>
                </a:solidFill>
                <a:latin typeface="Arial Unicode MS"/>
              </a:defRPr>
            </a:pPr>
            <a:r>
              <a:t>先独立回答，再用下面的机制核对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50592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编码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450592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为什么abc不是最长前缀ab/c？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889504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核对：可合并的当前相邻候选中，选最小rank。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438144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梯度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438144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同一ID出现三次，第j行怎样更新？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8770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核对：把三个位置的上游向量梯度相加。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425696"/>
            <a:ext cx="128016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458C6"/>
                </a:solidFill>
                <a:latin typeface="Arial Unicode MS"/>
              </a:defRPr>
            </a:pPr>
            <a:r>
              <a:t>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425696"/>
            <a:ext cx="88696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4263D"/>
                </a:solidFill>
                <a:latin typeface="Arial Unicode MS"/>
              </a:defRPr>
            </a:pPr>
            <a:r>
              <a:t>RoPE已有相对位移，mask还做什么？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864608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75569"/>
                </a:solidFill>
                <a:latin typeface="Arial Unicode MS"/>
              </a:defRPr>
            </a:pPr>
            <a:r>
              <a:t>核对：位置参与打分，mask限制哪些key可读。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第二课：Tokenizer、Embedding 与位置机制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