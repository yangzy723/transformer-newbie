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页｜0–3 分钟</a:t>
            </a:r>
          </a:p>
          <a:p>
            <a:r>
              <a:t>第二课：输入表示的算法与机制</a:t>
            </a:r>
          </a:p>
          <a:p>
            <a:r>
              <a:t>Tokenizer：怎样学习规则，怎样执行编码</a:t>
            </a:r>
          </a:p>
          <a:p>
            <a:r>
              <a:t>Embedding：怎样选行，误差怎样更新表</a:t>
            </a:r>
          </a:p>
          <a:p>
            <a:r>
              <a:t>位置机制：顺序怎样进入 Q/K 计算</a:t>
            </a:r>
          </a:p>
          <a:p>
            <a:r>
              <a:t>文本 → token ID → 可训练向量 → 位置机制 → Attention</a:t>
            </a:r>
          </a:p>
          <a:p>
            <a:r>
              <a:t>沿用第一课的Q/K/V概念，新增B、T、D、V四个形状符号。本课有字符级BPE机制实验与真实ByteLevel BPE实现，两者的词表和ID不混用。课堂运行已保存的本地配置，不下载预训练模型。准备阶段安装Tokenizers与PyTorch。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页｜3–6 分钟</a:t>
            </a:r>
          </a:p>
          <a:p>
            <a:r>
              <a:t>词表规模是计算取舍，不只是“怎么分词”</a:t>
            </a:r>
          </a:p>
          <a:p>
            <a:r>
              <a:t>V 增大，embedding 与输出层参数随之增大</a:t>
            </a:r>
          </a:p>
          <a:p>
            <a:r>
              <a:t>T 增大，稠密注意力分数矩阵按 T² 增长</a:t>
            </a:r>
          </a:p>
          <a:p>
            <a:r>
              <a:t>在覆盖、序列长度和参数规模之间权衡</a:t>
            </a:r>
          </a:p>
          <a:p>
            <a:r>
              <a:t>E 的参数量 V×D；V=32768、D=4096、FP16 时约占 256 MiB。</a:t>
            </a:r>
          </a:p>
          <a:p>
            <a:r>
              <a:t>只计算单个embedding矩阵，32768×4096×2字节=256MiB；未绑定的输出权重另占一份。注意力分数矩阵的T²描述稠密实现，不能说整个模型成本仅由T²决定；logits投影也有T×D×V成本。更大的词表不保证所有文本都更短，后续看实际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页｜6–9 分钟</a:t>
            </a:r>
          </a:p>
          <a:p>
            <a:r>
              <a:t>BPE 训练：加权统计、合并、重新统计</a:t>
            </a:r>
          </a:p>
          <a:p>
            <a:r>
              <a:t>把每种文本的相邻次数，乘以该文本的出现频次</a:t>
            </a:r>
          </a:p>
          <a:p>
            <a:r>
              <a:t>选择当前最高频 pair，合并非重叠出现</a:t>
            </a:r>
          </a:p>
          <a:p>
            <a:r>
              <a:t>重算频次，直到词表预算或停止条件满足</a:t>
            </a:r>
          </a:p>
          <a:p>
            <a:r>
              <a:t>本例语料频次 5、3、2；四轮合并频次为 10、10、8、8。</a:t>
            </a:r>
          </a:p>
          <a:p>
            <a:r>
              <a:t>打开bpe_core.train_bpe，解释corpus中的频次乘数。首轮喜+欢与欢+喝同为10，本例按首次出现顺序打破并列。边界由预切分决定，本字符示例把每句作为一个片段；真实库下一页展示正则预切分。讲清训练不是梯度下降，而是统计和贪心合并。</a:t>
            </a:r>
          </a:p>
          <a:p>
            <a:r>
              <a:t>对应：Notebook 实验 1，bpe_core.py:train_bpe</a:t>
            </a:r>
          </a:p>
          <a:p>
            <a:r>
              <a:t>观察：四轮合并频次：10 → 10 → 8 →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页｜9–12 分钟</a:t>
            </a:r>
          </a:p>
          <a:p>
            <a:r>
              <a:t>BPE 编码：按 merge rank，不按最长词匹配</a:t>
            </a:r>
          </a:p>
          <a:p>
            <a:r>
              <a:t>固定 merges：第 0 条 b+c，第 1 条 a+b</a:t>
            </a:r>
          </a:p>
          <a:p>
            <a:r>
              <a:t>abc 的当前候选：bc(rank 0)、ab(rank 1)</a:t>
            </a:r>
          </a:p>
          <a:p>
            <a:r>
              <a:t>先合并 bc，得到 a / bc</a:t>
            </a:r>
          </a:p>
          <a:p>
            <a:r>
              <a:t>merge rank 表示合并优先级；token ID 表示词表地址，两者不能混用。</a:t>
            </a:r>
          </a:p>
          <a:p>
            <a:r>
              <a:t>用语料bc×6、ab×5、abc×1训练两轮，先bc频次7，再ab频次5。词表含ab、bc，但编码abc按rank得到a/bc，最长前缀会得到ab/c。运行bpe_core.demo看反例，再指出encode_bpe每轮枚举当前相邻候选并选最小rank。真实实现常用更高效数据结构，本课重在规则语义。</a:t>
            </a:r>
          </a:p>
          <a:p>
            <a:r>
              <a:t>对应：Notebook 实验 2，bpe_core.py:encode_bpe</a:t>
            </a:r>
          </a:p>
          <a:p>
            <a:r>
              <a:t>观察：abc → a / bc；不是最长前缀 ab /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页｜12–16 分钟</a:t>
            </a:r>
          </a:p>
          <a:p>
            <a:r>
              <a:t>真实实现：ByteLevel BPE 的完整流水线</a:t>
            </a:r>
          </a:p>
          <a:p>
            <a:r>
              <a:t>本地语料 → ByteLevel 预切分 → BPE 训练</a:t>
            </a:r>
          </a:p>
          <a:p>
            <a:r>
              <a:t>保存 tokenizer.json：词表、merges 和配置</a:t>
            </a:r>
          </a:p>
          <a:p>
            <a:r>
              <a:t>加载配置 → encode → tokens / ids / offsets</a:t>
            </a:r>
          </a:p>
          <a:p>
            <a:r>
              <a:t>分词器训练与语言模型训练，是两套不同的学习过程。</a:t>
            </a:r>
          </a:p>
          <a:p>
            <a:r>
              <a:t>展示train_tokenizer.py中的Tokenizer(BPE)、ByteLevel、BpeTrainer和save。设置完整256字节基础字母表，四个特殊token，目标词表320或384。不设置有损normalizer，add_prefix_space=False。本地语料28行，重复10遍用于频次。已提交配置用于课堂复现，现场不必重训。不能把该小语料tokenizer称为商用模型的预训练配置。</a:t>
            </a:r>
          </a:p>
          <a:p>
            <a:r>
              <a:t>对应：Notebook 实验 3，train_tokenizer.py:train</a:t>
            </a:r>
          </a:p>
          <a:p>
            <a:r>
              <a:t>观察：从本地语料训练，完整配置保存在 JSON 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页｜16–19 分钟</a:t>
            </a:r>
          </a:p>
          <a:p>
            <a:r>
              <a:t>字节、空格和边界：观察真实编码结果</a:t>
            </a:r>
          </a:p>
          <a:p>
            <a:r>
              <a:t>Hello world!：V=320 时 9 项，V=384 时 5 项</a:t>
            </a:r>
          </a:p>
          <a:p>
            <a:r>
              <a:t>前导空格、标点与大小写会影响预切分和编码</a:t>
            </a:r>
          </a:p>
          <a:p>
            <a:r>
              <a:t>未见字符可由基础字节覆盖，完整回解核对文本</a:t>
            </a:r>
          </a:p>
          <a:p>
            <a:r>
              <a:t>ByteLevel 的可显示 token 字符串，不保证每项都是完整汉字。</a:t>
            </a:r>
          </a:p>
          <a:p>
            <a:r>
              <a:t>运行tokenization.py，比较Hello world!与Hello, world!及前导空格。词表320/384对中文示例都得到3项，不把英文缩短推广为所有文本必然缩短。显示tokens里的特殊字符是字节映射表示；单个token可能只含UTF-8字符的一部分，不能逐ID解码后期待每项都是完整字符。offsets可能重叠，不当作token与字符一一对应。</a:t>
            </a:r>
          </a:p>
          <a:p>
            <a:r>
              <a:t>对应：Notebook 实验 4，tokenization.py:demo</a:t>
            </a:r>
          </a:p>
          <a:p>
            <a:r>
              <a:t>观察：Hello world!：320 项词表得 9 项，384 项得 5 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页｜19–21 分钟</a:t>
            </a:r>
          </a:p>
          <a:p>
            <a:r>
              <a:t>tokenizer 必须与模型参数配套</a:t>
            </a:r>
          </a:p>
          <a:p>
            <a:r>
              <a:t>特殊符号也有 ID：pad=0、unk=1、bos=2、eos=3</a:t>
            </a:r>
          </a:p>
          <a:p>
            <a:r>
              <a:t>相同词表大小，不代表 ID 与 merges 相同</a:t>
            </a:r>
          </a:p>
          <a:p>
            <a:r>
              <a:t>先固定配置，再为它构造和训练参数表</a:t>
            </a:r>
          </a:p>
          <a:p>
            <a:r>
              <a:t>本课默认配置：V=320；“我喜欢喝牛奶。”→ [300,304,262]。</a:t>
            </a:r>
          </a:p>
          <a:p>
            <a:r>
              <a:t>展示assets/tokenizer_320.json及384版本。ByteLevel与decoder让普通测试文本完整回解；skip_special_tokens默认会处理特殊符号，不能据普通文本测试承诺所有特殊字符串也逐字可逆。配置改变时须同步参数映射，不能直接拿320模型的embedding套384词表。</a:t>
            </a:r>
          </a:p>
          <a:p>
            <a:r>
              <a:t>对应：Notebook 实验 4，runtime.py:load_tokenizer</a:t>
            </a:r>
          </a:p>
          <a:p>
            <a:r>
              <a:t>观察：默认配置下：我喜欢喝牛奶。→ [300,304,262]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页｜21–24 分钟</a:t>
            </a:r>
          </a:p>
          <a:p>
            <a:r>
              <a:t>Embedding：查表与 one-hot 乘法等价</a:t>
            </a:r>
          </a:p>
          <a:p>
            <a:r>
              <a:t>每个 ID 选择参数表的一行，得到 D 维向量</a:t>
            </a:r>
          </a:p>
          <a:p>
            <a:r>
              <a:t>batch 的每个位置都执行同一次查表操作</a:t>
            </a:r>
          </a:p>
          <a:p>
            <a:r>
              <a:t>one-hot 乘法用于理解，实际实现直接 gather</a:t>
            </a:r>
          </a:p>
          <a:p>
            <a:r>
              <a:t>ID 没有语义距离；表示的可学习几何来自 E 和训练目标。</a:t>
            </a:r>
          </a:p>
          <a:p>
            <a:r>
              <a:t>运行embeddings.py的前半段，torch.allclose(lookup,one_hot@E)为True。真实示例E为[320,8]，batch为[2,6]，X为[2,6,8]。one-hot只为验证构造，不建议大词表训练时这么实现。对应重编号并重排行能保持前向结果不变。</a:t>
            </a:r>
          </a:p>
          <a:p>
            <a:r>
              <a:t>对应：Notebook 实验 5，embeddings.py:demo</a:t>
            </a:r>
          </a:p>
          <a:p>
            <a:r>
              <a:t>观察：[2,6] → [2,6,8]；与 one-hot 乘法前向等价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页｜24–27 分钟</a:t>
            </a:r>
          </a:p>
          <a:p>
            <a:r>
              <a:t>真实 batch：padding 不等于真实文本</a:t>
            </a:r>
          </a:p>
          <a:p>
            <a:r>
              <a:t>两条不同长度序列，补齐到 T=6</a:t>
            </a:r>
          </a:p>
          <a:p>
            <a:r>
              <a:t>nn.Embedding(..., padding_idx=0) 控制 lookup 梯度</a:t>
            </a:r>
          </a:p>
          <a:p>
            <a:r>
              <a:t>valid mask 仍需传给后续注意力或损失</a:t>
            </a:r>
          </a:p>
          <a:p>
            <a:r>
              <a:t>padding_idx 不会自动遮住 Attention，也不会自动忽略 loss。</a:t>
            </a:r>
          </a:p>
          <a:p>
            <a:r>
              <a:t>make_batch手动加bos/eos；第一句长度5，第二句长度6，第一句末尾补pad。nn.Embedding默认将padding行初始化为0并在lookup反传中抑制其梯度；加载或手动改值时不要假定它永远为0。Attention的padding key mask以及交叉熵ignore_index各自仍要处理。</a:t>
            </a:r>
          </a:p>
          <a:p>
            <a:r>
              <a:t>对应：Notebook 实验 5，runtime.py:make_batch</a:t>
            </a:r>
          </a:p>
          <a:p>
            <a:r>
              <a:t>观察：第一句 5 项补齐到 6；第二句 6 项无需补齐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页｜27–31 分钟</a:t>
            </a:r>
          </a:p>
          <a:p>
            <a:r>
              <a:t>重复 token 怎样更新同一行？</a:t>
            </a:r>
          </a:p>
          <a:p>
            <a:r>
              <a:t>先得到每个出现位置的向量梯度</a:t>
            </a:r>
          </a:p>
          <a:p>
            <a:r>
              <a:t>同一参数行可能被多个位置共同读取</a:t>
            </a:r>
          </a:p>
          <a:p>
            <a:r>
              <a:t>把这些位置的梯度相加，更新共享表行</a:t>
            </a:r>
          </a:p>
          <a:p>
            <a:r>
              <a:t>诊断输入 [a,a,b,pad]：求和 loss 的梯度分别是 2、1、0。</a:t>
            </a:r>
          </a:p>
          <a:p>
            <a:r>
              <a:t>运行embeddings.py后半段，用.sum().backward()明确上游每维梯度是1；a出现两次所以对应行每维2，b每维1，padding lookup为0。这是诊断loss，不是语言模型交叉熵。未用作输入的行在此lookup路径梯度为0；绑定输出权重或施加weight decay时不能把它说成所有训练情形的更新规律。</a:t>
            </a:r>
          </a:p>
          <a:p>
            <a:r>
              <a:t>对应：Notebook 实验 6，embeddings.py:demo</a:t>
            </a:r>
          </a:p>
          <a:p>
            <a:r>
              <a:t>观察：每维梯度：a 行 2，b 行 1，pad 行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页｜31–34 分钟</a:t>
            </a:r>
          </a:p>
          <a:p>
            <a:r>
              <a:t>从下一 token 交叉熵追到 embedding</a:t>
            </a:r>
          </a:p>
          <a:p>
            <a:r>
              <a:t>输入向量经过输出投影，得到各 token 的 logits</a:t>
            </a:r>
          </a:p>
          <a:p>
            <a:r>
              <a:t>交叉熵衡量正确下一 token 的预测概率</a:t>
            </a:r>
          </a:p>
          <a:p>
            <a:r>
              <a:t>误差信号右乘输出权重，传回输入向量</a:t>
            </a:r>
          </a:p>
          <a:p>
            <a:r>
              <a:t>先得到每次出现的向量梯度，再按 token ID 累加到 E。</a:t>
            </a:r>
          </a:p>
          <a:p>
            <a:r>
              <a:t>W_out形状[V,D]，p-y是[V]，右乘得到[D]梯度。写一个正确类别的p_y低时误差大的例子，不推导softmax完整Jacobian。公式按单个位置；实际batch mean loss还包含平均因子。F.cross_entropy直接接原始logits，内部完成log_softmax，不先softmax。</a:t>
            </a:r>
          </a:p>
          <a:p>
            <a:r>
              <a:t>对应：Notebook 实验 7，gradient_chain.py:demo</a:t>
            </a:r>
          </a:p>
          <a:p>
            <a:r>
              <a:t>观察：手算向量梯度与 autograd 逐项一致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页｜34–37 分钟</a:t>
            </a:r>
          </a:p>
          <a:p>
            <a:r>
              <a:t>运行一次真实的下一 token 训练</a:t>
            </a:r>
          </a:p>
          <a:p>
            <a:r>
              <a:t>真实 ByteLevel BPE，7 句训练文本、57 对相邻 token</a:t>
            </a:r>
          </a:p>
          <a:p>
            <a:r>
              <a:t>nn.Embedding(320,16) → Linear(16,320)</a:t>
            </a:r>
          </a:p>
          <a:p>
            <a:r>
              <a:t>Adam 训练 120 步，观察 loss 与表行变化</a:t>
            </a:r>
          </a:p>
          <a:p>
            <a:r>
              <a:t>实测 loss：5.7565 → 0.3559；26 个输入表行发生更新。</a:t>
            </a:r>
          </a:p>
          <a:p>
            <a:r>
              <a:t>运行embedding_train.py或Notebook训练单元。模型只用当前token预测下一项，因此是bigram基线，不是Transformer；同一个输入可能有多个后续，loss不必归零。无验证集，仅观察训练拟合。在无weight decay、未绑定输出权重的本实验中，更新行数26与出现过的输入行数一致。 本数据仅依赖当前token时的经验条件熵下界约0.35583；此项供老师解释loss平台，不要求课内计算。训练pair未补齐，不含pad标签。</a:t>
            </a:r>
          </a:p>
          <a:p>
            <a:r>
              <a:t>对应：Notebook 实验 8，embedding_train.py:train</a:t>
            </a:r>
          </a:p>
          <a:p>
            <a:r>
              <a:t>观察：120 步：loss 5.7565 → 0.3559；26 行更新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页｜37–39 分钟</a:t>
            </a:r>
          </a:p>
          <a:p>
            <a:r>
              <a:t>输入表、输出表与权重绑定</a:t>
            </a:r>
          </a:p>
          <a:p>
            <a:r>
              <a:t>输入 embedding 与输出投影可共用同一份 E</a:t>
            </a:r>
          </a:p>
          <a:p>
            <a:r>
              <a:t>输入查表和输出分类，形成两条梯度路径</a:t>
            </a:r>
          </a:p>
          <a:p>
            <a:r>
              <a:t>输入表行固定，上下文隐藏表示仍可变化</a:t>
            </a:r>
          </a:p>
          <a:p>
            <a:r>
              <a:t>绑定权重后，E 会同时接收输入 lookup 与输出分类器的梯度。</a:t>
            </a:r>
          </a:p>
          <a:p>
            <a:r>
              <a:t>本课bigram代码未绑定，便于先看lookup行更新。若绑定，词表全体候选参与输出softmax，未作为输入的行也可能收到输出梯度；padding_idx只限制lookup路径。设置output.weight=embedding.weight应在创建optimizer之前完成，并用去重的参数迭代器。相似度受训练任务影响，不能把每维解释为固定语义标签。</a:t>
            </a:r>
          </a:p>
          <a:p>
            <a:r>
              <a:t>对应：课后扩展验证，tools/check_experiments.py:main</a:t>
            </a:r>
          </a:p>
          <a:p>
            <a:r>
              <a:t>观察：课后验证：没作为输入的行也可能得到输出梯度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页｜39–42 分钟</a:t>
            </a:r>
          </a:p>
          <a:p>
            <a:r>
              <a:t>无位置时：为什么是置换等变？</a:t>
            </a:r>
          </a:p>
          <a:p>
            <a:r>
              <a:t>把 token 行重排，Q/K/V 也对应重排</a:t>
            </a:r>
          </a:p>
          <a:p>
            <a:r>
              <a:t>分数矩阵的 query 行和 key 列同时重排</a:t>
            </a:r>
          </a:p>
          <a:p>
            <a:r>
              <a:t>输出跟随输入重排：没有引入固定位置坐标</a:t>
            </a:r>
          </a:p>
          <a:p>
            <a:r>
              <a:t>这里假设没有位置机制、没有因果 mask；等变不等于输出完全相同。</a:t>
            </a:r>
          </a:p>
          <a:p>
            <a:r>
              <a:t>给出三行token的重排，说明输出随行重排，而非整个矩阵不变。运行position_mechanics.py：无位置时True，给新行位置加PE后False。不要求证明任意网络性质，只连接QK转置和softmax逐行对称性。因果mask并不随任意置换同样改变，所以不满足这里的假设。 用 Π 记行置换，与学习式位置表 P 区分。</a:t>
            </a:r>
          </a:p>
          <a:p>
            <a:r>
              <a:t>对应：Notebook 实验 9，position_mechanics.py:attention</a:t>
            </a:r>
          </a:p>
          <a:p>
            <a:r>
              <a:t>观察：重排后输出也重排：True；加入位置后通常 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页｜42–45 分钟</a:t>
            </a:r>
          </a:p>
          <a:p>
            <a:r>
              <a:t>绝对位置：学习表与固定函数</a:t>
            </a:r>
          </a:p>
          <a:p>
            <a:r>
              <a:t>学习式位置表按 token 序号查行</a:t>
            </a:r>
          </a:p>
          <a:p>
            <a:r>
              <a:t>把内容向量与同维度的位置向量相加</a:t>
            </a:r>
          </a:p>
          <a:p>
            <a:r>
              <a:t>正弦编码则用固定函数生成位置向量</a:t>
            </a:r>
          </a:p>
          <a:p>
            <a:r>
              <a:t>P 的索引是 token 位置；L 限制学习式表能直接查询的范围。</a:t>
            </a:r>
          </a:p>
          <a:p>
            <a:r>
              <a:t>不要把BPE的字符offset当成token位置。可学习位置表也参与反向传播；正弦表不需要训练其数值。相加式输入与RoPE是不同接口，下一页分别说明，代码不会先加绝对PE又声称相对旋转分数必然保持不变。</a:t>
            </a:r>
          </a:p>
          <a:p>
            <a:r>
              <a:t>对应：Notebook 实验 10，positions.py:sinusoidal</a:t>
            </a:r>
          </a:p>
          <a:p>
            <a:r>
              <a:t>观察：相加后形状保持 [B,T,D]；本课代码演示固定函数</a:t>
            </a:r>
          </a:p>
          <a:p>
            <a:r>
              <a:t>投影代码出自 position_mechanics.py:demo；位置函数来自 positions.py:sinusoidal。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页｜45–48 分钟</a:t>
            </a:r>
          </a:p>
          <a:p>
            <a:r>
              <a:t>正弦为什么使用多组频率？</a:t>
            </a:r>
          </a:p>
          <a:p>
            <a:r>
              <a:t>频率随维度对编号变化，提供多种变化尺度</a:t>
            </a:r>
          </a:p>
          <a:p>
            <a:r>
              <a:t>每个位置乘以各组频率，得到旋转角度</a:t>
            </a:r>
          </a:p>
          <a:p>
            <a:r>
              <a:t>相邻两维分别存放角度的 sin 与 cos</a:t>
            </a:r>
          </a:p>
          <a:p>
            <a:r>
              <a:t>从位置 t，到角度 tω，再到每一对维度的 sin / cos。</a:t>
            </a:r>
          </a:p>
          <a:p>
            <a:r>
              <a:t>D=4时频率1与0.01，沿用上一版四维数值核对。多个频率提供不同变化尺度，单一周期不能代替全部设计。指出pos[:,None]*frequencies[None,:]的广播形状[T,D/2]，而非逐token循环。可计算更大p不等于模型长上下文质量有保证。 统一记号：ω_i 为频率，θ_{t,i}=tω_i 为角度；分别对应 frequencies 与 angles。</a:t>
            </a:r>
          </a:p>
          <a:p>
            <a:r>
              <a:t>对应：Notebook 实验 10，positions.py:sinusoidal</a:t>
            </a:r>
          </a:p>
          <a:p>
            <a:r>
              <a:t>观察：位置 0：[0,1,0,1]；不同维度对有不同变化尺度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页｜48–51 分钟</a:t>
            </a:r>
          </a:p>
          <a:p>
            <a:r>
              <a:t>RoPE 二维推导：相对位移从哪来？</a:t>
            </a:r>
          </a:p>
          <a:p>
            <a:r>
              <a:t>每一对维度用二维旋转矩阵变换</a:t>
            </a:r>
          </a:p>
          <a:p>
            <a:r>
              <a:t>q 按位置 m 旋转，k 按位置 n 旋转</a:t>
            </a:r>
          </a:p>
          <a:p>
            <a:r>
              <a:t>旋转后的点积出现相对位移 n−m</a:t>
            </a:r>
          </a:p>
          <a:p>
            <a:r>
              <a:t>转置是反向旋转，连续旋转可相加，因此最终角度为 (n−m)ω。</a:t>
            </a:r>
          </a:p>
          <a:p>
            <a:r>
              <a:t>从二维旋转矩阵的转置等于反向旋转、旋转可相加讲到相对位移，约两步，不展开所有矩阵项。保持未旋转q/k不变、同时平移位置时点积不变；完整模型的q/k可能随上下文变化，所以不推出任意平移文本模型输出不变。</a:t>
            </a:r>
          </a:p>
          <a:p>
            <a:r>
              <a:t>对应：Notebook 实验 11，positions.py:apply_rope</a:t>
            </a:r>
          </a:p>
          <a:p>
            <a:r>
              <a:t>观察：固定 q/k 内容：点积由相对位置 n−m 调节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页｜51–54 分钟</a:t>
            </a:r>
          </a:p>
          <a:p>
            <a:r>
              <a:t>把 RoPE 写成张量运算</a:t>
            </a:r>
          </a:p>
          <a:p>
            <a:r>
              <a:t>把最后一维拆成相邻的 even / odd 分量</a:t>
            </a:r>
          </a:p>
          <a:p>
            <a:r>
              <a:t>按分量公式旋转，广播到 batch 与 head</a:t>
            </a:r>
          </a:p>
          <a:p>
            <a:r>
              <a:t>函数保持形状，整合时作用于多头 Q/K</a:t>
            </a:r>
          </a:p>
          <a:p>
            <a:r>
              <a:t>RoPE 保持每个向量范数；点积仍会随相对位置改变。</a:t>
            </a:r>
          </a:p>
          <a:p>
            <a:r>
              <a:t>展示positions.apply_rope。使用相邻维度配对，另一种split-half实现需有一致的坐标排列；不混用两种配对约定。函数支持[...,T,D]，D必须为正偶数。运行整体位置平移与范数检查，float64分数差在1e-15量级。RoPE作用Q/K，本实现不旋转V。</a:t>
            </a:r>
          </a:p>
          <a:p>
            <a:r>
              <a:t>对应：Notebook 实验 11，positions.py:apply_rope</a:t>
            </a:r>
          </a:p>
          <a:p>
            <a:r>
              <a:t>观察：范数保持；整体平移位置后分数误差约 10⁻¹⁵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页｜54–56 分钟</a:t>
            </a:r>
          </a:p>
          <a:p>
            <a:r>
              <a:t>三种机制：位置、因果范围与 padding</a:t>
            </a:r>
          </a:p>
          <a:p>
            <a:r>
              <a:t>RoPE 或绝对位置：让位置参与数值计算</a:t>
            </a:r>
          </a:p>
          <a:p>
            <a:r>
              <a:t>causal mask:[T,T]，限制读取未来</a:t>
            </a:r>
          </a:p>
          <a:p>
            <a:r>
              <a:t>padding key mask:[B,1,1,T]，屏蔽补齐位置</a:t>
            </a:r>
          </a:p>
          <a:p>
            <a:r>
              <a:t>padding_idx、Attention mask、loss ignore_index 互不替代。</a:t>
            </a:r>
          </a:p>
          <a:p>
            <a:r>
              <a:t>pipeline将上三角future和无效key位置做逻辑或，再把score设为-inf；不会修改token ID来实现mask。批中每句含bos/eos，至少有可见有效key；对全屏蔽行必须另作处理以免softmax NaN。padding query的输出最后清零，但训练损失仍需独立忽略padding标签。</a:t>
            </a:r>
          </a:p>
          <a:p>
            <a:r>
              <a:t>对应：Notebook 实验 12，input_pipeline.py:demo</a:t>
            </a:r>
          </a:p>
          <a:p>
            <a:r>
              <a:t>观察：未来 key 与 padding key 的权重均为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20 页｜56–58 分钟</a:t>
            </a:r>
          </a:p>
          <a:p>
            <a:r>
              <a:t>真实输入链路：把 shape 全部接上</a:t>
            </a:r>
          </a:p>
          <a:p>
            <a:r>
              <a:t>真实 tokenizer → ID [2,6] → embedding [2,6,8]</a:t>
            </a:r>
          </a:p>
          <a:p>
            <a:r>
              <a:t>投影并拆头 → Q/K [2,2,6,4]</a:t>
            </a:r>
          </a:p>
          <a:p>
            <a:r>
              <a:t>RoPE + 两种 mask → 输出 [2,6,8]</a:t>
            </a:r>
          </a:p>
          <a:p>
            <a:r>
              <a:t>该脚本验证输入端与 Attention 接口，不包含完整 Block 或生成循环。</a:t>
            </a:r>
          </a:p>
          <a:p>
            <a:r>
              <a:t>运行input_pipeline.py，只跟踪形状与一行RoPE、一行mask。此分支不先加绝对PE，随机参数未训练；上面的bigram训练也没有Attention。明确两个实验各验证什么，避免把它们拼成已训练的大模型。首句实际token3个，加bos/eos为5，补到6；另一句4个token，加标记为6。</a:t>
            </a:r>
          </a:p>
          <a:p>
            <a:r>
              <a:t>对应：Notebook 实验 12，input_pipeline.py:demo</a:t>
            </a:r>
          </a:p>
          <a:p>
            <a:r>
              <a:t>观察：ID [2,6] → X [2,6,8] → Q/K [2,2,6,4] → 输出 [2,6,8]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21 页｜58–60 分钟</a:t>
            </a:r>
          </a:p>
          <a:p>
            <a:r>
              <a:t>检查理解：解释一次编码、一次反传、一次旋转</a:t>
            </a:r>
          </a:p>
          <a:p>
            <a:r>
              <a:t>为什么 abc 在 rank 规则下是 a/bc 而非 ab/c？</a:t>
            </a:r>
          </a:p>
          <a:p>
            <a:r>
              <a:t>同一 token 出现三次，它的表行梯度怎么计算？</a:t>
            </a:r>
          </a:p>
          <a:p>
            <a:r>
              <a:t>为什么保持 n−m 后旋转点积相同，mask 却仍必要？</a:t>
            </a:r>
          </a:p>
          <a:p>
            <a:r>
              <a:t>课后：改词表规模、检查梯度、验证旋转等式并记录结果。</a:t>
            </a:r>
          </a:p>
          <a:p>
            <a:r>
              <a:t>答案：重叠候选选最小rank；按各位置上游梯度求和，不是简单覆盖；旋转编码位置关系，mask决定哪些关系可读取。作业增加一个权重绑定实验，观察输出路径使更多embedding行获得梯度。完整答案及检查在exercises.md，保留数据与机制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00–03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从文本到模型输入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第二课  ·  Tokenizer、Embedding 与位置机制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今天沿同一条链路，解释规则、参数和顺序。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01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48840"/>
            <a:ext cx="3566160" cy="2441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359152"/>
            <a:ext cx="30175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458C6"/>
                </a:solidFill>
                <a:latin typeface="Arial Unicode M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44368"/>
            <a:ext cx="310896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4263D"/>
                </a:solidFill>
                <a:latin typeface="Arial Unicode MS"/>
              </a:defRPr>
            </a:pPr>
            <a:r>
              <a:t>先切片段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57016"/>
            <a:ext cx="3108960" cy="371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458C6"/>
                </a:solidFill>
                <a:latin typeface="Arial Unicode MS"/>
              </a:defRPr>
            </a:pPr>
            <a:r>
              <a:t>Tokenizer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2"/>
            <a:ext cx="3108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文本 →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2148840"/>
            <a:ext cx="3566160" cy="2441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2359152"/>
            <a:ext cx="30175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87F8C"/>
                </a:solidFill>
                <a:latin typeface="Arial Unicode MS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2944368"/>
            <a:ext cx="310896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4263D"/>
                </a:solidFill>
                <a:latin typeface="Arial Unicode MS"/>
              </a:defRPr>
            </a:pPr>
            <a:r>
              <a:t>再学表示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3557016"/>
            <a:ext cx="3108960" cy="371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87F8C"/>
                </a:solidFill>
                <a:latin typeface="Arial Unicode MS"/>
              </a:defRPr>
            </a:pPr>
            <a:r>
              <a:t>Embedding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096512"/>
            <a:ext cx="3108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ID → 向量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2148840"/>
            <a:ext cx="3566160" cy="2441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2359152"/>
            <a:ext cx="30175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458C6"/>
                </a:solidFill>
                <a:latin typeface="Arial Unicode M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944368"/>
            <a:ext cx="310896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4263D"/>
                </a:solidFill>
                <a:latin typeface="Arial Unicode MS"/>
              </a:defRPr>
            </a:pPr>
            <a:r>
              <a:t>最后加顺序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557016"/>
            <a:ext cx="3108960" cy="371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458C6"/>
                </a:solidFill>
                <a:latin typeface="Arial Unicode MS"/>
              </a:defRPr>
            </a:pPr>
            <a:r>
              <a:t>位置机制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096512"/>
            <a:ext cx="3108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Q/K → 位置关系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38344"/>
            <a:ext cx="106984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14263D"/>
                </a:solidFill>
                <a:latin typeface="Arial Unicode MS"/>
              </a:defRPr>
            </a:pPr>
            <a:r>
              <a:t>同一句话：我喜欢喝牛奶。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03–06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分得更细，还是词表更大？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词表大小 V 与序列长度 T，会影响不同部分的计算成本。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选择切分粒度，也是在选择参数与计算的开销。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02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0312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103120"/>
            <a:ext cx="50292" cy="3200400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331720"/>
            <a:ext cx="314553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75569"/>
                </a:solidFill>
                <a:latin typeface="Arial Unicode MS"/>
              </a:defRPr>
            </a:pPr>
            <a:r>
              <a:t>词表参数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935224"/>
            <a:ext cx="31455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36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2458C6"/>
                </a:solidFill>
                <a:latin typeface="Arial Unicode MS"/>
              </a:defRPr>
            </a:pPr>
            <a:r>
              <a:t>V ×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544568"/>
            <a:ext cx="314553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4263D"/>
                </a:solidFill>
                <a:latin typeface="Arial Unicode MS"/>
              </a:defRPr>
            </a:pPr>
            <a:r>
              <a:t>V 越大，参数表越大。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10312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2103120"/>
            <a:ext cx="50292" cy="3200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2331720"/>
            <a:ext cx="314553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75569"/>
                </a:solidFill>
                <a:latin typeface="Arial Unicode MS"/>
              </a:defRPr>
            </a:pPr>
            <a:r>
              <a:t>稠密分数矩阵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2935224"/>
            <a:ext cx="31455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36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087F8C"/>
                </a:solidFill>
                <a:latin typeface="Arial Unicode MS"/>
              </a:defRPr>
            </a:pPr>
            <a:r>
              <a:t>T ×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544568"/>
            <a:ext cx="314553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4263D"/>
                </a:solidFill>
                <a:latin typeface="Arial Unicode MS"/>
              </a:defRPr>
            </a:pPr>
            <a:r>
              <a:t>T 越大，分数矩阵越大。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10312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103120"/>
            <a:ext cx="50292" cy="3200400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2" y="2331720"/>
            <a:ext cx="314553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75569"/>
                </a:solidFill>
                <a:latin typeface="Arial Unicode MS"/>
              </a:defRPr>
            </a:pPr>
            <a:r>
              <a:t>输出投影计算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2935224"/>
            <a:ext cx="31455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36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2458C6"/>
                </a:solidFill>
                <a:latin typeface="Arial Unicode MS"/>
              </a:defRPr>
            </a:pPr>
            <a:r>
              <a:t>T × D × 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4544568"/>
            <a:ext cx="314553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4263D"/>
                </a:solidFill>
                <a:latin typeface="Arial Unicode MS"/>
              </a:defRPr>
            </a:pPr>
            <a:r>
              <a:t>整个模型的成本不只有 T²。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04688"/>
            <a:ext cx="10515600" cy="3253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75569"/>
                </a:solidFill>
                <a:latin typeface="Arial Unicode MS"/>
              </a:defRPr>
            </a:pPr>
            <a:r>
              <a:t>单份 E：32768 × 4096 × 2 字节 = 256 MiB（FP16）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06–09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BPE：先统计，再合并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每轮重新统计当前相邻片段，选择最高频的一对。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频次来自语料；合并后要重新统计。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03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S(a,b)=\sum_s f_s\,\operatorname{count}_s(a,b)" descr="S(a,b)=\sum_s f_s\,\operatorname{count}_s(a,b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630" y="2272569"/>
            <a:ext cx="4366260" cy="671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f_s：文本频次；count：当前切分中的相邻次数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对应实现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counts[pair] += corpus[text]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69087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pair = max(counts, key=counts.get)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032504"/>
            <a:ext cx="3108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“喜 + 欢”的首轮频次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562856"/>
            <a:ext cx="31089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458C6"/>
                </a:solidFill>
                <a:latin typeface="Arial Unicode MS"/>
              </a:defRPr>
            </a:pPr>
            <a:r>
              <a:t>5 + 3 + 2 =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5120640"/>
            <a:ext cx="3108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263D"/>
                </a:solidFill>
                <a:latin typeface="Arial Unicode MS"/>
              </a:defRPr>
            </a:pPr>
            <a:r>
              <a:t>四轮：10 → 10 → 8 →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01   ·   bpe_core.py / train_bpe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09–12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BPE 编码：谁的 rank 更小？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规则已经冻结；每次在当前候选中选择优先级最高的一对。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merge rank 决定合并顺序，token ID 决定查表地址。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04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(a,b)^*=\underset{(a,b)\in\mathcal{C}}{\arg\min}\;\operatorname{rank}(a,b)" descr="(a,b)^*=\underset{(a,b)\in\mathcal{C}}{\arg\min}\;\operatorname{rank}(a,b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171" y="2189702"/>
            <a:ext cx="4849177" cy="8372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C：当前相邻、且在 merges 中的候选 pair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对应实现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rank, pair = min(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69087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    candidates, key=lambda item: item[0]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96519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23951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parts = merge_pair(parts, pair)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4032504"/>
            <a:ext cx="3108960" cy="309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bc 的 rank 0 更优先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4443984"/>
            <a:ext cx="64008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4507992"/>
            <a:ext cx="53035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458C6"/>
                </a:solidFill>
                <a:latin typeface="Arial Unicode MS"/>
              </a:defRPr>
            </a:pPr>
            <a:r>
              <a:t>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4443984"/>
            <a:ext cx="64008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4507992"/>
            <a:ext cx="53035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458C6"/>
                </a:solidFill>
                <a:latin typeface="Arial Unicode MS"/>
              </a:defRPr>
            </a:pPr>
            <a:r>
              <a:t>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57232" y="4443984"/>
            <a:ext cx="64008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12096" y="4507992"/>
            <a:ext cx="53035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458C6"/>
                </a:solidFill>
                <a:latin typeface="Arial Unicode MS"/>
              </a:defRPr>
            </a:pPr>
            <a:r>
              <a:t>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8" y="4992624"/>
            <a:ext cx="0" cy="100584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10800000">
            <a:off x="9176004" y="505206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39327" y="5138928"/>
            <a:ext cx="64008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5202936"/>
            <a:ext cx="53035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458C6"/>
                </a:solidFill>
                <a:latin typeface="Arial Unicode MS"/>
              </a:defRPr>
            </a:pPr>
            <a: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62288" y="5138928"/>
            <a:ext cx="1005840" cy="530352"/>
          </a:xfrm>
          <a:prstGeom prst="roundRect">
            <a:avLst>
              <a:gd name="adj" fmla="val 6000"/>
            </a:avLst>
          </a:prstGeom>
          <a:solidFill>
            <a:srgbClr val="D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17152" y="5202936"/>
            <a:ext cx="89611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87568"/>
                </a:solidFill>
                <a:latin typeface="Arial Unicode MS"/>
              </a:defRPr>
            </a:pPr>
            <a:r>
              <a:t>bc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02   ·   bpe_core.py / encode_bpe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12–16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把 BPE 接到真实文本上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ByteLevel 处理字节与边界；BPE 处理合并规则。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先训练并保存配置，再加载同一配置进行编码。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05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42316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43200"/>
            <a:ext cx="1847088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458C6"/>
                </a:solidFill>
                <a:latin typeface="Arial Unicode MS"/>
              </a:defRPr>
            </a:pPr>
            <a:r>
              <a:t>本地语料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19272"/>
            <a:ext cx="1847088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28 行中英文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96896" y="3172968"/>
            <a:ext cx="164592" cy="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729484" y="313182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98064" y="242316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9504" y="2743200"/>
            <a:ext cx="1847088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458C6"/>
                </a:solidFill>
                <a:latin typeface="Arial Unicode MS"/>
              </a:defRPr>
            </a:pPr>
            <a:r>
              <a:t>ByteLevel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9504" y="3319272"/>
            <a:ext cx="1847088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字节与边界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46320" y="3172968"/>
            <a:ext cx="164592" cy="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4978908" y="313182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47488" y="242316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7" y="2743200"/>
            <a:ext cx="1847088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458C6"/>
                </a:solidFill>
                <a:latin typeface="Arial Unicode MS"/>
              </a:defRPr>
            </a:pPr>
            <a:r>
              <a:t>BPE 训练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7" y="3319272"/>
            <a:ext cx="1847088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学习 merges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95744" y="3172968"/>
            <a:ext cx="164592" cy="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228331" y="313182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96912" y="242316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2743200"/>
            <a:ext cx="1847088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458C6"/>
                </a:solidFill>
                <a:latin typeface="Arial Unicode MS"/>
              </a:defRPr>
            </a:pPr>
            <a:r>
              <a:t>保存 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3319272"/>
            <a:ext cx="1847088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词表与配置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45167" y="3172968"/>
            <a:ext cx="164592" cy="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9477755" y="313182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46336" y="242316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7776" y="2743200"/>
            <a:ext cx="1847088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458C6"/>
                </a:solidFill>
                <a:latin typeface="Arial Unicode MS"/>
              </a:defRPr>
            </a:pPr>
            <a:r>
              <a:t>编码文本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3319272"/>
            <a:ext cx="1847088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tokens / IDs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425696"/>
            <a:ext cx="5394960" cy="1033271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17920" y="4425696"/>
            <a:ext cx="5394960" cy="1033271"/>
          </a:xfrm>
          <a:prstGeom prst="roundRect">
            <a:avLst>
              <a:gd name="adj" fmla="val 6000"/>
            </a:avLst>
          </a:prstGeom>
          <a:solidFill>
            <a:srgbClr val="E1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690872"/>
            <a:ext cx="49377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458C6"/>
                </a:solidFill>
                <a:latin typeface="Arial Unicode MS"/>
              </a:defRPr>
            </a:pPr>
            <a:r>
              <a:t>256 种基础字节 + 4 个特殊符号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690872"/>
            <a:ext cx="49377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87568"/>
                </a:solidFill>
                <a:latin typeface="Arial Unicode MS"/>
              </a:defRPr>
            </a:pPr>
            <a:r>
              <a:t>分词器训练：统计与合并规则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03   ·   train_tokenizer.py / train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16–19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同一句话，为什么 token 数不同？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真实对照：同一份语料，分别训练 320 项与 384 项词表。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词表变大不保证每句话都缩短；中文样例均为 3 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06 / 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148840"/>
            <a:ext cx="105156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36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4263D"/>
                </a:solidFill>
                <a:latin typeface="Arial Unicode MS"/>
              </a:defRPr>
            </a:pPr>
            <a:r>
              <a:t>Hello world!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10128"/>
            <a:ext cx="19659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4263D"/>
                </a:solidFill>
                <a:latin typeface="Arial Unicode MS"/>
              </a:defRPr>
            </a:pPr>
            <a:r>
              <a:t>V = 320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71216" y="3200400"/>
            <a:ext cx="6766560" cy="640080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3236976"/>
            <a:ext cx="14630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458C6"/>
                </a:solidFill>
                <a:latin typeface="Arial Unicode MS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19659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4263D"/>
                </a:solidFill>
                <a:latin typeface="Arial Unicode MS"/>
              </a:defRPr>
            </a:pPr>
            <a:r>
              <a:t>V = 384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71216" y="4233672"/>
            <a:ext cx="3759199" cy="640080"/>
          </a:xfrm>
          <a:prstGeom prst="roundRect">
            <a:avLst>
              <a:gd name="adj" fmla="val 6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68160" y="4270248"/>
            <a:ext cx="14630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87F8C"/>
                </a:solidFill>
                <a:latin typeface="Arial Unicode M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285232"/>
            <a:ext cx="104241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75569"/>
                </a:solidFill>
                <a:latin typeface="Arial Unicode MS"/>
              </a:defRPr>
            </a:pPr>
            <a:r>
              <a:t>同时观察：前导空格、标点、未见字符与整串回解。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04   ·   tokenization.py /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19–21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ID 必须与参数表配套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同样大小的词表，也可能把同一片段映射到不同的地址。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更换 tokenizer 时，必须核对 ID 与模型参数的对应关系。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07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94560"/>
            <a:ext cx="48920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468880"/>
            <a:ext cx="4297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75569"/>
                </a:solidFill>
                <a:latin typeface="Arial Unicode MS"/>
              </a:defRPr>
            </a:pPr>
            <a:r>
              <a:t>冻结的 tokenizer：V = 320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90672"/>
            <a:ext cx="4297680" cy="480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82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63D"/>
                </a:solidFill>
                <a:latin typeface="Arial Unicode MS"/>
              </a:defRPr>
            </a:pPr>
            <a:r>
              <a:t>我喜欢喝牛奶。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041648"/>
            <a:ext cx="1133856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4105656"/>
            <a:ext cx="1024128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2458C6"/>
                </a:solidFill>
                <a:latin typeface="Arial Unicode MS"/>
              </a:defRPr>
            </a:pPr>
            <a:r>
              <a:t>300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4041648"/>
            <a:ext cx="1133856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95144" y="4105656"/>
            <a:ext cx="1024128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2458C6"/>
                </a:solidFill>
                <a:latin typeface="Arial Unicode MS"/>
              </a:defRPr>
            </a:pPr>
            <a:r>
              <a:t>304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041648"/>
            <a:ext cx="1133856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66744" y="4105656"/>
            <a:ext cx="1024128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2458C6"/>
                </a:solidFill>
                <a:latin typeface="Arial Unicode MS"/>
              </a:defRPr>
            </a:pPr>
            <a:r>
              <a:t>262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59552" y="3858768"/>
            <a:ext cx="502920" cy="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6030468" y="3817620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219456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468880"/>
            <a:ext cx="4754880" cy="387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458C6"/>
                </a:solidFill>
                <a:latin typeface="Arial Unicode MS"/>
              </a:defRPr>
            </a:pPr>
            <a:r>
              <a:t>配套参数表 E：[320,D]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145536"/>
            <a:ext cx="1005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75569"/>
                </a:solidFill>
                <a:latin typeface="Arial Unicode MS"/>
              </a:defRPr>
            </a:pPr>
            <a:r>
              <a:t>300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3127248"/>
            <a:ext cx="3474720" cy="47548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3191256"/>
            <a:ext cx="3200400" cy="371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458C6"/>
                </a:solidFill>
                <a:latin typeface="Arial Unicode MS"/>
              </a:defRPr>
            </a:pPr>
            <a:r>
              <a:t>E[300]  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739896"/>
            <a:ext cx="1005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75569"/>
                </a:solidFill>
                <a:latin typeface="Arial Unicode MS"/>
              </a:defRPr>
            </a:pPr>
            <a:r>
              <a:t>304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721608"/>
            <a:ext cx="3474720" cy="47548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54112" y="3785615"/>
            <a:ext cx="3200400" cy="371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458C6"/>
                </a:solidFill>
                <a:latin typeface="Arial Unicode MS"/>
              </a:defRPr>
            </a:pPr>
            <a:r>
              <a:t>E[304]  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334256"/>
            <a:ext cx="1005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75569"/>
                </a:solidFill>
                <a:latin typeface="Arial Unicode MS"/>
              </a:defRPr>
            </a:pPr>
            <a:r>
              <a:t>262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4315968"/>
            <a:ext cx="3474720" cy="47548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4112" y="4379976"/>
            <a:ext cx="3200400" cy="371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458C6"/>
                </a:solidFill>
                <a:latin typeface="Arial Unicode MS"/>
              </a:defRPr>
            </a:pPr>
            <a:r>
              <a:t>E[262]  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522976"/>
            <a:ext cx="10424160" cy="3253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75569"/>
                </a:solidFill>
                <a:latin typeface="Arial Unicode MS"/>
              </a:defRPr>
            </a:pPr>
            <a:r>
              <a:t>特殊 ID：pad=0  ·  unk=1  ·  bos=2  ·  eos=3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04   ·   runtime.py / load_tokenizer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21–24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Embedding：一个 ID 选择一行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查表与 one-hot 乘法前向等价；实际实现直接选行。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ID 是地址；可训练的表示存放在 E 的每一行。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08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\mathbf{E}\in\mathbb{R}^{V\times D},\quad\mathbf{X}=\mathbf{E}[I]" descr="\mathbf{E}\in\mathbb{R}^{V\times D},\quad\mathbf{X}=\mathbf{E}[I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512" y="2059686"/>
            <a:ext cx="3960495" cy="457200"/>
          </a:xfrm>
          <a:prstGeom prst="rect">
            <a:avLst/>
          </a:prstGeom>
        </p:spPr>
      </p:pic>
      <p:pic>
        <p:nvPicPr>
          <p:cNvPr id="18" name="Formula: \mathbf{X}=\operatorname{one\_hot}(I)\,\mathbf{E}" descr="\mathbf{X}=\operatorname{one\_hot}(I)\,\mathbf{E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427" y="2732627"/>
            <a:ext cx="3034665" cy="3914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I：[B,T]；E：[V,D]；X：[B,T,D]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对应实现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vectors = embedding(ids)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032504"/>
            <a:ext cx="3108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前向等价检查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507992"/>
            <a:ext cx="3108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87568"/>
                </a:solidFill>
                <a:latin typeface="Arial Unicode MS"/>
              </a:defRPr>
            </a:pPr>
            <a:r>
              <a:t>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5166360"/>
            <a:ext cx="3108960" cy="3253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4263D"/>
                </a:solidFill>
                <a:latin typeface="Arial Unicode MS"/>
              </a:defRPr>
            </a:pPr>
            <a:r>
              <a:t>[2,6] → [2,6,8]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05   ·   embeddings.py /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24–27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不同长度，怎样组成 batch？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先添加起止标记，再补齐；pad 只是占位。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padding_idx、注意力 mask 和损失忽略，需要分别处理。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09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94560"/>
            <a:ext cx="11064240" cy="3273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962656"/>
            <a:ext cx="1097280" cy="387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4263D"/>
                </a:solidFill>
                <a:latin typeface="Arial Unicode MS"/>
              </a:defRPr>
            </a:pPr>
            <a:r>
              <a:t>句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283464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03704" y="289864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2458C6"/>
                </a:solidFill>
                <a:latin typeface="Arial Unicode MS"/>
              </a:defRPr>
            </a:pPr>
            <a:r>
              <a:t>bos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48456" y="283464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89864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2458C6"/>
                </a:solidFill>
                <a:latin typeface="Arial Unicode MS"/>
              </a:defRPr>
            </a:pPr>
            <a:r>
              <a:t>t₁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8072" y="283464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2936" y="289864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2458C6"/>
                </a:solidFill>
                <a:latin typeface="Arial Unicode MS"/>
              </a:defRPr>
            </a:pPr>
            <a:r>
              <a:t>t₂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7688" y="283464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1" y="289864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2458C6"/>
                </a:solidFill>
                <a:latin typeface="Arial Unicode MS"/>
              </a:defRPr>
            </a:pPr>
            <a:r>
              <a:t>t₃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283464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8" y="289864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2458C6"/>
                </a:solidFill>
                <a:latin typeface="Arial Unicode MS"/>
              </a:defRPr>
            </a:pPr>
            <a:r>
              <a:t>eos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19" y="283464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1784" y="289864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475569"/>
                </a:solidFill>
                <a:latin typeface="Arial Unicode MS"/>
              </a:defRPr>
            </a:pPr>
            <a:r>
              <a:t>pad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474720"/>
            <a:ext cx="8869680" cy="3253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75569"/>
                </a:solidFill>
                <a:latin typeface="Arial Unicode MS"/>
              </a:defRPr>
            </a:pPr>
            <a:r>
              <a:t>5 个有效 token + 1 个 pad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059935"/>
            <a:ext cx="1097280" cy="387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4263D"/>
                </a:solidFill>
                <a:latin typeface="Arial Unicode MS"/>
              </a:defRPr>
            </a:pPr>
            <a:r>
              <a:t>句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393192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03704" y="399592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2458C6"/>
                </a:solidFill>
                <a:latin typeface="Arial Unicode MS"/>
              </a:defRPr>
            </a:pPr>
            <a:r>
              <a:t>bos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48456" y="393192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399592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2458C6"/>
                </a:solidFill>
                <a:latin typeface="Arial Unicode MS"/>
              </a:defRPr>
            </a:pPr>
            <a:r>
              <a:t>t₁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48072" y="393192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02936" y="399592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2458C6"/>
                </a:solidFill>
                <a:latin typeface="Arial Unicode MS"/>
              </a:defRPr>
            </a:pPr>
            <a:r>
              <a:t>t₂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47688" y="393192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02551" y="399592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2458C6"/>
                </a:solidFill>
                <a:latin typeface="Arial Unicode MS"/>
              </a:defRPr>
            </a:pPr>
            <a:r>
              <a:t>t₃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47304" y="393192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2168" y="399592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2458C6"/>
                </a:solidFill>
                <a:latin typeface="Arial Unicode MS"/>
              </a:defRPr>
            </a:pPr>
            <a:r>
              <a:t>t₄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19" y="3931920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01784" y="3995928"/>
            <a:ext cx="117043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2458C6"/>
                </a:solidFill>
                <a:latin typeface="Arial Unicode MS"/>
              </a:defRPr>
            </a:pPr>
            <a:r>
              <a:t>eos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4572000"/>
            <a:ext cx="8869680" cy="3253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75569"/>
                </a:solidFill>
                <a:latin typeface="Arial Unicode MS"/>
              </a:defRPr>
            </a:pPr>
            <a:r>
              <a:t>6 个有效 token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" y="2359152"/>
            <a:ext cx="1033272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458C6"/>
                </a:solidFill>
                <a:latin typeface="Arial Unicode MS"/>
              </a:defRPr>
            </a:pPr>
            <a:r>
              <a:t>B = 2，T = 6；t₁…t₄ 表示普通 token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05   ·   runtime.py / make_batch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27–31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读了同一行，梯度就要相加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共享参数接收所有读取位置的贡献；这里先看 lookup 路径。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反向是 scatter-add：累加贡献，而不是覆盖旧值。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10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\mathbf{g}_{b,t}=\frac{\partial L}{\partial\mathbf{X}_{b,t}}" descr="\mathbf{g}_{b,t}=\frac{\partial L}{\partial\mathbf{X}_{b,t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177" y="2274570"/>
            <a:ext cx="1777365" cy="571500"/>
          </a:xfrm>
          <a:prstGeom prst="rect">
            <a:avLst/>
          </a:prstGeom>
        </p:spPr>
      </p:pic>
      <p:pic>
        <p:nvPicPr>
          <p:cNvPr id="18" name="Formula: \frac{\partial L}{\partial\mathbf{E}_j}=\sum_{(b,t):\,I_{b,t}=j}\mathbf{g}_{b,t}" descr="\frac{\partial L}{\partial\mathbf{E}_j}=\sum_{(b,t):\,I_{b,t}=j}\mathbf{g}_{b,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038" y="2141696"/>
            <a:ext cx="3174682" cy="8372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对非 pad 行 j；遍历 batch 中所有读取它的位置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对应实现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repeated = torch.tensor([[a, a, b, pad]])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9087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embedding(repeated).sum().backward()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4032504"/>
            <a:ext cx="3108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[a, a, b, pad] 求和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507992"/>
            <a:ext cx="91440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92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458C6"/>
                </a:solidFill>
                <a:latin typeface="Arial Unicode MS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5157216"/>
            <a:ext cx="914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4507992"/>
            <a:ext cx="91440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92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7F8C"/>
                </a:solidFill>
                <a:latin typeface="Arial Unicode MS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5157216"/>
            <a:ext cx="914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7" y="4507992"/>
            <a:ext cx="91440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92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475569"/>
                </a:solidFill>
                <a:latin typeface="Arial Unicode MS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9567" y="5157216"/>
            <a:ext cx="914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pad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06   ·   embeddings.py /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31–34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预测误差怎样传回向量？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单位置交叉熵：先得到类别误差，再乘回输出权重。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先算每次出现的向量梯度，再按 ID 汇总到参数表。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11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\mathbf{z}=\mathbf{e}\mathbf{W}_{\rm out}^{\mathsf{T}},\quad L=-\log p_y" descr="\mathbf{z}=\mathbf{e}\mathbf{W}_{\rm out}^{\mathsf{T}},\quad L=-\log p_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203" y="2028253"/>
            <a:ext cx="4329112" cy="520065"/>
          </a:xfrm>
          <a:prstGeom prst="rect">
            <a:avLst/>
          </a:prstGeom>
        </p:spPr>
      </p:pic>
      <p:pic>
        <p:nvPicPr>
          <p:cNvPr id="18" name="Formula: \frac{\partial L}{\partial\mathbf{e}}=(\mathbf{p}-\operatorname{one\_hot}(y))\mathbf{W}_{\rm out}" descr="\frac{\partial L}{\partial\mathbf{e}}=(\mathbf{p}-\operatorname{one\_hot}(y))\mathbf{W}_{\rm ou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471" y="2681192"/>
            <a:ext cx="4620577" cy="4943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p=softmax(z)；W_out：[V,D]；向量梯度：[D]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对应实现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logits = embedding_vector @ output_weight.T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9087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loss = F.cross_entropy(logits, target)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96519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loss.backward()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4032504"/>
            <a:ext cx="3108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同一个输入向量梯度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535424"/>
            <a:ext cx="31089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87568"/>
                </a:solidFill>
                <a:latin typeface="Arial Unicode MS"/>
              </a:defRPr>
            </a:pPr>
            <a:r>
              <a:t>手算 = autograd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5138928"/>
            <a:ext cx="3108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263D"/>
                </a:solidFill>
                <a:latin typeface="Arial Unicode MS"/>
              </a:defRPr>
            </a:pPr>
            <a:r>
              <a:t>单位置；不含 batch 平均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07   ·   gradient_chain.py /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34–37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让 Embedding 真正学一次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57 对相邻 token；Embedding → Linear → CrossEntropy。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这是只看当前 token 的 bigram；没有 Attention。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12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\mathbf{e}=\mathbf{E}[x],\quad\mathbf{z}=\mathbf{e}\mathbf{W}_{\rm out}^{\mathsf{T}}+\mathbf{b}" descr="\mathbf{e}=\mathbf{E}[x],\quad\mathbf{z}=\mathbf{e}\mathbf{W}_{\rm out}^{\mathsf{T}}+\mathbf{b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195" y="2028253"/>
            <a:ext cx="4469130" cy="520065"/>
          </a:xfrm>
          <a:prstGeom prst="rect">
            <a:avLst/>
          </a:prstGeom>
        </p:spPr>
      </p:pic>
      <p:pic>
        <p:nvPicPr>
          <p:cNvPr id="18" name="Formula: L=-\frac{1}{N}\sum_{r=1}^{N}\log p(y_r\mid x_r)" descr="L=-\frac{1}{N}\sum_{r=1}^{N}\log p(y_r\mid x_r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814" y="2624328"/>
            <a:ext cx="2325890" cy="608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x/y：相邻 token；N=57；只用当前 token 预测下一项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对应实现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logits = output(embedding(x))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9087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loss = F.cross_entropy(logits, 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96519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loss.backward()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4032504"/>
            <a:ext cx="31089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训练 loss / 120 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425696"/>
            <a:ext cx="3200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458C6"/>
                </a:solidFill>
                <a:latin typeface="Arial Unicode MS"/>
              </a:defRPr>
            </a:pPr>
            <a:r>
              <a:t>5.7565 → 0.3559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85048" y="5007468"/>
            <a:ext cx="662940" cy="328926"/>
          </a:xfrm>
          <a:prstGeom prst="line">
            <a:avLst/>
          </a:prstGeom>
          <a:ln w="21590">
            <a:solidFill>
              <a:srgbClr val="245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47988" y="5336394"/>
            <a:ext cx="662940" cy="263"/>
          </a:xfrm>
          <a:prstGeom prst="line">
            <a:avLst/>
          </a:prstGeom>
          <a:ln w="21590">
            <a:solidFill>
              <a:srgbClr val="245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0928" y="5336657"/>
            <a:ext cx="662939" cy="26"/>
          </a:xfrm>
          <a:prstGeom prst="line">
            <a:avLst/>
          </a:prstGeom>
          <a:ln w="21590">
            <a:solidFill>
              <a:srgbClr val="245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373867" y="5336683"/>
            <a:ext cx="662941" cy="2"/>
          </a:xfrm>
          <a:prstGeom prst="line">
            <a:avLst/>
          </a:prstGeom>
          <a:ln w="21590">
            <a:solidFill>
              <a:srgbClr val="245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47888" y="5431536"/>
            <a:ext cx="31089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75569"/>
                </a:solidFill>
                <a:latin typeface="Arial Unicode MS"/>
              </a:defRPr>
            </a:pPr>
            <a:r>
              <a:t>26 个输入表行发生更新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08   ·   embedding_train.py / train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37–39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一张表，两条梯度路径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权重绑定：输入查表和输出分类器共享同一个 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绑定后，没作为输入的行也可能收到输出梯度。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13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\mathbf{z}=\mathbf{h}\mathbf{E}^{\mathsf{T}}+\mathbf{b}" descr="\mathbf{z}=\mathbf{h}\mathbf{E}^{\mathsf{T}}+\mathbf{b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771" y="2085403"/>
            <a:ext cx="2105977" cy="405765"/>
          </a:xfrm>
          <a:prstGeom prst="rect">
            <a:avLst/>
          </a:prstGeom>
        </p:spPr>
      </p:pic>
      <p:pic>
        <p:nvPicPr>
          <p:cNvPr id="18" name="Formula: \nabla_{\mathbf{E}}L=\nabla_{\mathbf{E}}^{\rm lookup}L+\nabla_{\mathbf{E}}^{\rm output}L" descr="\nabla_{\mathbf{E}}L=\nabla_{\mathbf{E}}^{\rm lookup}L+\nabla_{\mathbf{E}}^{\rm output}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621" y="2631186"/>
            <a:ext cx="4506277" cy="594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输入与输出共用同一个参数；主训练实验保持未绑定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补充接口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head.weight = tied_embedding.weight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032504"/>
            <a:ext cx="31089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两条路径指向同一个 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4535424"/>
            <a:ext cx="132588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4599432"/>
            <a:ext cx="121615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458C6"/>
                </a:solidFill>
                <a:latin typeface="Arial Unicode MS"/>
              </a:defRPr>
            </a:pPr>
            <a:r>
              <a:t>lookup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02367" y="4535424"/>
            <a:ext cx="1325880" cy="530352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2" y="4599432"/>
            <a:ext cx="1216152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458C6"/>
                </a:solidFill>
                <a:latin typeface="Arial Unicode MS"/>
              </a:defRPr>
            </a:pPr>
            <a:r>
              <a:t>output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15400" y="5111496"/>
            <a:ext cx="749808" cy="22860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6417319">
            <a:off x="9633204" y="5298948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9866376" y="5111496"/>
            <a:ext cx="603504" cy="22860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4955235">
            <a:off x="9834372" y="5298948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5330952"/>
            <a:ext cx="1005840" cy="387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458C6"/>
                </a:solidFill>
                <a:latin typeface="Arial Unicode MS"/>
              </a:defRPr>
            </a:pPr>
            <a: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课后扩展   ·   tools/check_experiments.py / main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39–42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没有位置，重排会怎样？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假设：没有位置机制，也没有因果 mask。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等变表示“输出跟着重排”，不是“输出完全不变”。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14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\mathbf{S}'=\Pi\mathbf{S}\Pi^{\mathsf{T}}" descr="\mathbf{S}'=\Pi\mathbf{S}\Pi^{\mathsf{T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212" y="2085403"/>
            <a:ext cx="1903095" cy="405765"/>
          </a:xfrm>
          <a:prstGeom prst="rect">
            <a:avLst/>
          </a:prstGeom>
        </p:spPr>
      </p:pic>
      <p:pic>
        <p:nvPicPr>
          <p:cNvPr id="18" name="Formula: \operatorname{Attn}(\Pi\mathbf{X})=\Pi\operatorname{Attn}(\mathbf{X})" descr="\operatorname{Attn}(\Pi\mathbf{X})=\Pi\operatorname{Attn}(\mathbf{X}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377" y="2738342"/>
            <a:ext cx="3834765" cy="3800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Π：行置换矩阵；假设无位置机制、无 mask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对应实现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scores = x @ x.T / math.sqrt(x.shape[-1])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9087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return scores.softmax(dim=-1) @ 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4032504"/>
            <a:ext cx="3108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输入重排 → 输出重排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535424"/>
            <a:ext cx="3108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458C6"/>
                </a:solidFill>
                <a:latin typeface="Arial Unicode MS"/>
              </a:defRPr>
            </a:pPr>
            <a:r>
              <a:t>A B C → C A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5129784"/>
            <a:ext cx="310896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263D"/>
                </a:solidFill>
                <a:latin typeface="Arial Unicode MS"/>
              </a:defRPr>
            </a:pPr>
            <a:r>
              <a:t>无位置时，数值验证为 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09   ·   position_mechanics.py / attention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42–45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把位置向量加进输入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内容与位置使用同样的维度，相加后形状保持不变。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位置是 token 序号，不是原文的字符 offset。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15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\mathbf{X}_{b,t}=\mathbf{E}[I_{b,t}]+\operatorname{PE}(t)" descr="\mathbf{X}_{b,t}=\mathbf{E}[I_{b,t}]+\operatorname{PE}(t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245" y="2405443"/>
            <a:ext cx="3669030" cy="40576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t：token 序号；PE 来自学习式位置表或固定函数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补充接口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pe = sinusoidal(torch.arange(3), 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69087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absolute_original = attention(x + pe)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032504"/>
            <a:ext cx="3108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每个位置加一个向量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535424"/>
            <a:ext cx="3108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458C6"/>
                </a:solidFill>
                <a:latin typeface="Arial Unicode MS"/>
              </a:defRPr>
            </a:pPr>
            <a:r>
              <a:t>内容 + 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5129784"/>
            <a:ext cx="3108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4263D"/>
                </a:solidFill>
                <a:latin typeface="Arial Unicode MS"/>
              </a:defRPr>
            </a:pPr>
            <a:r>
              <a:t>两者都是 D 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10   ·   positions.py / sinusoidal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45–48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位置 × 频率，得到角度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不同维度对使用不同频率，再交错存放 sin 与 cos。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positions → angles → sin / cos：每一步都有明确形状。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16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\omega_i=10000^{-2i/D},\quad\theta_{t,i}=t\omega_i" descr="\omega_i=10000^{-2i/D},\quad\theta_{t,i}=t\omega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027" y="2035397"/>
            <a:ext cx="4863465" cy="505777"/>
          </a:xfrm>
          <a:prstGeom prst="rect">
            <a:avLst/>
          </a:prstGeom>
        </p:spPr>
      </p:pic>
      <p:pic>
        <p:nvPicPr>
          <p:cNvPr id="18" name="Formula: \operatorname{PE}(t,2i)=\sin\theta_{t,i},\quad\operatorname{PE}(t,2i+1)=\cos\theta_{t,i}" descr="\operatorname{PE}(t,2i)=\sin\theta_{t,i},\quad\operatorname{PE}(t,2i+1)=\cos\theta_{t,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010" y="2719768"/>
            <a:ext cx="7429500" cy="417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i：维度对编号；D=4 时 ω=[1,0.01]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对应实现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angles = positions[:,None] * frequencies[None,:]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9087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result[:, 0::2] = angles.sin()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96519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result[:, 1::2] = angles.cos()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4032504"/>
            <a:ext cx="3108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D = 4：两组频率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489704"/>
            <a:ext cx="31089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458C6"/>
                </a:solidFill>
                <a:latin typeface="Arial Unicode MS"/>
              </a:defRPr>
            </a:pPr>
            <a:r>
              <a:t>1       0.01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5129784"/>
            <a:ext cx="3108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4263D"/>
                </a:solidFill>
                <a:latin typeface="Arial Unicode MS"/>
              </a:defRPr>
            </a:pPr>
            <a:r>
              <a:t>t=0 → [0,1,0,1]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10   ·   positions.py / sinusoidal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48–51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RoPE：相对位移从哪里来？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q、k 分别按绝对位置旋转；点积里出现位置之差。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转置是反向旋转；角度相加后，剩下 n−m。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17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R(\varphi)=\begin{bmatrix}\cos\varphi&amp;-\sin\varphi\\\sin\varphi&amp;\cos\varphi\end{bmatrix}" descr="R(\varphi)=\begin{bmatrix}\cos\varphi&amp;-\sin\varphi\\\sin\varphi&amp;\cos\varphi\end{bmatrix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51963"/>
            <a:ext cx="3977639" cy="816712"/>
          </a:xfrm>
          <a:prstGeom prst="rect">
            <a:avLst/>
          </a:prstGeom>
        </p:spPr>
      </p:pic>
      <p:pic>
        <p:nvPicPr>
          <p:cNvPr id="18" name="Formula: \widetilde{\mathbf{q}}_m^{\mathsf{T}}\widetilde{\mathbf{k}}_n=\mathbf{q}^{\mathsf{T}}R((n-m)\omega)\mathbf{k}" descr="\widetilde{\mathbf{q}}_m^{\mathsf{T}}\widetilde{\mathbf{k}}_n=\mathbf{q}^{\mathsf{T}}R((n-m)\omega)\mathbf{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324" y="2295429"/>
            <a:ext cx="4203382" cy="5572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m/n：位置；ω：某一维度对的频率；φ=tω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对应实现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cos, sin = angles.cos(), angles.sin()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9087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result[..., 0::2] = even * cos - odd * sin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96519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result[..., 1::2] = even * sin + odd * cos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4032504"/>
            <a:ext cx="3108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固定未旋转的 q / 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535424"/>
            <a:ext cx="3108960" cy="5267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458C6"/>
                </a:solidFill>
                <a:latin typeface="Arial Unicode MS"/>
              </a:defRPr>
            </a:pPr>
            <a:r>
              <a:t>n −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5148072"/>
            <a:ext cx="3108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4263D"/>
                </a:solidFill>
                <a:latin typeface="Arial Unicode MS"/>
              </a:defRPr>
            </a:pPr>
            <a:r>
              <a:t>点积由相对位移调节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11   ·   positions.py / apply_rope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51–54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把二维旋转写成两行代码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相邻维度组成一对；同一公式广播到 batch 与 head。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保持向量范数；点积仍会随相对位置改变。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18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x'_{2i}=x_{2i}\cos\theta_{t,i}-x_{2i+1}\sin\theta_{t,i}" descr="x'_{2i}=x_{2i}\cos\theta_{t,i}-x_{2i+1}\sin\theta_{t,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436" y="2035397"/>
            <a:ext cx="5180647" cy="505777"/>
          </a:xfrm>
          <a:prstGeom prst="rect">
            <a:avLst/>
          </a:prstGeom>
        </p:spPr>
      </p:pic>
      <p:pic>
        <p:nvPicPr>
          <p:cNvPr id="18" name="Formula: x'_{2i+1}=x_{2i}\sin\theta_{t,i}+x_{2i+1}\cos\theta_{t,i}" descr="x'_{2i+1}=x_{2i}\sin\theta_{t,i}+x_{2i+1}\cos\theta_{t,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977" y="2675477"/>
            <a:ext cx="5663565" cy="5057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even/odd 是相邻分量；角度广播到 batch 和 head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对应实现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even, odd = x[..., 0::2], x[..., 1::2]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9087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angles = positions[:,None] * frequencies[None,:]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4032504"/>
            <a:ext cx="3108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两项数值检查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507992"/>
            <a:ext cx="31089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87568"/>
                </a:solidFill>
                <a:latin typeface="Arial Unicode MS"/>
              </a:defRPr>
            </a:pPr>
            <a:r>
              <a:t>向量范数保持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5093208"/>
            <a:ext cx="3108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4263D"/>
                </a:solidFill>
                <a:latin typeface="Arial Unicode MS"/>
              </a:defRPr>
            </a:pPr>
            <a:r>
              <a:t>平移误差约 10⁻¹⁵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11   ·   positions.py / apply_rope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54–56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位置关系与可读范围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RoPE 改变分数；mask 决定哪些 key 可以被读取。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有了位置机制，仍要屏蔽未来 key 与 padding key。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19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901952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Formula: \mathbf{S}=\frac{\widetilde{\mathbf{Q}}\widetilde{\mathbf{K}}^{\mathsf{T}}}{\sqrt{d_h}}" descr="\mathbf{S}=\frac{\widetilde{\mathbf{Q}}\widetilde{\mathbf{K}}^{\mathsf{T}}}{\sqrt{d_h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888" y="1984248"/>
            <a:ext cx="969742" cy="608075"/>
          </a:xfrm>
          <a:prstGeom prst="rect">
            <a:avLst/>
          </a:prstGeom>
        </p:spPr>
      </p:pic>
      <p:pic>
        <p:nvPicPr>
          <p:cNvPr id="18" name="Formula: \mathbf{A}=\operatorname{softmax}(\mathbf{S}+\mathbf{M})" descr="\mathbf{A}=\operatorname{softmax}(\mathbf{S}+\mathbf{M}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536" y="2732627"/>
            <a:ext cx="3580447" cy="3914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" y="336499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M：可见为 0，禁止为 −∞；softmax 沿 key 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7315200" cy="1792224"/>
          </a:xfrm>
          <a:prstGeom prst="roundRect">
            <a:avLst>
              <a:gd name="adj" fmla="val 6000"/>
            </a:avLst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50791"/>
            <a:ext cx="68580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CFD2"/>
                </a:solidFill>
                <a:latin typeface="Arial Unicode MS"/>
              </a:defRPr>
            </a:pPr>
            <a:r>
              <a:t>PYTHON  /  对应实现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41655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masked = scores.masked_fill(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9087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    forbidden, -torch.inf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96519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239512"/>
            <a:ext cx="6858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enlo"/>
              </a:defRPr>
            </a:pPr>
            <a:r>
              <a:t>weights = masked.softmax(dim=-1)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931920"/>
            <a:ext cx="3566160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4032504"/>
            <a:ext cx="310896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75569"/>
                </a:solidFill>
                <a:latin typeface="Arial Unicode MS"/>
              </a:defRPr>
            </a:pPr>
            <a:r>
              <a:t>因果 mask 示意：T=4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2752" y="4434840"/>
            <a:ext cx="246888" cy="219456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95360" y="4434840"/>
            <a:ext cx="246888" cy="219456"/>
          </a:xfrm>
          <a:prstGeom prst="rect">
            <a:avLst/>
          </a:prstGeom>
          <a:solidFill>
            <a:srgbClr val="F1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87968" y="4434840"/>
            <a:ext cx="246888" cy="219456"/>
          </a:xfrm>
          <a:prstGeom prst="rect">
            <a:avLst/>
          </a:prstGeom>
          <a:solidFill>
            <a:srgbClr val="F1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0576" y="4434840"/>
            <a:ext cx="246888" cy="219456"/>
          </a:xfrm>
          <a:prstGeom prst="rect">
            <a:avLst/>
          </a:prstGeom>
          <a:solidFill>
            <a:srgbClr val="F1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02752" y="4700016"/>
            <a:ext cx="246888" cy="219456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95360" y="4700016"/>
            <a:ext cx="246888" cy="219456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4700016"/>
            <a:ext cx="246888" cy="219456"/>
          </a:xfrm>
          <a:prstGeom prst="rect">
            <a:avLst/>
          </a:prstGeom>
          <a:solidFill>
            <a:srgbClr val="F1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0576" y="4700016"/>
            <a:ext cx="246888" cy="219456"/>
          </a:xfrm>
          <a:prstGeom prst="rect">
            <a:avLst/>
          </a:prstGeom>
          <a:solidFill>
            <a:srgbClr val="F1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02752" y="4965192"/>
            <a:ext cx="246888" cy="219456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95360" y="4965192"/>
            <a:ext cx="246888" cy="219456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7968" y="4965192"/>
            <a:ext cx="246888" cy="219456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80576" y="4965192"/>
            <a:ext cx="246888" cy="219456"/>
          </a:xfrm>
          <a:prstGeom prst="rect">
            <a:avLst/>
          </a:prstGeom>
          <a:solidFill>
            <a:srgbClr val="F1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02752" y="5230368"/>
            <a:ext cx="246888" cy="219456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95360" y="5230368"/>
            <a:ext cx="246888" cy="219456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87968" y="5230368"/>
            <a:ext cx="246888" cy="219456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80576" y="5230368"/>
            <a:ext cx="246888" cy="219456"/>
          </a:xfrm>
          <a:prstGeom prst="rect">
            <a:avLst/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56648" y="4562856"/>
            <a:ext cx="16002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263D"/>
                </a:solidFill>
                <a:latin typeface="Arial Unicode MS"/>
              </a:defRPr>
            </a:pPr>
            <a:r>
              <a:t>蓝：可读</a:t>
            </a:r>
          </a:p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263D"/>
                </a:solidFill>
                <a:latin typeface="Arial Unicode MS"/>
              </a:defRPr>
            </a:pPr>
            <a:r>
              <a:t>红：未来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12   ·   input_pipeline.py / 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56–58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沿真实输入，把形状接起来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本地 tokenizer → Embedding → 多头 Q/K → RoPE + mask。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这是随机参数的接口实验，尚未训练完整 Transformer。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20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487168"/>
            <a:ext cx="202996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761488"/>
            <a:ext cx="1883664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458C6"/>
                </a:solidFill>
                <a:latin typeface="Arial Unicode MS"/>
              </a:defRPr>
            </a:pPr>
            <a:r>
              <a:t>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429000"/>
            <a:ext cx="1883664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263D"/>
                </a:solidFill>
                <a:latin typeface="Arial Unicode MS"/>
              </a:defRPr>
            </a:pPr>
            <a:r>
              <a:t>[2,6]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96896" y="3337560"/>
            <a:ext cx="164592" cy="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729484" y="329641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98064" y="2487168"/>
            <a:ext cx="202996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71216" y="2761488"/>
            <a:ext cx="1883664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458C6"/>
                </a:solidFill>
                <a:latin typeface="Arial Unicode MS"/>
              </a:defRPr>
            </a:pPr>
            <a:r>
              <a:t>Embedding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71216" y="3429000"/>
            <a:ext cx="1883664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263D"/>
                </a:solidFill>
                <a:latin typeface="Arial Unicode MS"/>
              </a:defRPr>
            </a:pPr>
            <a:r>
              <a:t>[2,6,8]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46320" y="3337560"/>
            <a:ext cx="164592" cy="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4978908" y="329641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47488" y="2487168"/>
            <a:ext cx="202996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761488"/>
            <a:ext cx="1883664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458C6"/>
                </a:solidFill>
                <a:latin typeface="Arial Unicode MS"/>
              </a:defRPr>
            </a:pPr>
            <a:r>
              <a:t>Q / 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429000"/>
            <a:ext cx="1883664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263D"/>
                </a:solidFill>
                <a:latin typeface="Arial Unicode MS"/>
              </a:defRPr>
            </a:pPr>
            <a:r>
              <a:t>[2,2,6,4]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95744" y="3337560"/>
            <a:ext cx="164592" cy="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228331" y="329641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96912" y="2487168"/>
            <a:ext cx="202996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0063" y="2761488"/>
            <a:ext cx="1883664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458C6"/>
                </a:solidFill>
                <a:latin typeface="Arial Unicode MS"/>
              </a:defRPr>
            </a:pPr>
            <a:r>
              <a:t>scores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0063" y="3429000"/>
            <a:ext cx="1883664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263D"/>
                </a:solidFill>
                <a:latin typeface="Arial Unicode MS"/>
              </a:defRPr>
            </a:pPr>
            <a:r>
              <a:t>[2,2,6,6]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45167" y="3337560"/>
            <a:ext cx="164592" cy="0"/>
          </a:xfrm>
          <a:prstGeom prst="line">
            <a:avLst/>
          </a:prstGeom>
          <a:ln w="2159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9477755" y="3296412"/>
            <a:ext cx="64008" cy="82296"/>
          </a:xfrm>
          <a:prstGeom prst="triangl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46336" y="2487168"/>
            <a:ext cx="202996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9488" y="2761488"/>
            <a:ext cx="1883664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458C6"/>
                </a:solidFill>
                <a:latin typeface="Arial Unicode MS"/>
              </a:defRPr>
            </a:pPr>
            <a:r>
              <a:t>输出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9488" y="3429000"/>
            <a:ext cx="1883664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263D"/>
                </a:solidFill>
                <a:latin typeface="Arial Unicode MS"/>
              </a:defRPr>
            </a:pPr>
            <a:r>
              <a:t>[2,6,8]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663440"/>
            <a:ext cx="10287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4263D"/>
                </a:solidFill>
                <a:latin typeface="Arial Unicode MS"/>
              </a:defRPr>
            </a:pPr>
            <a:r>
              <a:t>RoPE 作用于 Q/K；mask 在 scores 上限制可读 key。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321808"/>
            <a:ext cx="10287000" cy="3408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75569"/>
                </a:solidFill>
                <a:latin typeface="Arial Unicode MS"/>
              </a:defRPr>
            </a:pPr>
            <a:r>
              <a:t>B=2  ·  T=6  ·  D=8  ·  H=2  ·  d_h=4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815584"/>
            <a:ext cx="109728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实验 12   ·   input_pipeline.py / demo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01  分词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8528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02  向量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246888"/>
            <a:ext cx="1225296" cy="310896"/>
          </a:xfrm>
          <a:prstGeom prst="roundRect">
            <a:avLst>
              <a:gd name="adj" fmla="val 6000"/>
            </a:avLst>
          </a:prstGeom>
          <a:solidFill>
            <a:srgbClr val="245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283464"/>
            <a:ext cx="122529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 Unicode MS"/>
              </a:defRPr>
            </a:pPr>
            <a:r>
              <a:t>03  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569"/>
                </a:solidFill>
                <a:latin typeface="Arial Unicode MS"/>
              </a:defRPr>
            </a:pPr>
            <a:r>
              <a:t>58–60 min  / 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68096"/>
            <a:ext cx="110642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4263D"/>
                </a:solidFill>
                <a:latin typeface="Arial Unicode MS"/>
              </a:defRPr>
            </a:pPr>
            <a:r>
              <a:t>用三个问题，检查是否理解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08176"/>
            <a:ext cx="1097280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75569"/>
                </a:solidFill>
                <a:latin typeface="Arial Unicode MS"/>
              </a:defRPr>
            </a:pPr>
            <a:r>
              <a:t>解释一次编码、一次反传、一次位置计算。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429768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6199632"/>
            <a:ext cx="106984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58C6"/>
                </a:solidFill>
                <a:latin typeface="Arial Unicode MS"/>
              </a:defRPr>
            </a:pPr>
            <a:r>
              <a:t>课后：改词表、查梯度、验证旋转，并保留实验结果。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647688"/>
            <a:ext cx="804672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 Unicode MS"/>
              </a:defRPr>
            </a:pPr>
            <a:r>
              <a:t>TRANSFORMER NEWBIE  ·  CLASS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Arial Unicode MS"/>
              </a:defRPr>
            </a:pPr>
            <a:r>
              <a:t>21 /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03120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2322576"/>
            <a:ext cx="731520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458C6"/>
                </a:solidFill>
                <a:latin typeface="Arial Unicode M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368296"/>
            <a:ext cx="12801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75569"/>
                </a:solidFill>
                <a:latin typeface="Arial Unicode MS"/>
              </a:defRPr>
            </a:pPr>
            <a:r>
              <a:t>编码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368296"/>
            <a:ext cx="81381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4263D"/>
                </a:solidFill>
                <a:latin typeface="Arial Unicode MS"/>
              </a:defRPr>
            </a:pPr>
            <a:r>
              <a:t>为什么 abc 会得到 a / bc？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18687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438144"/>
            <a:ext cx="731520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458C6"/>
                </a:solidFill>
                <a:latin typeface="Arial Unicode M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483863"/>
            <a:ext cx="12801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75569"/>
                </a:solidFill>
                <a:latin typeface="Arial Unicode MS"/>
              </a:defRPr>
            </a:pPr>
            <a:r>
              <a:t>梯度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483863"/>
            <a:ext cx="81381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4263D"/>
                </a:solidFill>
                <a:latin typeface="Arial Unicode MS"/>
              </a:defRPr>
            </a:pPr>
            <a:r>
              <a:t>同一 token 出现三次，表行梯度怎么算？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34256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553712"/>
            <a:ext cx="731520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458C6"/>
                </a:solidFill>
                <a:latin typeface="Arial Unicode M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599432"/>
            <a:ext cx="12801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75569"/>
                </a:solidFill>
                <a:latin typeface="Arial Unicode MS"/>
              </a:defRPr>
            </a:pPr>
            <a:r>
              <a:t>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599432"/>
            <a:ext cx="81381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4263D"/>
                </a:solidFill>
                <a:latin typeface="Arial Unicode MS"/>
              </a:defRPr>
            </a:pPr>
            <a:r>
              <a:t>RoPE 已有位置信息，为什么还需要 mask？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第二课：Tokenizer、Embedding 与位置机制</dc:title>
  <dc:subject>Transformer 输入表示，60 分钟</dc:subject>
  <dc:creator>Transformer Newbie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