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页｜0–3 分钟</a:t>
            </a:r>
          </a:p>
          <a:p>
            <a:r>
              <a:t>先让同学回忆 ID、向量、Attention 的关系。第一课的空格分词是教学简化；这次输入不带空格，追问该在哪里切。说明今天只研究进入 Attention 之前的输入表示。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 页｜3–5 分钟</a:t>
            </a:r>
          </a:p>
          <a:p>
            <a:r>
              <a:t>展示三个脚本和 Notebook，说明主线代码只用 Python 标准库。授课时依次回答为什么切、为什么映射、为什么能感知顺序。位置实验采用四维向量，避免大张量。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页｜5–8 分钟</a:t>
            </a:r>
          </a:p>
          <a:p>
            <a:r>
              <a:t>运行 tokenization.py 第一段：六个汉字与一种四词切分。这里‘喜欢’和‘牛奶’的词切分只是对照，不是自动算法的输出。常见子词算法有 BPE、WordPiece、Unigram；本课只讲 BPE。不把字数直接换算为 token 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4 页｜8–12 分钟</a:t>
            </a:r>
          </a:p>
          <a:p>
            <a:r>
              <a:t>语料为我喜欢喝牛奶×5、你喜欢喝牛奶×3、我喜欢喝酒×2。第一轮喜+欢和欢+喝同为10，本例按首次出现顺序打破并列，选择喜+欢。后续计数为10、8、8。运行 optional/train_bpe.py 看四轮，不逐行阅读统计代码。固定合并次数是本例的词表规模选择。来源：Sennrich et al., 2016，见讲义参考资料。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页｜12–16 分钟</a:t>
            </a:r>
          </a:p>
          <a:p>
            <a:r>
              <a:t>运行 tokenization.py 的合并函数和应用规则两段，观察每轮列表。喜欢喝牛奶被合为一块，来自小语料的高频模式，不是通用 tokenizer 的标准切分。再把输入改为我喜欢喝酒，会得到我/喜欢喝/酒，ID 为4、9、7；使用阶段不重学规则。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6 页｜16–20 分钟</a:t>
            </a:r>
          </a:p>
          <a:p>
            <a:r>
              <a:t>运行 UTF-8 单元，只验证字符数2、字节数6。课堂字符级 BPE 仅覆盖列出的八个基础字符，咖啡不在词表内会无法查 ID。带完整字节覆盖的实现可处理更多文本，但若做小写、去音调等有损规范化，不承诺逐字还原原输入。空格、大小写、标点也可能影响切分。真实 tokenizer 的流水线见 Hugging Face 官方资料。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 页｜20–23 分钟</a:t>
            </a:r>
          </a:p>
          <a:p>
            <a:r>
              <a:t>用词表地址类比 ID，不把4和11的数值距离解释成语义距离。one-hot 长度为V，只有目标位置为1；one-hot 乘V×D表等价于选出对应一行。无需真的构造大 one-hot 才能查表。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8 页｜23–27 分钟</a:t>
            </a:r>
          </a:p>
          <a:p>
            <a:r>
              <a:t>运行 embeddings.py。索引4的行为[0.127,0.448,0.077,-0.103]，索引11的行为[-0.256,0.074,0.025,0.375]。Python 从0开始编号。表使用固定随机种子初始化，只是可复现起点，不是训练好的语义向量。不要把输入 token embedding 与输出 logits 混淆。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9 页｜27–31 分钟</a:t>
            </a:r>
          </a:p>
          <a:p>
            <a:r>
              <a:t>与直接使用整数 ID 相比，向量不强迫编号具有数值大小关系。与 one-hot 相比，D可远小于V，后续计算使用共同的D维接口。表示相似性取决于训练目标与数据，不保证所有近义词相邻，不赋予每维固定标签。输入embedding表本身仍占V×D个参数。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10 页｜31–35 分钟</a:t>
            </a:r>
          </a:p>
          <a:p>
            <a:r>
              <a:t>运行 optional/embedding_update.py。该独立实验使用酒、牛奶、苹果、香蕉四个token，两个输出类别，固定输出层为恒等映射，只训练四行二维embedding。平均交叉熵从约0.6981到0.0656；只能说明此训练集分类改善，不代表语言理解或完整预训练。这里的二维表与主线的12×4表是不同实验。课堂只讲更新的作用，不推导梯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11 页｜35–38 分钟</a:t>
            </a:r>
          </a:p>
          <a:p>
            <a:r>
              <a:t>运行 embeddings.py 最后一段，再次查我，结果相同。强调训练会改变参数表；这里指参数固定的一次推理。经过上下文计算的隐藏表示可变化，不把这种变化说成重新查了另一行。随意更换 tokenizer 或重编号却不对应重排表，会把 token 映射到错误行。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12 页｜38–42 分钟</a:t>
            </a:r>
          </a:p>
          <a:p>
            <a:r>
              <a:t>矩阵行序仍存在，但在无位置、无遮罩的标准self-attention中，重排输入只会相应重排输出，不会凭空产生绝对位置或前后关系特征。因果mask改变可见结构，不能与上述无遮罩情形混为一谈。只讲这个条件，不增加证明。下一步用同一个我出现在位置0与2观察表示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13 页｜42–46 分钟</a:t>
            </a:r>
          </a:p>
          <a:p>
            <a:r>
              <a:t>原始Transformer使用相加式位置编码。本课用四维向量，相加后维度仍是4。位置表也可训练；具体实现可能有embedding缩放，本课省略。不要求模型从和向量无损拆回两个部分；重点是位置改变计算信号。后面的实验只验证输入不同，不证明模型已经正确理解词序。 可学习位置表的形状为L×D，按位置p查行，可直接查询的索引受L限制。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14 页｜46–50 分钟</a:t>
            </a:r>
          </a:p>
          <a:p>
            <a:r>
              <a:t>运行 positions.py。位置0为[0,1,0,1]，位置2约为[0.9093,-0.4161,0.0200,0.9998]。我输入向量为[0.127,0.448,0.077,-0.103]，相加后位置0为[0.127,1.448,0.077,0.897]，位置2约[1.0363,0.0319,0.0970,0.8968]。使用原始精度运算后显示舍入。正弦可按公式计算更大索引，不等于模型长序列效果有保证。来源：Attention Is All You Need §3.5。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15 页｜50–53 分钟</a:t>
            </a:r>
          </a:p>
          <a:p>
            <a:r>
              <a:t>说明相加只是位置机制的一类，不能说所有模型都用E+P。RoPE在Q/K上做位置相关旋转，旋转点积可表达相对位移。本课只认识接口；课后运行optional/rope_demo.py，看1与3、6与8有相同相对位移时，二维旋转点积相同。mask与位置机制配合使用，位置编码不保证无限外推。来源：RoForm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16 页｜53–56 分钟</a:t>
            </a:r>
          </a:p>
          <a:p>
            <a:r>
              <a:t>回到我喜欢喝牛奶。在本例字符级BPE规则下token是我和喜欢喝牛奶，ID4、11。取两行四维embedding，再用位置0、1编码组合，得到两行四维输入；不是六个汉字各分配一个token位置。采用RoPE时则在后续Q/K处注入位置，不能机械套E+P。请同学说清每一箭头。 运行课堂 Notebook 第9单元核对实际输入形状。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17 页｜56–58 分钟</a:t>
            </a:r>
          </a:p>
          <a:p>
            <a:r>
              <a:t>答案：本例小语料与BPE规则造成，不保证人类词边界；ID只是地址，表示来自表行及训练；固定参数时原token embedding相同，相加式输入随位置改变，后续表示还可能随上下文改变。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18 页｜58–60 分钟</a:t>
            </a:r>
          </a:p>
          <a:p>
            <a:r>
              <a:t>实验一结果我/喜欢喝/酒，ID4、9、7。实验二对应重编号与表行后向量不变；只重编号会错行。实验三内容embedding相同，位置向量和组合输入不同。附加阅读为BPE统计、embedding更新与RoPE脚本，不要求整段背写。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开场 / 接上第一课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00–03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第二课：文本怎样成为模型的输入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输入文字：我喜欢喝牛奶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第一课用空格切分、手动指定向量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这节课补上切分、映射和顺序的来由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2148840"/>
            <a:ext cx="4434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87F8C"/>
                </a:solidFill>
                <a:latin typeface="Microsoft YaHei"/>
              </a:defRPr>
            </a:pPr>
            <a:r>
              <a:t>第一课的输入，还缺哪些细节？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2907792"/>
            <a:ext cx="443484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30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32C3E"/>
                </a:solidFill>
                <a:latin typeface="Microsoft YaHei"/>
              </a:defRPr>
            </a:pPr>
            <a:r>
              <a:t>我喜欢喝牛奶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4041648"/>
            <a:ext cx="4434840" cy="64008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85432" y="4123944"/>
            <a:ext cx="4288536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32C3E"/>
                </a:solidFill>
                <a:latin typeface="Microsoft YaHei"/>
              </a:defRPr>
            </a:pPr>
            <a:r>
              <a:t>切分？   数字？   顺序？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文本 → token ID → token embedding → 带位置信息的表示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开场 / 本课地图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03–05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三个问题，对应三个实验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为什么切成这些 token？观察一次 BPE 合并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为什么查成这些向量？查表并观察参数更新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顺序如何进入计算？改变位置，比较输入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377440"/>
            <a:ext cx="438912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1152" y="2459736"/>
            <a:ext cx="42428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32C3E"/>
                </a:solidFill>
                <a:latin typeface="Microsoft YaHei"/>
              </a:defRPr>
            </a:pPr>
            <a:r>
              <a:t>文本 → token ID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2980944"/>
            <a:ext cx="0" cy="25603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9020556" y="3195828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0" y="3246120"/>
            <a:ext cx="4389120" cy="59436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3328415"/>
            <a:ext cx="42428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32C3E"/>
                </a:solidFill>
                <a:latin typeface="Microsoft YaHei"/>
              </a:defRPr>
            </a:pPr>
            <a:r>
              <a:t>ID → embedding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52560" y="3849624"/>
            <a:ext cx="0" cy="25603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9020556" y="4064508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0" y="4114800"/>
            <a:ext cx="438912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4197096"/>
            <a:ext cx="42428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32C3E"/>
                </a:solidFill>
                <a:latin typeface="Microsoft YaHei"/>
              </a:defRPr>
            </a:pPr>
            <a:r>
              <a:t>表示中引入位置信息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每个实验都区分：规则是什么，数值从哪里来。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一 / 文本到 token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05–08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分词单位：字、词，还是更小的片段？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按字：单位细，常使序列更长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按整词：覆盖新词困难，词表可能很大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子词：复用片段，在长度和词表大小间折中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377440"/>
            <a:ext cx="438912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1152" y="2459736"/>
            <a:ext cx="42428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字符：我 / 喜 / 欢 / 喝 / 牛 / 奶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2980944"/>
            <a:ext cx="0" cy="25603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9020556" y="3195828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0" y="3246120"/>
            <a:ext cx="4389120" cy="59436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3328415"/>
            <a:ext cx="42428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词：我 / 喜欢 / 喝 / 牛奶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52560" y="3849624"/>
            <a:ext cx="0" cy="25603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9020556" y="4064508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0" y="4114800"/>
            <a:ext cx="438912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4197096"/>
            <a:ext cx="42428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本例 BPE：我 / 喜欢喝牛奶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token 是词表中的单位，不必等于一个字或一个自然语言词。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一 / 为什么会这样合并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08–12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BPE 训练：从语料里统计相邻片段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语料：三种句子，出现次数分别为 5、3、2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从字符开始，统计相邻片段的加权频次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每轮合并一对高频片段，更新后再统计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1938528"/>
            <a:ext cx="45720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087F8C"/>
                </a:solidFill>
                <a:latin typeface="Microsoft YaHei"/>
              </a:defRPr>
            </a:pPr>
            <a:r>
              <a:t>句子频次：5 / 3 /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0" y="2542032"/>
            <a:ext cx="4526280" cy="475488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9712" y="2624327"/>
            <a:ext cx="4379976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第 1 轮   喜 + 欢   ×10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66560" y="3136391"/>
            <a:ext cx="4526280" cy="475488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9712" y="3218687"/>
            <a:ext cx="4379976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第 2 轮   喜欢 + 喝   ×10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66560" y="3730752"/>
            <a:ext cx="4526280" cy="475488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9712" y="3813048"/>
            <a:ext cx="4379976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第 3 轮   喜欢喝 + 牛   ×8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4325112"/>
            <a:ext cx="4526280" cy="475488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39712" y="4407408"/>
            <a:ext cx="4379976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第 4 轮   喜欢喝牛 + 奶   ×8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5029200"/>
            <a:ext cx="4526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C6F7B"/>
                </a:solidFill>
                <a:latin typeface="Microsoft YaHei"/>
              </a:defRPr>
            </a:pPr>
            <a:r>
              <a:t>每合并一轮，都重新统计当前片段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本例四轮：喜+欢 → 喜欢+喝 → 喜欢喝+牛 → 喜欢喝牛+奶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一 / 训练规则与使用规则分开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12–16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BPE 使用：固定规则，按顺序应用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已有规则依次合并，不重新理解整句话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本例结果：我 / 喜欢喝牛奶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查固定词表，得到 ID [4,11]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736592"/>
            <a:ext cx="5513832" cy="603504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818888"/>
            <a:ext cx="5175504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parts = merge_pair(parts, pair)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1920240"/>
            <a:ext cx="4389120" cy="438912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2002536"/>
            <a:ext cx="4242816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我 / 喜 / 欢 / 喝 / 牛 / 奶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052560" y="2368296"/>
            <a:ext cx="0" cy="16459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0800000">
            <a:off x="9020556" y="2491740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58000" y="2542032"/>
            <a:ext cx="4389120" cy="438912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2624328"/>
            <a:ext cx="4242816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我 / 喜欢 / 喝 / 牛 / 奶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52560" y="2990088"/>
            <a:ext cx="0" cy="16459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9020556" y="311353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8000" y="3163824"/>
            <a:ext cx="4389120" cy="438912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3246120"/>
            <a:ext cx="4242816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我 / 喜欢喝 / 牛 / 奶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52560" y="3611879"/>
            <a:ext cx="0" cy="164593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9020556" y="373532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858000" y="3785616"/>
            <a:ext cx="4389120" cy="438912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31152" y="3867912"/>
            <a:ext cx="4242816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我 / 喜欢喝牛奶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052560" y="4233672"/>
            <a:ext cx="0" cy="16459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0800000">
            <a:off x="9020556" y="435711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858000" y="4407408"/>
            <a:ext cx="4389120" cy="438912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31152" y="4489704"/>
            <a:ext cx="4242816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ID：[4, 11]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切分边界由规则和语料影响，不要求符合人的词语习惯。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一 / 覆盖范围与配置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16–20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为什么换个模型，切分就可能不同？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语料、词表规模、预处理和合并规则会影响结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两个汉字“牛奶”在 UTF-8 中占六个字节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字节可作为基础单位，再合并成 token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011680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1152" y="2093976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牛奶：2 个汉字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2523744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9020556" y="266547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0" y="2715768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798064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UTF-8：6 个字节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52560" y="3227832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9020556" y="33695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0" y="3419856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502152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基础单位可继续合并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052560" y="3931920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0800000">
            <a:off x="9020556" y="407365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858000" y="4123944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1152" y="4206240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最终 token 数由 tokenizer 决定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六个字节不等于六个最终 token；解码还取决于规范化和特殊符号处理。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二 / token 到 embedding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20–23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ID 只是地址：为什么不能直接当语义数值？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ID=4 不代表比 ID=11 更小、更近或更相似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one-hot 用一个位置标识类别，维度等于词表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大小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embedding 为每个 ID 提供一行可学习参数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011680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1152" y="2093976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我 → ID 4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2523744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9020556" y="266547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0" y="2715768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798064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4 不是词义，也不是语义距离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52560" y="3227832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9020556" y="33695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0" y="3419856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502152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选择参数表中索引为 4 的行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052560" y="3931920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0800000">
            <a:off x="9020556" y="407365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858000" y="4123944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1152" y="4206240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每行 4 个可学习的数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换一套编号，同时重排对应表行，查出的向量可以完全不变。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二 / 从编号查到向量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23–27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Embedding 的核心操作，就是选行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本例词表有 12 项，每行只有 4 个数字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ID [4,11] → 选择索引 4、11 的两行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输出形状：[2,4]；同一行会在各位置共享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736592"/>
            <a:ext cx="5513832" cy="603504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818888"/>
            <a:ext cx="5175504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vectors = [table[i] for i in token_ids]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965960"/>
            <a:ext cx="4572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87F8C"/>
                </a:solidFill>
                <a:latin typeface="Microsoft YaHei"/>
              </a:defRPr>
            </a:pPr>
            <a:r>
              <a:t>Embedding 表：12 行 × 4 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66560" y="2743200"/>
            <a:ext cx="4526280" cy="530352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9712" y="2825496"/>
            <a:ext cx="4379976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4  我 → [0.127, 0.448, …]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66560" y="3584448"/>
            <a:ext cx="4526280" cy="530352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9712" y="3666744"/>
            <a:ext cx="4379976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11 → [−0.256, 0.074, …]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4526280"/>
            <a:ext cx="4526280" cy="530352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39712" y="4608576"/>
            <a:ext cx="4379976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两个 ID → 两行四维向量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vectors = [table[token_id] for token_id in token_ids]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二 / 为什么这样映射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27–31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为什么用稠密、可学习的向量？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给不同 token 一组能被后续计算使用的特征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固定 D 维，与词表大小 V 分开选择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通过共享网络和训练，让有用的表示逐渐形成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011680"/>
            <a:ext cx="4572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87F8C"/>
                </a:solidFill>
                <a:latin typeface="Microsoft YaHei"/>
              </a:defRPr>
            </a:pPr>
            <a:r>
              <a:t>one-hot：长度 V=12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0" y="2743200"/>
            <a:ext cx="310896" cy="402336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32320" y="2743200"/>
            <a:ext cx="310896" cy="402336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98080" y="2743200"/>
            <a:ext cx="310896" cy="402336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863840" y="2743200"/>
            <a:ext cx="310896" cy="402336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0" y="2743200"/>
            <a:ext cx="310896" cy="402336"/>
          </a:xfrm>
          <a:prstGeom prst="roundRect">
            <a:avLst>
              <a:gd name="adj" fmla="val 6000"/>
            </a:avLst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595360" y="2743200"/>
            <a:ext cx="310896" cy="402336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61120" y="2743200"/>
            <a:ext cx="310896" cy="402336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326880" y="2743200"/>
            <a:ext cx="310896" cy="402336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640" y="2743200"/>
            <a:ext cx="310896" cy="402336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0" y="2743200"/>
            <a:ext cx="310896" cy="402336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424160" y="2743200"/>
            <a:ext cx="310896" cy="402336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789920" y="2743200"/>
            <a:ext cx="310896" cy="402336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66560" y="3383280"/>
            <a:ext cx="4572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87F8C"/>
                </a:solidFill>
                <a:latin typeface="Microsoft YaHei"/>
              </a:defRPr>
            </a:pPr>
            <a:r>
              <a:t>查表：D=4，数值由训练调整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66560" y="4114800"/>
            <a:ext cx="1024128" cy="54864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39712" y="4197096"/>
            <a:ext cx="877824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.127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09560" y="4114800"/>
            <a:ext cx="1024128" cy="54864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82712" y="4197096"/>
            <a:ext cx="877824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.448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52560" y="4114800"/>
            <a:ext cx="1024128" cy="54864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25712" y="4197096"/>
            <a:ext cx="877824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.077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95560" y="4114800"/>
            <a:ext cx="1024128" cy="54864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68712" y="4197096"/>
            <a:ext cx="877824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−.103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4983480"/>
            <a:ext cx="4526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C6F7B"/>
                </a:solidFill>
                <a:latin typeface="Microsoft YaHei"/>
              </a:defRPr>
            </a:pPr>
            <a:r>
              <a:t>ID 指定哪一行；行内容是模型参数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表的参数量是 V×D；查表省去显式构造长度为 V 的 one-hot。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二 / 从初始化到参数更新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31–35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表里的数字怎样学出来？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先从初始表出发，计算任务的预测误差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根据误差更新相关表行和网络参数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反复训练，使表示更有利于当前任务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736592"/>
            <a:ext cx="5513832" cy="603504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818888"/>
            <a:ext cx="5175504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row[dimension] -= 0.2 * gradient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2011680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2093976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初始化 embedding 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052560" y="2523744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0800000">
            <a:off x="9020556" y="266547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58000" y="2715768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2798064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预测标签，计算交叉熵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52560" y="3227832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9020556" y="33695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8000" y="3419856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3502152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更新参数，重新预测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52560" y="3931920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9020556" y="407365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858000" y="4123944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31152" y="4206240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本例 loss：0.6981 → 0.0656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小实验：四个 token 的“配喝 / 配吃”分类，观察表行和 loss 的变化。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二 / 输入表示与上下文表示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35–38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同一个 token 的向量，会不会随上下文变？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同一模型、同一 ID，查到同一行输入向量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经过位置机制与 Transformer，表示会受位置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和上下文影响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词表、ID 对应关系与 embedding 行必须配套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011680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1152" y="2093976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同一 ID → 同一输入表行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2523744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9020556" y="266547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0" y="2715768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798064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加入位置机制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52560" y="3227832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9020556" y="33695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0" y="3419856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502152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进入 Transformer，结合上下文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052560" y="3931920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0800000">
            <a:off x="9020556" y="407365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858000" y="4123944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1152" y="4206240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后续隐藏表示可以不同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查表结果固定，不代表进入各层后的表示也固定。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三 / 位置信息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38–42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顺序问题：矩阵有行序，模型如何利用？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“我喜欢喝牛奶”与重排后的句子不同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无位置且无遮罩的 self-attention 会随输入重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排而重排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需要把位置作为可参与计算的信号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011680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1152" y="2093976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矩阵行序仍然存在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2523744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9020556" y="266547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0" y="2715768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798064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无位置、无遮罩的 self-attention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52560" y="3227832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9020556" y="33695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0" y="3419856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502152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重排输入 → 对应重排输出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052560" y="3931920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0800000">
            <a:off x="9020556" y="407365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858000" y="4123944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1152" y="4206240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需要可参与计算的位置特征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不能把“没有显式位置”简单说成“输入列表没有顺序”。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三 / 怎样把位置带入输入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42–46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绝对位置：内容向量加上位置向量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内容向量回答“是什么 token”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位置向量由 token 的位置 0、1、2……决定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维度相同，逐项相加得到该位置的输入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736592"/>
            <a:ext cx="5513832" cy="603504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818888"/>
            <a:ext cx="5175504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vector = [word_vector[i] + pe[i] for i in range(4)]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2011680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2093976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32C3E"/>
                </a:solidFill>
                <a:latin typeface="Microsoft YaHei"/>
              </a:defRPr>
            </a:pPr>
            <a:r>
              <a:t>内容 E[id]：4 维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052560" y="2523744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0800000">
            <a:off x="9020556" y="266547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58000" y="2715768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2798064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32C3E"/>
                </a:solidFill>
                <a:latin typeface="Microsoft YaHei"/>
              </a:defRPr>
            </a:pPr>
            <a:r>
              <a:t>位置 P[p]：4 维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52560" y="3227832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9020556" y="33695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8000" y="3419856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3502152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32C3E"/>
                </a:solidFill>
                <a:latin typeface="Microsoft YaHei"/>
              </a:defRPr>
            </a:pPr>
            <a:r>
              <a:t>逐项相加 E[id] + P[p]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52560" y="3931920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9020556" y="407365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858000" y="4123944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31152" y="4206240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32C3E"/>
                </a:solidFill>
                <a:latin typeface="Microsoft YaHei"/>
              </a:defRPr>
            </a:pPr>
            <a:r>
              <a:t>结果仍是 4 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xₚ = E[token_id] + P[p]；位置索引是 token 位置，不是字符偏移。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三 / 运行位置实验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46–50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正弦编码：不同频率描述不同位置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成对维度分别用 sin 与 cos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四维时角度分别是 p 与 p/100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同一个“我”放在位置 0 和 2，组合结果不同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736592"/>
            <a:ext cx="5513832" cy="603504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818888"/>
            <a:ext cx="5175504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angle = position / (10000 ** (2*i/width))</a:t>
            </a:r>
          </a:p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result += [math.sin(angle), math.cos(angle)]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938528"/>
            <a:ext cx="4572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087F8C"/>
                </a:solidFill>
                <a:latin typeface="Microsoft YaHei"/>
              </a:defRPr>
            </a:pPr>
            <a:r>
              <a:t>D=4：sin p / cos p / sin(p/100) / cos(p/100)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66560" y="2697480"/>
            <a:ext cx="4526280" cy="521207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9712" y="2779776"/>
            <a:ext cx="4379976" cy="429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32C3E"/>
                </a:solidFill>
                <a:latin typeface="Microsoft YaHei"/>
              </a:defRPr>
            </a:pPr>
            <a:r>
              <a:t>p=0   [0, 1, 0, 1]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66560" y="3337560"/>
            <a:ext cx="4526280" cy="521207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9712" y="3419856"/>
            <a:ext cx="4379976" cy="429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32C3E"/>
                </a:solidFill>
                <a:latin typeface="Microsoft YaHei"/>
              </a:defRPr>
            </a:pPr>
            <a:r>
              <a:t>p=1   [.8415, .5403, .0100, 1.0000]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3977639"/>
            <a:ext cx="4526280" cy="521207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39712" y="4059935"/>
            <a:ext cx="4379976" cy="429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32C3E"/>
                </a:solidFill>
                <a:latin typeface="Microsoft YaHei"/>
              </a:defRPr>
            </a:pPr>
            <a:r>
              <a:t>p=2   [.9093, −.4161, .0200, .9998]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4892040"/>
            <a:ext cx="452628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C6F7B"/>
                </a:solidFill>
                <a:latin typeface="Microsoft YaHei"/>
              </a:defRPr>
            </a:pPr>
            <a:r>
              <a:t>同一 token，不同 p → 不同组合输入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PE(p,2i)=sin(p/10000^(2i/D))；奇数维用 cos。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三 / 认识 RoPE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50–53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因果遮罩与位置机制，各自解决什么？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因果遮罩：限制哪些输入位置可读取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绝对位置编码：给输入提供位置坐标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RoPE：按位置旋转 Q/K，让点积体现相对位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1965960"/>
            <a:ext cx="4572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87F8C"/>
                </a:solidFill>
                <a:latin typeface="Microsoft YaHei"/>
              </a:defRPr>
            </a:pPr>
            <a:r>
              <a:t>各自改变什么？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0" y="2743200"/>
            <a:ext cx="4526280" cy="54864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9712" y="2825496"/>
            <a:ext cx="4379976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因果遮罩 → 可读取的范围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66560" y="3456432"/>
            <a:ext cx="4526280" cy="54864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9712" y="3538728"/>
            <a:ext cx="4379976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绝对位置 → 输入中的位置信号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66560" y="4169664"/>
            <a:ext cx="4526280" cy="54864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9712" y="4251960"/>
            <a:ext cx="4379976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RoPE → Q/K 的位置相关旋转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5102352"/>
            <a:ext cx="4572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能够计算更远的位置 ≠ 保证长上下文效果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RoPE 通常作用于 Q/K 的成对维度，不是给原 token ID 加数字。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收束 / 送入 Attention 的是什么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53–56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把三件事接起来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固定 tokenizer：文本 → token → 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匹配的 embedding 表：ID → 内容向量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位置机制：把位置信号带入后续计算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736592"/>
            <a:ext cx="5513832" cy="603504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818888"/>
            <a:ext cx="5175504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input_ids = [vocab.index(piece) for piece in parts]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1920240"/>
            <a:ext cx="4389120" cy="438912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2002536"/>
            <a:ext cx="4242816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我喜欢喝牛奶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052560" y="2368296"/>
            <a:ext cx="0" cy="16459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0800000">
            <a:off x="9020556" y="2491740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58000" y="2542032"/>
            <a:ext cx="4389120" cy="438912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2624328"/>
            <a:ext cx="4242816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token：我 / 喜欢喝牛奶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52560" y="2990088"/>
            <a:ext cx="0" cy="16459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9020556" y="311353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8000" y="3163824"/>
            <a:ext cx="4389120" cy="438912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3246120"/>
            <a:ext cx="4242816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ID：[4, 11]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52560" y="3611879"/>
            <a:ext cx="0" cy="164593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9020556" y="373532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858000" y="3785616"/>
            <a:ext cx="4389120" cy="438912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31152" y="3867912"/>
            <a:ext cx="4242816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查表：[2, 4]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052560" y="4233672"/>
            <a:ext cx="0" cy="16459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0800000">
            <a:off x="9020556" y="435711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858000" y="4407408"/>
            <a:ext cx="4389120" cy="438912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31152" y="4489704"/>
            <a:ext cx="4242816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组合位置 0、1 → [2, 4]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本例：6 个汉字 → 2 个 token → [2,4] 的输入表示。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检查 / 解释而非背术语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56–58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两分钟检查：能否回答这三个“为什么”？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为什么“喜欢喝牛奶”能成为一个 token？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为什么 ID=4 与 ID=11 不直接表示语义距离？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同一 token 换了位置，哪些量会改变？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377440"/>
            <a:ext cx="438912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1152" y="2459736"/>
            <a:ext cx="42428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32C3E"/>
                </a:solidFill>
                <a:latin typeface="Microsoft YaHei"/>
              </a:defRPr>
            </a:pPr>
            <a:r>
              <a:t>边界由什么决定？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2980944"/>
            <a:ext cx="0" cy="25603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9020556" y="3195828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0" y="3246120"/>
            <a:ext cx="4389120" cy="59436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3328415"/>
            <a:ext cx="42428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32C3E"/>
                </a:solidFill>
                <a:latin typeface="Microsoft YaHei"/>
              </a:defRPr>
            </a:pPr>
            <a:r>
              <a:t>映射的数值由什么决定？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52560" y="3849624"/>
            <a:ext cx="0" cy="25603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9020556" y="4064508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0" y="4114800"/>
            <a:ext cx="438912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4197096"/>
            <a:ext cx="42428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32C3E"/>
                </a:solidFill>
                <a:latin typeface="Microsoft YaHei"/>
              </a:defRPr>
            </a:pPr>
            <a:r>
              <a:t>位置在何处参与计算？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回答时区分：规则与词义、编号与参数、内容与位置。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练习 / 约 20 分钟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58–60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课后实验：各改一处，记录变化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换输入“我喜欢喝酒”，保留合并规则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把 token 编号与表行一起重排，比较查表结果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把“我”从位置 0 移到位置 2，再观察编码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377440"/>
            <a:ext cx="438912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1152" y="2459736"/>
            <a:ext cx="42428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改输入，保留 tokenizer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2980944"/>
            <a:ext cx="0" cy="25603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9020556" y="3195828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0" y="3246120"/>
            <a:ext cx="4389120" cy="59436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3328415"/>
            <a:ext cx="42428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改编号，同时对应重排表行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52560" y="3849624"/>
            <a:ext cx="0" cy="25603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9020556" y="4064508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0" y="4114800"/>
            <a:ext cx="438912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4197096"/>
            <a:ext cx="42428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改位置，保持内容向量不变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下节课：从这些输入向量构造 Q/K/V，并实现 Attention。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第二课：Token、Embedding 与位置信息</dc:title>
  <dc:subject>Transformer 输入表示，60 分钟</dc:subject>
  <dc:creator>Transformer Newbie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