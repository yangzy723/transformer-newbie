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页｜0–3 分钟</a:t>
            </a:r>
          </a:p>
          <a:p>
            <a:r>
              <a:t>沿用第一课的Q/K/V概念，新增B、T、D、V四个形状符号。本课有字符级BPE机制实验与真实ByteLevel BPE实现，两者的词表和ID不混用。课堂运行已保存的本地配置，不下载预训练模型。准备阶段安装Tokenizers与PyTorch。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页｜3–6 分钟</a:t>
            </a:r>
          </a:p>
          <a:p>
            <a:r>
              <a:t>只计算单个embedding矩阵，32768×4096×2字节=256MiB；未绑定的输出权重另占一份。注意力分数矩阵的T²描述稠密实现，不能说整个模型成本仅由T²决定；logits投影也有T×D×V成本。更大的词表不保证所有文本都更短，后续看实际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页｜6–9 分钟</a:t>
            </a:r>
          </a:p>
          <a:p>
            <a:r>
              <a:t>打开bpe_core.train_bpe，解释corpus中的频次乘数。首轮喜+欢与欢+喝同为10，本例按首次出现顺序打破并列。边界由预切分决定，本字符示例把每句作为一个片段；真实库下一页展示正则预切分。讲清训练不是梯度下降，而是统计和贪心合并。</a:t>
            </a:r>
          </a:p>
          <a:p>
            <a:r>
              <a:t>对应：Notebook 实验 1，bpe_core.py:train_bpe</a:t>
            </a:r>
          </a:p>
          <a:p>
            <a:r>
              <a:t>观察：四轮合并频次：10 → 10 → 8 →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页｜9–12 分钟</a:t>
            </a:r>
          </a:p>
          <a:p>
            <a:r>
              <a:t>用语料bc×6、ab×5、abc×1训练两轮，先bc频次7，再ab频次5。词表含ab、bc，但编码abc按rank得到a/bc，最长前缀会得到ab/c。运行bpe_core.demo看反例，再指出encode_bpe每轮枚举当前相邻候选并选最小rank。真实实现常用更高效数据结构，本课重在规则语义。</a:t>
            </a:r>
          </a:p>
          <a:p>
            <a:r>
              <a:t>对应：Notebook 实验 2，bpe_core.py:encode_bpe</a:t>
            </a:r>
          </a:p>
          <a:p>
            <a:r>
              <a:t>观察：abc → a / bc；不是最长前缀 ab /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页｜12–16 分钟</a:t>
            </a:r>
          </a:p>
          <a:p>
            <a:r>
              <a:t>展示train_tokenizer.py中的Tokenizer(BPE)、ByteLevel、BpeTrainer和save。设置完整256字节基础字母表，四个特殊token，目标词表320或384。不设置有损normalizer，add_prefix_space=False。本地语料28行，重复10遍用于频次。已提交配置用于课堂复现，现场不必重训。不能把该小语料tokenizer称为商用模型的预训练配置。</a:t>
            </a:r>
          </a:p>
          <a:p>
            <a:r>
              <a:t>对应：Notebook 实验 3，train_tokenizer.py:train</a:t>
            </a:r>
          </a:p>
          <a:p>
            <a:r>
              <a:t>观察：从本地语料训练，完整配置保存在 JSON 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页｜16–19 分钟</a:t>
            </a:r>
          </a:p>
          <a:p>
            <a:r>
              <a:t>运行tokenization.py，比较Hello world!与Hello, world!及前导空格。词表320/384对中文示例都得到3项，不把英文缩短推广为所有文本必然缩短。显示tokens里的特殊字符是字节映射表示；单个token可能只含UTF-8字符的一部分，不能逐ID解码后期待每项都是完整字符。offsets可能重叠，不当作token与字符一一对应。</a:t>
            </a:r>
          </a:p>
          <a:p>
            <a:r>
              <a:t>对应：Notebook 实验 4，tokenization.py:demo</a:t>
            </a:r>
          </a:p>
          <a:p>
            <a:r>
              <a:t>观察：Hello world!：320 项词表得 9 项，384 项得 5 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页｜19–21 分钟</a:t>
            </a:r>
          </a:p>
          <a:p>
            <a:r>
              <a:t>展示assets/tokenizer_320.json及384版本。ByteLevel与decoder让普通测试文本完整回解；skip_special_tokens默认会处理特殊符号，不能据普通文本测试承诺所有特殊字符串也逐字可逆。配置改变时须同步参数映射，不能直接拿320模型的embedding套384词表。</a:t>
            </a:r>
          </a:p>
          <a:p>
            <a:r>
              <a:t>对应：Notebook 实验 4，runtime.py:load_tokenizer</a:t>
            </a:r>
          </a:p>
          <a:p>
            <a:r>
              <a:t>观察：默认配置下：我喜欢喝牛奶。→ [300,304,262]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页｜21–24 分钟</a:t>
            </a:r>
          </a:p>
          <a:p>
            <a:r>
              <a:t>运行embeddings.py的前半段，torch.allclose(lookup,one_hot@E)为True。真实示例E为[320,8]，batch为[2,6]，X为[2,6,8]。one-hot只为验证构造，不建议大词表训练时这么实现。对应重编号并重排行能保持前向结果不变。</a:t>
            </a:r>
          </a:p>
          <a:p>
            <a:r>
              <a:t>对应：Notebook 实验 5，embeddings.py:demo</a:t>
            </a:r>
          </a:p>
          <a:p>
            <a:r>
              <a:t>观察：[2,6] → [2,6,8]；与 one-hot 乘法前向等价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页｜24–27 分钟</a:t>
            </a:r>
          </a:p>
          <a:p>
            <a:r>
              <a:t>make_batch手动加bos/eos；第一句长度5，第二句长度6，第一句末尾补pad。nn.Embedding默认将padding行初始化为0并在lookup反传中抑制其梯度；加载或手动改值时不要假定它永远为0。Attention的padding key mask以及交叉熵ignore_index各自仍要处理。</a:t>
            </a:r>
          </a:p>
          <a:p>
            <a:r>
              <a:t>对应：Notebook 实验 5，runtime.py:make_batch</a:t>
            </a:r>
          </a:p>
          <a:p>
            <a:r>
              <a:t>观察：第一句 5 项补齐到 6；第二句 6 项无需补齐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页｜27–31 分钟</a:t>
            </a:r>
          </a:p>
          <a:p>
            <a:r>
              <a:t>运行embeddings.py后半段，用.sum().backward()明确上游每维梯度是1；a出现两次所以对应行每维2，b每维1，padding lookup为0。这是诊断loss，不是语言模型交叉熵。未用作输入的行在此lookup路径梯度为0；绑定输出权重或施加weight decay时不能把它说成所有训练情形的更新规律。</a:t>
            </a:r>
          </a:p>
          <a:p>
            <a:r>
              <a:t>对应：Notebook 实验 6，embeddings.py:demo</a:t>
            </a:r>
          </a:p>
          <a:p>
            <a:r>
              <a:t>观察：每维梯度：a 行 2，b 行 1，pad 行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页｜31–34 分钟</a:t>
            </a:r>
          </a:p>
          <a:p>
            <a:r>
              <a:t>W_out形状[V,D]，p-y是[V]，右乘得到[D]梯度。写一个正确类别的p_y低时误差大的例子，不推导softmax完整Jacobian。公式按单个位置；实际batch mean loss还包含平均因子。F.cross_entropy直接接原始logits，内部完成log_softmax，不先softmax。</a:t>
            </a:r>
          </a:p>
          <a:p>
            <a:r>
              <a:t>对应：Notebook 实验 7，gradient_chain.py:demo</a:t>
            </a:r>
          </a:p>
          <a:p>
            <a:r>
              <a:t>观察：手算向量梯度与 autograd 逐项一致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页｜34–37 分钟</a:t>
            </a:r>
          </a:p>
          <a:p>
            <a:r>
              <a:t>运行embedding_train.py或Notebook训练单元。模型只用当前token预测下一项，因此是bigram基线，不是Transformer；同一个输入可能有多个后续，loss不必归零。无验证集，仅观察训练拟合。在无weight decay、未绑定输出权重的本实验中，更新行数26与出现过的输入行数一致。 本数据仅依赖当前token时的经验条件熵下界约0.35583；此项供老师解释loss平台，不要求课内计算。训练pair未补齐，不含pad标签。</a:t>
            </a:r>
          </a:p>
          <a:p>
            <a:r>
              <a:t>对应：Notebook 实验 8，embedding_train.py:train</a:t>
            </a:r>
          </a:p>
          <a:p>
            <a:r>
              <a:t>观察：120 步：loss 5.7565 → 0.3559；26 行更新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页｜37–39 分钟</a:t>
            </a:r>
          </a:p>
          <a:p>
            <a:r>
              <a:t>本课bigram代码未绑定，便于先看lookup行更新。若绑定，词表全体候选参与输出softmax，未作为输入的行也可能收到输出梯度；padding_idx只限制lookup路径。设置output.weight=embedding.weight应在创建optimizer之前完成，并用去重的参数迭代器。相似度受训练任务影响，不能把每维解释为固定语义标签。</a:t>
            </a:r>
          </a:p>
          <a:p>
            <a:r>
              <a:t>对应：课后扩展验证，tools/check_experiments.py:main</a:t>
            </a:r>
          </a:p>
          <a:p>
            <a:r>
              <a:t>观察：课后验证：没作为输入的行也可能得到输出梯度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页｜39–42 分钟</a:t>
            </a:r>
          </a:p>
          <a:p>
            <a:r>
              <a:t>给出三行token的重排，说明输出随行重排，而非整个矩阵不变。运行position_mechanics.py：无位置时True，给新行位置加PE后False。不要求证明任意网络性质，只连接QK转置和softmax逐行对称性。因果mask并不随任意置换同样改变，所以不满足这里的假设。 用 Π 记行置换，与学习式位置表 P 区分。</a:t>
            </a:r>
          </a:p>
          <a:p>
            <a:r>
              <a:t>对应：Notebook 实验 9，position_mechanics.py:attention</a:t>
            </a:r>
          </a:p>
          <a:p>
            <a:r>
              <a:t>观察：重排后输出也重排：True；加入位置后通常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页｜42–45 分钟</a:t>
            </a:r>
          </a:p>
          <a:p>
            <a:r>
              <a:t>不要把BPE的字符offset当成token位置。可学习位置表也参与反向传播；正弦表不需要训练其数值。相加式输入与RoPE是不同接口，下一页分别说明，代码不会先加绝对PE又声称相对旋转分数必然保持不变。</a:t>
            </a:r>
          </a:p>
          <a:p>
            <a:r>
              <a:t>对应：Notebook 实验 10，positions.py:sinusoidal</a:t>
            </a:r>
          </a:p>
          <a:p>
            <a:r>
              <a:t>观察：相加后形状保持 [B,T,D]；本课代码演示固定函数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页｜45–48 分钟</a:t>
            </a:r>
          </a:p>
          <a:p>
            <a:r>
              <a:t>D=4时频率1与0.01，沿用上一版四维数值核对。多个频率提供不同变化尺度，单一周期不能代替全部设计。指出pos[:,None]*frequencies[None,:]的广播形状[T,D/2]，而非逐token循环。可计算更大p不等于模型长上下文质量有保证。 统一记号：ω_i 为频率，θ_{t,i}=tω_i 为角度；分别对应 frequencies 与 angles。</a:t>
            </a:r>
          </a:p>
          <a:p>
            <a:r>
              <a:t>对应：Notebook 实验 10，positions.py:sinusoidal</a:t>
            </a:r>
          </a:p>
          <a:p>
            <a:r>
              <a:t>观察：位置 0：[0,1,0,1]；不同维度对有不同变化尺度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页｜48–51 分钟</a:t>
            </a:r>
          </a:p>
          <a:p>
            <a:r>
              <a:t>从二维旋转矩阵的转置等于反向旋转、旋转可相加讲到相对位移，约两步，不展开所有矩阵项。保持未旋转q/k不变、同时平移位置时点积不变；完整模型的q/k可能随上下文变化，所以不推出任意平移文本模型输出不变。</a:t>
            </a:r>
          </a:p>
          <a:p>
            <a:r>
              <a:t>对应：Notebook 实验 11，positions.py:apply_rope</a:t>
            </a:r>
          </a:p>
          <a:p>
            <a:r>
              <a:t>观察：固定 q/k 内容：点积由相对位置 n−m 调节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页｜51–54 分钟</a:t>
            </a:r>
          </a:p>
          <a:p>
            <a:r>
              <a:t>展示positions.apply_rope。使用相邻维度配对，另一种split-half实现需有一致的坐标排列；不混用两种配对约定。函数支持[...,T,D]，D必须为正偶数。运行整体位置平移与范数检查，float64分数差在1e-15量级。RoPE作用Q/K，本实现不旋转V。</a:t>
            </a:r>
          </a:p>
          <a:p>
            <a:r>
              <a:t>对应：Notebook 实验 11，positions.py:apply_rope</a:t>
            </a:r>
          </a:p>
          <a:p>
            <a:r>
              <a:t>观察：范数保持；整体平移位置后分数误差约 10⁻¹⁵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页｜54–56 分钟</a:t>
            </a:r>
          </a:p>
          <a:p>
            <a:r>
              <a:t>pipeline将上三角future和无效key位置做逻辑或，再把score设为-inf；不会修改token ID来实现mask。批中每句含bos/eos，至少有可见有效key；对全屏蔽行必须另作处理以免softmax NaN。padding query的输出最后清零，但训练损失仍需独立忽略padding标签。</a:t>
            </a:r>
          </a:p>
          <a:p>
            <a:r>
              <a:t>对应：Notebook 实验 12，input_pipeline.py:demo</a:t>
            </a:r>
          </a:p>
          <a:p>
            <a:r>
              <a:t>观察：未来 key 与 padding key 的权重均为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页｜56–58 分钟</a:t>
            </a:r>
          </a:p>
          <a:p>
            <a:r>
              <a:t>运行input_pipeline.py，只跟踪形状与一行RoPE、一行mask。此分支不先加绝对PE，随机参数未训练；上面的bigram训练也没有Attention。明确两个实验各验证什么，避免把它们拼成已训练的大模型。首句实际token3个，加bos/eos为5，补到6；另一句4个token，加标记为6。</a:t>
            </a:r>
          </a:p>
          <a:p>
            <a:r>
              <a:t>对应：Notebook 实验 12，input_pipeline.py:demo</a:t>
            </a:r>
          </a:p>
          <a:p>
            <a:r>
              <a:t>观察：ID [2,6] → X [2,6,8] → Q/K [2,2,6,4] → 输出 [2,6,8]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页｜58–60 分钟</a:t>
            </a:r>
          </a:p>
          <a:p>
            <a:r>
              <a:t>答案：重叠候选选最小rank；按各位置上游梯度求和，不是简单覆盖；旋转编码位置关系，mask决定哪些关系可读取。作业增加一个权重绑定实验，观察输出路径使更多embedding行获得梯度。完整答案及检查在exercises.md，保留数据与机制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开场 / 从输入链路进入实现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00–03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第二课：输入表示的算法与机制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Tokenizer：怎样学习规则，怎样执行编码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Embedding：怎样选行，误差怎样更新表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位置机制：顺序怎样进入 Q/K 计算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37744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45973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离散规则：BPE 的统计与 rank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98094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319582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324612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328415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可训练参数：Embedding 的反传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84962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406450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11480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19709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数值结构：位置编码与旋转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文本 → token ID → 可训练向量 → 位置机制 → Attention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Tokenizer 的设计目标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03–06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词表规模是计算取舍，不只是“怎么分词”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V 增大，embedding 与输出层参数随之增大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T 增大，稠密注意力分数矩阵按 T² 增长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在覆盖、序列长度和参数规模之间权衡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E：[V,D] → V×D 个参数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Attention scores：T×T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输出投影：T×D×V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同一段文本的 V / T 取舍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E 的参数量 V×D；V=32768、D=4096、FP16 时约占 256 MiB。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离散规则怎样学出来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06–09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BPE 训练：加权统计、合并、重新统计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把每种文本的相邻次数，乘以该文本的出现频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选择当前最高频 pair，合并非重叠出现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重算频次，直到词表预算或停止条件满足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bpe_core.py · train_bpe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S(a,b)=\sum_s f_s\,\operatorname{count}_s(a,b)" descr="S(a,b)=\sum_s f_s\,\operatorname{count}_s(a,b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344" y="2328005"/>
            <a:ext cx="3337560" cy="5057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f_s：文本频次；count：当前切分中的相邻次数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counts[pair] += corpus[text]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pair = max(counts, key=counts.get)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四轮合并频次：10 → 10 → 8 → 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本例语料频次 5、3、2；四轮合并频次为 10、10、8、8。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编码算法的关键一步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09–12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BPE 编码：按 merge rank，不按最长词匹配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固定 merges：第 0 条 b+c，第 1 条 a+b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abc 的当前候选：bc(rank 0)、ab(rank 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先合并 bc，得到 a / bc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bpe_core.py · encode_bpe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(a,b)^*=\underset{(a,b)\in\mathcal{C}}{\arg\min}\;\operatorname{rank}(a,b)" descr="(a,b)^*=\underset{(a,b)\in\mathcal{C}}{\arg\min}\;\operatorname{rank}(a,b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891" y="2257996"/>
            <a:ext cx="3720465" cy="64579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C：当前相邻、且在 merges 中的候选 pair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75">
                <a:solidFill>
                  <a:srgbClr val="FFFFFF"/>
                </a:solidFill>
                <a:latin typeface="Menlo"/>
              </a:defRPr>
            </a:pPr>
            <a:r>
              <a:t>rank, pair = min(candidates, key=lambda item: item[0])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parts = merge_pair(parts, pair)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abc → a / bc；不是最长前缀 ab / 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merge rank 表示合并优先级；token ID 表示词表地址，两者不能混用。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Hugging Face Tokenizers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12–16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真实实现：ByteLevel BPE 的完整流水线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本地语料 → ByteLevel 预切分 → BPE 训练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保存 tokenizer.json：词表、merges 和配置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加载配置 → encode → tokens / ids / offsets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train_tokenizer.py · train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874519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1956815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文本 + ByteLevel 预切分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331720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4551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505456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587751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256 基础字节 + 4 特殊符号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2962655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08610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136391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218687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BPE trainer → 320 项词表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593591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371703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3767327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3849623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保存完整 tokenizer.json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224527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9020556" y="434797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0" y="4398264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4480559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加载 → encode / decode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分词器训练与语言模型训练，是两套不同的学习过程。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从库输出解释切分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16–19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字节、空格和边界：观察真实编码结果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Hello world!：V=320 时 9 项，V=384 时 5 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前导空格、标点与大小写会影响预切分和编码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未见字符可由基础字节覆盖，完整回解核对文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tokenization.py ·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87F8C"/>
                </a:solidFill>
                <a:latin typeface="Microsoft YaHei"/>
              </a:defRPr>
            </a:pPr>
            <a:r>
              <a:t>Hello world!：本次实际编码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2834640"/>
            <a:ext cx="452628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2916936"/>
            <a:ext cx="437997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词表 320 → 9 个 token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3794760"/>
            <a:ext cx="452628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77056"/>
            <a:ext cx="437997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词表 384 → 5 个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892040"/>
            <a:ext cx="45262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中文样例均为3项，不保证每句都缩短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ByteLevel 的可显示 token 字符串，不保证每项都是完整汉字。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可复现输入的条件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19–21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tokenizer 必须与模型参数配套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特殊符号也有 ID：pad=0、unk=1、bos=2、e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os=3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相同词表大小，不代表 ID 与 merges 相同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先固定配置，再为它构造和训练参数表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runtime.py · load_tokenizer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我喜欢喝牛奶。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冻结配置 V=320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ID：[300, 304, 262]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与该配置配套的 E：[320,D]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本课默认配置：V=320；“我喜欢喝牛奶。”→ [300,304,262]。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离散 ID 到连续参数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21–24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Embedding：查表与 one-hot 乘法等价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每个 ID 选择参数表的一行，得到 D 维向量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batch 的每个位置都执行同一次查表操作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one-hot 乘法用于理解，实际实现直接 gather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embeddings.py ·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\mathbf{E}\in\mathbb{R}^{V\times D},\quad\mathbf{X}=\mathbf{E}[I]" descr="\mathbf{E}\in\mathbb{R}^{V\times D},\quad\mathbf{X}=\mathbf{E}[I]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791" y="2129409"/>
            <a:ext cx="3034665" cy="354330"/>
          </a:xfrm>
          <a:prstGeom prst="rect">
            <a:avLst/>
          </a:prstGeom>
        </p:spPr>
      </p:pic>
      <p:pic>
        <p:nvPicPr>
          <p:cNvPr id="20" name="Formula: \mathbf{X}=\operatorname{one\_hot}(I)\,\mathbf{E}" descr="\mathbf{X}=\operatorname{one\_hot}(I)\,\mathbf{E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1550" y="2709481"/>
            <a:ext cx="2323147" cy="2914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I：[B,T]；E：[V,D]；X：[B,T,D]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vectors = embedding(ids)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[2,6] → [2,6,8]；与 one-hot 乘法前向等价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ID 没有语义距离；表示的可学习几何来自 E 和训练目标。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shape 与特殊行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24–27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真实 batch：padding 不等于真实文本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两条不同长度序列，补齐到 T=6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nn.Embedding(..., padding_idx=0) 控制 looku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p 梯度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valid mask 仍需传给后续注意力或损失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runtime.py · make_batch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Microsoft YaHei"/>
              </a:defRPr>
            </a:pPr>
            <a:r>
              <a:t>B=2，T=6，pad=0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2743200"/>
            <a:ext cx="452628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2825496"/>
            <a:ext cx="437997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句1：bos + 3 tokens + eos + pad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3749039"/>
            <a:ext cx="452628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31335"/>
            <a:ext cx="437997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句2：bos + 4 tokens + eos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892040"/>
            <a:ext cx="45262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C6F7B"/>
                </a:solidFill>
                <a:latin typeface="Microsoft YaHei"/>
              </a:defRPr>
            </a:pPr>
            <a:r>
              <a:t>补齐不代表末尾出现了真实文本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padding_idx 不会自动遮住 Attention，也不会自动忽略 loss。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gather 的反向：scatter-add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27–31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重复 token 怎样更新同一行？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先得到每个出现位置的向量梯度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同一参数行可能被多个位置共同读取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把这些位置的梯度相加，更新共享表行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embeddings.py ·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\mathbf{g}_{b,t}=\frac{\partial L}{\partial\mathbf{X}_{b,t}}" descr="\mathbf{g}_{b,t}=\frac{\partial L}{\partial\mathbf{X}_{b,t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467" y="2085117"/>
            <a:ext cx="1357312" cy="442912"/>
          </a:xfrm>
          <a:prstGeom prst="rect">
            <a:avLst/>
          </a:prstGeom>
        </p:spPr>
      </p:pic>
      <p:pic>
        <p:nvPicPr>
          <p:cNvPr id="20" name="Formula: \frac{\partial L}{\partial\mathbf{E}_j}=\sum_{(b,t):\,I_{b,t}=j}\mathbf{g}_{b,t}" descr="\frac{\partial L}{\partial\mathbf{E}_j}=\sum_{(b,t):\,I_{b,t}=j}\mathbf{g}_{b,t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860" y="2596896"/>
            <a:ext cx="1938527" cy="5166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对非 pad 行 j；遍历 batch 中所有读取它的位置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repeated = torch.tensor([[a, a, b, pad]])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embedding(repeated).sum().backward()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每维梯度：a 行 2，b 行 1，pad 行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诊断输入 [a,a,b,pad]：求和 loss 的梯度分别是 2、1、0。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一条可以对应代码的梯度链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31–34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从下一 token 交叉熵追到 embedding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输入向量经过输出投影，得到各 token 的 logit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交叉熵衡量正确下一 token 的预测概率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误差信号右乘输出权重，传回输入向量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gradient_chain.py ·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\mathbf{z}=\mathbf{e}\mathbf{W}_{\rm out}^{\mathsf{T}},\quad L=-\log p_y" descr="\mathbf{z}=\mathbf{e}\mathbf{W}_{\rm out}^{\mathsf{T}},\quad L=-\log p_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774" y="2103691"/>
            <a:ext cx="3314700" cy="405765"/>
          </a:xfrm>
          <a:prstGeom prst="rect">
            <a:avLst/>
          </a:prstGeom>
        </p:spPr>
      </p:pic>
      <p:pic>
        <p:nvPicPr>
          <p:cNvPr id="20" name="Formula: \frac{\partial L}{\partial\mathbf{e}}=(\mathbf{p}-\operatorname{one\_hot}(y))\mathbf{W}_{\rm out}" descr="\frac{\partial L}{\partial\mathbf{e}}=(\mathbf{p}-\operatorname{one\_hot}(y))\mathbf{W}_{\rm out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617" y="2659475"/>
            <a:ext cx="3529012" cy="39147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p=softmax(z)；W_out：[V,D]；向量梯度：[D]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logits = embedding_vector @ output_weight.T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loss = F.cross_entropy(logits, target)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407408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loss.backward()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手算向量梯度与 autograd 逐项一致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先得到每次出现的向量梯度，再按 token ID 累加到 E。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Embedding + Linear 的 bigram 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34–37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运行一次真实的下一 token 训练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真实 ByteLevel BPE，7 句训练文本、57 对相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邻 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nn.Embedding(320,16) → Linear(16,320)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Adam 训练 120 步，观察 loss 与表行变化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embedding_train.py · 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\mathbf{e}=\mathbf{E}[x],\quad\mathbf{z}=\mathbf{e}\mathbf{W}_{\rm out}^{\mathsf{T}}+\mathbf{b}" descr="\mathbf{e}=\mathbf{E}[x],\quad\mathbf{z}=\mathbf{e}\mathbf{W}_{\rm out}^{\mathsf{T}}+\mathbf{b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767" y="2103691"/>
            <a:ext cx="3414712" cy="405765"/>
          </a:xfrm>
          <a:prstGeom prst="rect">
            <a:avLst/>
          </a:prstGeom>
        </p:spPr>
      </p:pic>
      <p:pic>
        <p:nvPicPr>
          <p:cNvPr id="20" name="Formula: L=-\frac{1}{N}\sum_{r=1}^{N}\log p(y_r\mid x_r)" descr="L=-\frac{1}{N}\sum_{r=1}^{N}\log p(y_r\mid x_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9401" y="2596896"/>
            <a:ext cx="2007445" cy="5166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x/y：相邻 token；N=57；只用当前 token 预测下一项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logits = output(embedding(x))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loss = F.cross_entropy(logits, 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407408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loss.backward()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120 步：loss 5.7565 → 0.3559；26 行更新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实测 loss：5.7565 → 0.3559；26 个输入表行发生更新。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参数共享与表示边界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37–39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输入表、输出表与权重绑定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 embedding 与输出投影可共用同一份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输入查表和输出分类，形成两条梯度路径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输入表行固定，上下文隐藏表示仍可变化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课后扩展验证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tools/check_experiments.py ·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\mathbf{z}=\mathbf{h}\mathbf{E}^{\mathsf{T}}+\mathbf{b}" descr="\mathbf{z}=\mathbf{h}\mathbf{E}^{\mathsf{T}}+\mathbf{b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7308" y="2147982"/>
            <a:ext cx="1611630" cy="317182"/>
          </a:xfrm>
          <a:prstGeom prst="rect">
            <a:avLst/>
          </a:prstGeom>
        </p:spPr>
      </p:pic>
      <p:pic>
        <p:nvPicPr>
          <p:cNvPr id="20" name="Formula: \nabla_{\mathbf{E}}L=\nabla_{\mathbf{E}}^{\rm lookup}L+\nabla_{\mathbf{E}}^{\rm output}L" descr="\nabla_{\mathbf{E}}L=\nabla_{\mathbf{E}}^{\rm lookup}L+\nabla_{\mathbf{E}}^{\rm output}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2908" y="2626614"/>
            <a:ext cx="344043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输入与输出共用同一个参数；主训练实验保持未绑定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849624"/>
            <a:ext cx="4526280" cy="68580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3931920"/>
            <a:ext cx="4379976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课后扩展验证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课后验证：没作为输入的行也可能得到输出梯度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绑定权重后，E 会同时接收输入 lookup 与输出分类器的梯度。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顺序问题的准确表述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39–42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无位置时：为什么是置换等变？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把 token 行重排，Q/K/V 也对应重排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分数矩阵的 query 行和 key 列同时重排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输出跟随输入重排：没有引入固定位置坐标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position_mechanics.py · attention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\mathbf{S}'=\Pi\mathbf{S}\Pi^{\mathsf{T}}" descr="\mathbf{S}'=\Pi\mathbf{S}\Pi^{\mathsf{T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032" y="2147982"/>
            <a:ext cx="1460182" cy="317182"/>
          </a:xfrm>
          <a:prstGeom prst="rect">
            <a:avLst/>
          </a:prstGeom>
        </p:spPr>
      </p:pic>
      <p:pic>
        <p:nvPicPr>
          <p:cNvPr id="20" name="Formula: \operatorname{Attn}(\Pi\mathbf{X})=\Pi\operatorname{Attn}(\mathbf{X})" descr="\operatorname{Attn}(\Pi\mathbf{X})=\Pi\operatorname{Attn}(\mathbf{X}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226" y="2709481"/>
            <a:ext cx="2931795" cy="2914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Π：行置换矩阵；假设无位置机制、无 mask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scores = x @ x.T / math.sqrt(x.shape[-1])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return scores.softmax(dim=-1) @ 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重排后输出也重排：True；加入位置后通常 False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这里假设没有位置机制、没有因果 mask；等变不等于输出完全相同。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位置从何处进入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42–45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绝对位置：学习表与固定函数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学习式位置表按 token 序号查行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把内容向量与同维度的位置向量相加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正弦编码则用固定函数生成位置向量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positions.py · sinusoidal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\mathbf{X}_{b,t}=\mathbf{E}[I_{b,t}]+\operatorname{PE}(t)" descr="\mathbf{X}_{b,t}=\mathbf{E}[I_{b,t}]+\operatorname{PE}(t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0091" y="2422302"/>
            <a:ext cx="2806065" cy="31718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t：token 序号；PE 来自学习式位置表或固定函数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3849624"/>
            <a:ext cx="4526280" cy="68580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3992" y="3931920"/>
            <a:ext cx="4379976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Notebook 实验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相加后形状保持 [B,T,D]；本课代码演示固定函数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P 的索引是 token 位置；L 限制学习式表能直接查询的范围。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从公式到向量化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45–48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正弦为什么使用多组频率？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频率随维度对编号变化，提供多种变化尺度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每个位置乘以各组频率，得到旋转角度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相邻两维分别存放角度的 sin 与 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positions.py · sinusoidal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\omega_i=10000^{-2i/D},\quad\theta_{t,i}=t\omega_i" descr="\omega_i=10000^{-2i/D},\quad\theta_{t,i}=t\omega_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891" y="2110835"/>
            <a:ext cx="3720465" cy="391477"/>
          </a:xfrm>
          <a:prstGeom prst="rect">
            <a:avLst/>
          </a:prstGeom>
        </p:spPr>
      </p:pic>
      <p:pic>
        <p:nvPicPr>
          <p:cNvPr id="20" name="Formula: \operatorname{PE}(t,2i)=\sin\theta_{t,i},\quad\operatorname{PE}(t,2i+1)=\cos\theta_{t,i}" descr="\operatorname{PE}(t,2i)=\sin\theta_{t,i},\quad\operatorname{PE}(t,2i+1)=\cos\theta_{t,i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725657"/>
            <a:ext cx="4636008" cy="2591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i：维度对编号；D=4 时 ω=[1,0.01]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61">
                <a:solidFill>
                  <a:srgbClr val="FFFFFF"/>
                </a:solidFill>
                <a:latin typeface="Menlo"/>
              </a:defRPr>
            </a:pPr>
            <a:r>
              <a:t>angles = positions[:, None] * frequencies[None, :]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result[:, 0::2] = angles.sin()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407408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result[:, 1::2] = angles.cos()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位置 0：[0,1,0,1]；不同维度对有不同变化尺度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从位置 t，到角度 tω，再到每一对维度的 sin / cos。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旋转与 Attention 点积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48–51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RoPE 二维推导：相对位移从哪来？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每一对维度用二维旋转矩阵变换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 按位置 m 旋转，k 按位置 n 旋转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旋转后的点积出现相对位移 n−m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positions.py · apply_rope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R(\varphi)=\begin{bmatrix}\cos\varphi&amp;-\sin\varphi\\\sin\varphi&amp;\cos\varphi\end{bmatrix}" descr="R(\varphi)=\begin{bmatrix}\cos\varphi&amp;-\sin\varphi\\\sin\varphi&amp;\cos\varphi\end{bmatrix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188" y="2048256"/>
            <a:ext cx="2981870" cy="608076"/>
          </a:xfrm>
          <a:prstGeom prst="rect">
            <a:avLst/>
          </a:prstGeom>
        </p:spPr>
      </p:pic>
      <p:pic>
        <p:nvPicPr>
          <p:cNvPr id="20" name="Formula: \widetilde{\mathbf{q}}_m^{\mathsf{T}}\widetilde{\mathbf{k}}_n=\mathbf{q}^{\mathsf{T}}R((n-m)\omega)\mathbf{k}" descr="\widetilde{\mathbf{q}}_m^{\mathsf{T}}\widetilde{\mathbf{k}}_n=\mathbf{q}^{\mathsf{T}}R((n-m)\omega)\mathbf{k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606" y="2688336"/>
            <a:ext cx="3165035" cy="4251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m/n：位置；ω：某一维度对的频率；φ=tω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cos, sin = angles.cos(), angles.sin()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result[..., 0::2] = even * cos - odd * sin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407408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result[..., 1::2] = even * sin + odd * 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固定 q/k 内容：点积由相对位置 n−m 调节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转置是反向旋转，连续旋转可相加，因此最终角度为 (n−m)ω。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从二维旋转到多头 Q/K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51–54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把 RoPE 写成张量运算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把最后一维拆成相邻的 even / odd 分量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按分量公式旋转，广播到 batch 与 head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函数保持形状，整合时作用于多头 Q/K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positions.py · apply_rope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x'_{2i}=x_{2i}\cos\theta_{t,i}-x_{2i+1}\sin\theta_{t,i}" descr="x'_{2i}=x_{2i}\cos\theta_{t,i}-x_{2i+1}\sin\theta_{t,i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76" y="2110835"/>
            <a:ext cx="3960495" cy="391477"/>
          </a:xfrm>
          <a:prstGeom prst="rect">
            <a:avLst/>
          </a:prstGeom>
        </p:spPr>
      </p:pic>
      <p:pic>
        <p:nvPicPr>
          <p:cNvPr id="20" name="Formula: x'_{2i+1}=x_{2i}\sin\theta_{t,i}+x_{2i+1}\cos\theta_{t,i}" descr="x'_{2i+1}=x_{2i}\sin\theta_{t,i}+x_{2i+1}\cos\theta_{t,i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8567" y="2659475"/>
            <a:ext cx="4329112" cy="39147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even/odd 是相邻分量；角度广播到 batch 和 head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even, odd = x[..., 0::2], x[..., 1::2]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61">
                <a:solidFill>
                  <a:srgbClr val="FFFFFF"/>
                </a:solidFill>
                <a:latin typeface="Menlo"/>
              </a:defRPr>
            </a:pPr>
            <a:r>
              <a:t>angles = positions[:, None] * frequencies[None, :]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范数保持；整体平移位置后分数误差约 10⁻¹⁵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RoPE 保持每个向量范数；点积仍会随相对位置改变。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不同维度的约束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54–56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三种机制：位置、因果范围与 padding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RoPE 或绝对位置：让位置参与数值计算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causal mask:[T,T]，限制读取未来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padding key mask:[B,1,1,T]，屏蔽补齐位置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input_pipeline.py ·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847088"/>
            <a:ext cx="45262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YaHei"/>
              </a:defRPr>
            </a:pPr>
            <a:r>
              <a:t>数学关系</a:t>
            </a:r>
          </a:p>
        </p:txBody>
      </p:sp>
      <p:pic>
        <p:nvPicPr>
          <p:cNvPr id="19" name="Formula: \mathbf{S}=\frac{\widetilde{\mathbf{Q}}\widetilde{\mathbf{K}}^{\mathsf{T}}}{\sqrt{d_h}}" descr="\mathbf{S}=\frac{\widetilde{\mathbf{Q}}\widetilde{\mathbf{K}}^{\mathsf{T}}}{\sqrt{d_h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3112" y="2048256"/>
            <a:ext cx="820022" cy="516635"/>
          </a:xfrm>
          <a:prstGeom prst="rect">
            <a:avLst/>
          </a:prstGeom>
        </p:spPr>
      </p:pic>
      <p:pic>
        <p:nvPicPr>
          <p:cNvPr id="20" name="Formula: \mathbf{A}=\operatorname{softmax}(\mathbf{S}+\mathbf{M})" descr="\mathbf{A}=\operatorname{softmax}(\mathbf{S}+\mathbf{M}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1524" y="2709481"/>
            <a:ext cx="2743200" cy="2914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3209544"/>
            <a:ext cx="4553712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M：可见为 0，禁止为 −∞；softmax 沿 key 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544" y="3803904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2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61">
                <a:solidFill>
                  <a:srgbClr val="FFFFFF"/>
                </a:solidFill>
                <a:latin typeface="Menlo"/>
              </a:defRPr>
            </a:pPr>
            <a:r>
              <a:t>masked = scores.masked_fill(forbidden, -torch.inf)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160520"/>
            <a:ext cx="455371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Menlo"/>
              </a:defRPr>
            </a:pPr>
            <a:r>
              <a:t>weights = masked.softmax(dim=-1)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965192"/>
            <a:ext cx="4553712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87F8C"/>
                </a:solidFill>
                <a:latin typeface="Microsoft YaHei"/>
              </a:defRPr>
            </a:pPr>
            <a:r>
              <a:t>未来 key 与 padding key 的权重均为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padding_idx、Attention mask、loss ignore_index 互不替代。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收束 / 看清接口，不重讲完整模型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56–58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真实输入链路：把 shape 全部接上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真实 tokenizer → ID [2,6] → embedding [2,6,8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投影并拆头 → Q/K [2,2,6,4]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RoPE + 两种 mask → 输出 [2,6,8]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394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Notebook 实验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53949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input_pipeline.py · demo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874519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1956815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ID：[2,6]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331720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4551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505456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587751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X：[2,6,8]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2962655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08610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136391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218687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Q/K：[2,2,6,4]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593591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371703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3767327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3849623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scores：[2,2,6,6]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224527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9020556" y="434797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0" y="4398264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4480559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合并 heads：[2,6,8]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该脚本验证输入端与 Attention 接口，不包含完整 Block 或生成循环。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检查 / 课后约 30 分钟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58–60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检查理解：解释一次编码、一次反传、一次旋转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为什么 abc 在 rank 规则下是 a/bc 而非 ab/c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同一 token 出现三次，它的表行梯度怎么计算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为什么保持 n−m 后旋转点积相同，mask 却仍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必要？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37744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45973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选 pair：rank 还是长度？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98094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319582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324612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328415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更新表：覆盖还是累加？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84962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406450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11480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19709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位置关系：旋转还是遮罩？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课后：改词表规模、检查梯度、验证旋转等式并记录结果。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第二课：Tokenizer、Embedding 与位置机制</dc:title>
  <dc:subject>Transformer 输入表示，60 分钟</dc:subject>
  <dc:creator>Transformer Newbie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