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 页｜0–3 分钟</a:t>
            </a:r>
          </a:p>
          <a:p>
            <a:r>
              <a:t>沿用第一课的Q/K/V概念，新增B、T、D、V四个形状符号。本课有字符级BPE机制实验与真实ByteLevel BPE实现，两者的词表和ID不混用。课堂运行已保存的本地配置，不下载预训练模型。准备阶段安装Tokenizers与PyTorch。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2 页｜3–6 分钟</a:t>
            </a:r>
          </a:p>
          <a:p>
            <a:r>
              <a:t>只计算单个embedding矩阵，32768×4096×2字节=256MiB；未绑定的输出权重另占一份。注意力分数矩阵的T²描述稠密实现，不能说整个模型成本仅由T²决定；logits投影也有T×D×V成本。更大的词表不保证所有文本都更短，后续看实际对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3 页｜6–9 分钟</a:t>
            </a:r>
          </a:p>
          <a:p>
            <a:r>
              <a:t>打开bpe_core.train_bpe，解释corpus中的频次乘数。首轮喜+欢与欢+喝同为10，本例按首次出现顺序打破并列。边界由预切分决定，本字符示例把每句作为一个片段；真实库下一页展示正则预切分。讲清训练不是梯度下降，而是统计和贪心合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4 页｜9–12 分钟</a:t>
            </a:r>
          </a:p>
          <a:p>
            <a:r>
              <a:t>用语料bc×6、ab×5、abc×1训练两轮，先bc频次7，再ab频次5。词表含ab、bc，但编码abc按rank得到a/bc，最长前缀会得到ab/c。运行bpe_core.demo看反例，再指出encode_bpe每轮枚举当前相邻候选并选最小rank。真实实现常用更高效数据结构，本课重在规则语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5 页｜12–16 分钟</a:t>
            </a:r>
          </a:p>
          <a:p>
            <a:r>
              <a:t>展示train_tokenizer.py中的Tokenizer(BPE)、ByteLevel、BpeTrainer和save。设置完整256字节基础字母表，四个特殊token，目标词表320或384。不设置有损normalizer，add_prefix_space=False。本地语料28行，重复10遍用于频次。已提交配置用于课堂复现，现场不必重训。不能把该小语料tokenizer称为商用模型的预训练配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6 页｜16–19 分钟</a:t>
            </a:r>
          </a:p>
          <a:p>
            <a:r>
              <a:t>运行tokenization.py，比较Hello world!与Hello, world!及前导空格。词表320/384对中文示例都得到3项，不把英文缩短推广为所有文本必然缩短。显示tokens里的特殊字符是字节映射表示；单个token可能只含UTF-8字符的一部分，不能逐ID解码后期待每项都是完整字符。offsets可能重叠，不当作token与字符一一对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7 页｜19–21 分钟</a:t>
            </a:r>
          </a:p>
          <a:p>
            <a:r>
              <a:t>展示assets/tokenizer_320.json及384版本。ByteLevel与decoder让普通测试文本完整回解；skip_special_tokens默认会处理特殊符号，不能据普通文本测试承诺所有特殊字符串也逐字可逆。配置改变时须同步参数映射，不能直接拿320模型的embedding套384词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8 页｜21–24 分钟</a:t>
            </a:r>
          </a:p>
          <a:p>
            <a:r>
              <a:t>运行embeddings.py的前半段，torch.allclose(lookup,one_hot@E)为True。真实示例E为[320,8]，batch为[2,6]，X为[2,6,8]。one-hot只为验证构造，不建议大词表训练时这么实现。对应重编号并重排行能保持前向结果不变。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9 页｜24–27 分钟</a:t>
            </a:r>
          </a:p>
          <a:p>
            <a:r>
              <a:t>make_batch手动加bos/eos；第一句长度5，第二句长度6，第一句末尾补pad。nn.Embedding默认将padding行初始化为0并在lookup反传中抑制其梯度；加载或手动改值时不要假定它永远为0。Attention的padding key mask以及交叉熵ignore_index各自仍要处理。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10 页｜27–31 分钟</a:t>
            </a:r>
          </a:p>
          <a:p>
            <a:r>
              <a:t>运行embeddings.py后半段，用.sum().backward()明确上游每维梯度是1；a出现两次所以对应行每维2，b每维1，padding lookup为0。这是诊断loss，不是语言模型交叉熵。未用作输入的行在此lookup路径梯度为0；绑定输出权重或施加weight decay时不能把它说成所有训练情形的更新规律。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11 页｜31–34 分钟</a:t>
            </a:r>
          </a:p>
          <a:p>
            <a:r>
              <a:t>W_out形状[V,D]，p-y是[V]，右乘得到[D]梯度。写一个正确类别的p_y低时误差大的例子，不推导softmax完整Jacobian。公式按单个位置；实际batch mean loss还包含平均因子。F.cross_entropy直接接原始logits，内部完成log_softmax，不先softmax。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12 页｜34–37 分钟</a:t>
            </a:r>
          </a:p>
          <a:p>
            <a:r>
              <a:t>运行embedding_train.py或Notebook训练单元。模型只用当前token预测下一项，因此是bigram基线，不是Transformer；同一个输入可能有多个后续，loss不必归零。无验证集，仅观察训练拟合。在无weight decay、未绑定输出权重的本实验中，更新行数26与出现过的输入行数一致。 本数据仅依赖当前token时的经验条件熵下界约0.35583；此项供老师解释loss平台，不要求课内计算。训练pair未补齐，不含pad标签。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13 页｜37–39 分钟</a:t>
            </a:r>
          </a:p>
          <a:p>
            <a:r>
              <a:t>本课bigram代码未绑定，便于先看lookup行更新。若绑定，词表全体候选参与输出softmax，未作为输入的行也可能收到输出梯度；padding_idx只限制lookup路径。设置output.weight=embedding.weight应在创建optimizer之前完成，并用去重的参数迭代器。相似度受训练任务影响，不能把每维解释为固定语义标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14 页｜39–42 分钟</a:t>
            </a:r>
          </a:p>
          <a:p>
            <a:r>
              <a:t>给出三行token的重排，说明输出随行重排，而非整个矩阵不变。运行position_mechanics.py：无位置时True，给新行位置加PE后False。不要求证明任意网络性质，只连接QK转置和softmax逐行对称性。因果mask并不随任意置换同样改变，所以不满足这里的假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15 页｜42–45 分钟</a:t>
            </a:r>
          </a:p>
          <a:p>
            <a:r>
              <a:t>不要把BPE的字符offset当成token位置。可学习位置表也参与反向传播；正弦表不需要训练其数值。相加式输入与RoPE是不同接口，下一页分别说明，代码不会先加绝对PE又声称相对旋转分数必然保持不变。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16 页｜45–48 分钟</a:t>
            </a:r>
          </a:p>
          <a:p>
            <a:r>
              <a:t>D=4时频率1与0.01，沿用上一版四维数值核对。多个频率提供不同变化尺度，单一周期不能代替全部设计。指出pos[:,None]*frequencies[None,:]的广播形状[T,D/2]，而非逐token循环。可计算更大p不等于模型长上下文质量有保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17 页｜48–51 分钟</a:t>
            </a:r>
          </a:p>
          <a:p>
            <a:r>
              <a:t>从二维旋转矩阵的转置等于反向旋转、旋转可相加讲到相对位移，约两步，不展开所有矩阵项。保持未旋转q/k不变、同时平移位置时点积不变；完整模型的q/k可能随上下文变化，所以不推出任意平移文本模型输出不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18 页｜51–54 分钟</a:t>
            </a:r>
          </a:p>
          <a:p>
            <a:r>
              <a:t>展示positions.apply_rope。使用相邻维度配对，另一种split-half实现需有一致的坐标排列；不混用两种配对约定。函数支持[...,T,D]，D必须为正偶数。运行整体位置平移与范数检查，float64分数差在1e-15量级。RoPE作用Q/K，本实现不旋转V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19 页｜54–56 分钟</a:t>
            </a:r>
          </a:p>
          <a:p>
            <a:r>
              <a:t>pipeline将上三角future和无效key位置做逻辑或，再把score设为-inf；不会修改token ID来实现mask。批中每句含bos/eos，至少有可见有效key；对全屏蔽行必须另作处理以免softmax NaN。padding query的输出最后清零，但训练损失仍需独立忽略padding标签。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20 页｜56–58 分钟</a:t>
            </a:r>
          </a:p>
          <a:p>
            <a:r>
              <a:t>运行input_pipeline.py，只跟踪形状与一行RoPE、一行mask。此分支不先加绝对PE，随机参数未训练；上面的bigram训练也没有Attention。明确两个实验各验证什么，避免把它们拼成已训练的大模型。首句实际token3个，加bos/eos为5，补到6；另一句4个token，加标记为6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21 页｜58–60 分钟</a:t>
            </a:r>
          </a:p>
          <a:p>
            <a:r>
              <a:t>答案：重叠候选选最小rank；按各位置上游梯度求和，不是简单覆盖；旋转编码位置关系，mask决定哪些关系可读取。作业增加一个权重绑定实验，观察输出路径使更多embedding行获得梯度。完整答案及检查在exercises.md，保留数据与机制来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83210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087F8C"/>
                </a:solidFill>
                <a:latin typeface="Microsoft YaHei"/>
              </a:defRPr>
            </a:pPr>
            <a:r>
              <a:t>开场 / 从输入链路进入实现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35440" y="320040"/>
            <a:ext cx="2359152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5C6F7B"/>
                </a:solidFill>
                <a:latin typeface="Microsoft YaHei"/>
              </a:defRPr>
            </a:pPr>
            <a:r>
              <a:t>00–03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41248"/>
            <a:ext cx="11018520" cy="7498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70"/>
              </a:lnSpc>
              <a:spcBef>
                <a:spcPts val="0"/>
              </a:spcBef>
              <a:spcAft>
                <a:spcPts val="0"/>
              </a:spcAft>
              <a:defRPr sz="2900" b="1">
                <a:solidFill>
                  <a:srgbClr val="132C3E"/>
                </a:solidFill>
                <a:latin typeface="Microsoft YaHei"/>
              </a:defRPr>
            </a:pPr>
            <a:r>
              <a:t>第二课：输入表示的算法与机制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19088" y="1700784"/>
            <a:ext cx="5166360" cy="37124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84708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192938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865376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Tokenizer：怎样学习规则，怎样执行编码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280720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" y="288950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2825496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Embedding：怎样选行，误差怎样更新表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376732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" y="384962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785615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位置机制：顺序怎样进入 Q/K 计算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0" y="2377440"/>
            <a:ext cx="4389120" cy="594360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31152" y="2459736"/>
            <a:ext cx="4242816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离散规则：BPE 的统计与 rank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052560" y="2980944"/>
            <a:ext cx="0" cy="256032"/>
          </a:xfrm>
          <a:prstGeom prst="line">
            <a:avLst/>
          </a:prstGeom>
          <a:ln w="2159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Isosceles Triangle 18"/>
          <p:cNvSpPr/>
          <p:nvPr/>
        </p:nvSpPr>
        <p:spPr>
          <a:xfrm rot="10800000">
            <a:off x="9020556" y="3195828"/>
            <a:ext cx="64008" cy="82296"/>
          </a:xfrm>
          <a:prstGeom prst="triangle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858000" y="3246120"/>
            <a:ext cx="4389120" cy="594360"/>
          </a:xfrm>
          <a:prstGeom prst="roundRect">
            <a:avLst>
              <a:gd name="adj" fmla="val 6000"/>
            </a:avLst>
          </a:prstGeom>
          <a:solidFill>
            <a:srgbClr val="DE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31152" y="3328415"/>
            <a:ext cx="4242816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可训练参数：Embedding 的反传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9052560" y="3849624"/>
            <a:ext cx="0" cy="256032"/>
          </a:xfrm>
          <a:prstGeom prst="line">
            <a:avLst/>
          </a:prstGeom>
          <a:ln w="2159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Isosceles Triangle 22"/>
          <p:cNvSpPr/>
          <p:nvPr/>
        </p:nvSpPr>
        <p:spPr>
          <a:xfrm rot="10800000">
            <a:off x="9020556" y="4064508"/>
            <a:ext cx="64008" cy="82296"/>
          </a:xfrm>
          <a:prstGeom prst="triangle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858000" y="4114800"/>
            <a:ext cx="4389120" cy="594360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31152" y="4197096"/>
            <a:ext cx="4242816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数值结构：位置编码与旋转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94360" y="5596128"/>
            <a:ext cx="10991088" cy="630936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5528" y="5742432"/>
            <a:ext cx="10579608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1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087F8C"/>
                </a:solidFill>
                <a:latin typeface="Microsoft YaHei"/>
              </a:defRPr>
            </a:pPr>
            <a:r>
              <a:t>文本 → token ID → 可训练向量 → 位置机制 → Attention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60" y="6464808"/>
            <a:ext cx="841248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C6F7B"/>
                </a:solidFill>
                <a:latin typeface="Microsoft YaHei"/>
              </a:defRPr>
            </a:pPr>
            <a:r>
              <a:t>TRANSFORMER NEWBIE  /  CLASS 2  /  TOKEN · EMBEDDING · POSITION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25912" y="6464808"/>
            <a:ext cx="841248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C6F7B"/>
                </a:solidFill>
                <a:latin typeface="Microsoft YaHei"/>
              </a:defRPr>
            </a:pPr>
            <a:r>
              <a:t>01 / 21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83210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087F8C"/>
                </a:solidFill>
                <a:latin typeface="Microsoft YaHei"/>
              </a:defRPr>
            </a:pPr>
            <a:r>
              <a:t>一 / Tokenizer 的设计目标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35440" y="320040"/>
            <a:ext cx="2359152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5C6F7B"/>
                </a:solidFill>
                <a:latin typeface="Microsoft YaHei"/>
              </a:defRPr>
            </a:pPr>
            <a:r>
              <a:t>03–06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41248"/>
            <a:ext cx="11018520" cy="7498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70"/>
              </a:lnSpc>
              <a:spcBef>
                <a:spcPts val="0"/>
              </a:spcBef>
              <a:spcAft>
                <a:spcPts val="0"/>
              </a:spcAft>
              <a:defRPr sz="2900" b="1">
                <a:solidFill>
                  <a:srgbClr val="132C3E"/>
                </a:solidFill>
                <a:latin typeface="Microsoft YaHei"/>
              </a:defRPr>
            </a:pPr>
            <a:r>
              <a:t>词表规模是计算取舍，不只是“怎么分词”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19088" y="1700784"/>
            <a:ext cx="5166360" cy="37124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84708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192938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865376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V 增大，embedding 与输出层参数随之增大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280720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" y="288950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2825496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T 增大，稠密注意力分数矩阵按 T² 增长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376732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" y="384962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785615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在覆盖、序列长度和参数规模之间权衡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0" y="2011680"/>
            <a:ext cx="4389120" cy="502920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31152" y="2093976"/>
            <a:ext cx="4242816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6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132C3E"/>
                </a:solidFill>
                <a:latin typeface="Microsoft YaHei"/>
              </a:defRPr>
            </a:pPr>
            <a:r>
              <a:t>E：[V,D] → V×D 个参数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052560" y="2523744"/>
            <a:ext cx="0" cy="182880"/>
          </a:xfrm>
          <a:prstGeom prst="line">
            <a:avLst/>
          </a:prstGeom>
          <a:ln w="2159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Isosceles Triangle 18"/>
          <p:cNvSpPr/>
          <p:nvPr/>
        </p:nvSpPr>
        <p:spPr>
          <a:xfrm rot="10800000">
            <a:off x="9020556" y="2665476"/>
            <a:ext cx="64008" cy="82296"/>
          </a:xfrm>
          <a:prstGeom prst="triangle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858000" y="2715768"/>
            <a:ext cx="4389120" cy="502920"/>
          </a:xfrm>
          <a:prstGeom prst="roundRect">
            <a:avLst>
              <a:gd name="adj" fmla="val 6000"/>
            </a:avLst>
          </a:prstGeom>
          <a:solidFill>
            <a:srgbClr val="DE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31152" y="2798064"/>
            <a:ext cx="4242816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6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132C3E"/>
                </a:solidFill>
                <a:latin typeface="Microsoft YaHei"/>
              </a:defRPr>
            </a:pPr>
            <a:r>
              <a:t>Attention scores：T×T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9052560" y="3227832"/>
            <a:ext cx="0" cy="182880"/>
          </a:xfrm>
          <a:prstGeom prst="line">
            <a:avLst/>
          </a:prstGeom>
          <a:ln w="2159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Isosceles Triangle 22"/>
          <p:cNvSpPr/>
          <p:nvPr/>
        </p:nvSpPr>
        <p:spPr>
          <a:xfrm rot="10800000">
            <a:off x="9020556" y="3369564"/>
            <a:ext cx="64008" cy="82296"/>
          </a:xfrm>
          <a:prstGeom prst="triangle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858000" y="3419856"/>
            <a:ext cx="4389120" cy="502920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31152" y="3502152"/>
            <a:ext cx="4242816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6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132C3E"/>
                </a:solidFill>
                <a:latin typeface="Microsoft YaHei"/>
              </a:defRPr>
            </a:pPr>
            <a:r>
              <a:t>输出投影：T×D×V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9052560" y="3931920"/>
            <a:ext cx="0" cy="182880"/>
          </a:xfrm>
          <a:prstGeom prst="line">
            <a:avLst/>
          </a:prstGeom>
          <a:ln w="2159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Isosceles Triangle 26"/>
          <p:cNvSpPr/>
          <p:nvPr/>
        </p:nvSpPr>
        <p:spPr>
          <a:xfrm rot="10800000">
            <a:off x="9020556" y="4073652"/>
            <a:ext cx="64008" cy="82296"/>
          </a:xfrm>
          <a:prstGeom prst="triangle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858000" y="4123944"/>
            <a:ext cx="4389120" cy="502920"/>
          </a:xfrm>
          <a:prstGeom prst="roundRect">
            <a:avLst>
              <a:gd name="adj" fmla="val 6000"/>
            </a:avLst>
          </a:prstGeom>
          <a:solidFill>
            <a:srgbClr val="DE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31152" y="4206240"/>
            <a:ext cx="4242816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6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132C3E"/>
                </a:solidFill>
                <a:latin typeface="Microsoft YaHei"/>
              </a:defRPr>
            </a:pPr>
            <a:r>
              <a:t>同一段文本的 V / T 取舍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94360" y="5596128"/>
            <a:ext cx="10991088" cy="630936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5528" y="5742432"/>
            <a:ext cx="10579608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1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087F8C"/>
                </a:solidFill>
                <a:latin typeface="Microsoft YaHei"/>
              </a:defRPr>
            </a:pPr>
            <a:r>
              <a:t>E 的参数量 V×D；V=32768、D=4096、FP16 时约占 256 MiB。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" y="6464808"/>
            <a:ext cx="841248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C6F7B"/>
                </a:solidFill>
                <a:latin typeface="Microsoft YaHei"/>
              </a:defRPr>
            </a:pPr>
            <a:r>
              <a:t>TRANSFORMER NEWBIE  /  CLASS 2  /  TOKEN · EMBEDDING · POSITION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725912" y="6464808"/>
            <a:ext cx="841248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C6F7B"/>
                </a:solidFill>
                <a:latin typeface="Microsoft YaHei"/>
              </a:defRPr>
            </a:pPr>
            <a:r>
              <a:t>02 / 21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83210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087F8C"/>
                </a:solidFill>
                <a:latin typeface="Microsoft YaHei"/>
              </a:defRPr>
            </a:pPr>
            <a:r>
              <a:t>一 / 离散规则怎样学出来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35440" y="320040"/>
            <a:ext cx="2359152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5C6F7B"/>
                </a:solidFill>
                <a:latin typeface="Microsoft YaHei"/>
              </a:defRPr>
            </a:pPr>
            <a:r>
              <a:t>06–09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41248"/>
            <a:ext cx="11018520" cy="7498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70"/>
              </a:lnSpc>
              <a:spcBef>
                <a:spcPts val="0"/>
              </a:spcBef>
              <a:spcAft>
                <a:spcPts val="0"/>
              </a:spcAft>
              <a:defRPr sz="2900" b="1">
                <a:solidFill>
                  <a:srgbClr val="132C3E"/>
                </a:solidFill>
                <a:latin typeface="Microsoft YaHei"/>
              </a:defRPr>
            </a:pPr>
            <a:r>
              <a:t>BPE 训练：加权统计、合并、重新统计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19088" y="1700784"/>
            <a:ext cx="5166360" cy="37124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84708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192938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865376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S(a,b) = Σ_s f_s × count_s(a,b)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280720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" y="288950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2825496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选择当前最高频 pair，合并非重叠出现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376732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" y="384962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785615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重算频次，直到词表预算或停止条件满足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766560" y="2286000"/>
            <a:ext cx="4526280" cy="548640"/>
          </a:xfrm>
          <a:prstGeom prst="roundRect">
            <a:avLst>
              <a:gd name="adj" fmla="val 6000"/>
            </a:avLst>
          </a:prstGeom>
          <a:solidFill>
            <a:srgbClr val="DE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39712" y="2368296"/>
            <a:ext cx="4379976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34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32C3E"/>
                </a:solidFill>
                <a:latin typeface="Microsoft YaHei"/>
              </a:defRPr>
            </a:pPr>
            <a:r>
              <a:t>第0轮：喜 + 欢，频次10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66560" y="2980944"/>
            <a:ext cx="4526280" cy="548640"/>
          </a:xfrm>
          <a:prstGeom prst="roundRect">
            <a:avLst>
              <a:gd name="adj" fmla="val 6000"/>
            </a:avLst>
          </a:prstGeom>
          <a:solidFill>
            <a:srgbClr val="DE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39712" y="3063239"/>
            <a:ext cx="4379976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34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32C3E"/>
                </a:solidFill>
                <a:latin typeface="Microsoft YaHei"/>
              </a:defRPr>
            </a:pPr>
            <a:r>
              <a:t>第1轮：喜欢 + 喝，频次10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766560" y="3675887"/>
            <a:ext cx="4526280" cy="548640"/>
          </a:xfrm>
          <a:prstGeom prst="roundRect">
            <a:avLst>
              <a:gd name="adj" fmla="val 6000"/>
            </a:avLst>
          </a:prstGeom>
          <a:solidFill>
            <a:srgbClr val="DE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39712" y="3758183"/>
            <a:ext cx="4379976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34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32C3E"/>
                </a:solidFill>
                <a:latin typeface="Microsoft YaHei"/>
              </a:defRPr>
            </a:pPr>
            <a:r>
              <a:t>第2轮：喜欢喝 + 牛，频次8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766560" y="4370832"/>
            <a:ext cx="4526280" cy="548640"/>
          </a:xfrm>
          <a:prstGeom prst="roundRect">
            <a:avLst>
              <a:gd name="adj" fmla="val 6000"/>
            </a:avLst>
          </a:prstGeom>
          <a:solidFill>
            <a:srgbClr val="DE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39712" y="4453128"/>
            <a:ext cx="4379976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34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32C3E"/>
                </a:solidFill>
                <a:latin typeface="Microsoft YaHei"/>
              </a:defRPr>
            </a:pPr>
            <a:r>
              <a:t>第3轮：喜欢喝牛 + 奶，频次8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66560" y="5166360"/>
            <a:ext cx="4572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5C6F7B"/>
                </a:solidFill>
                <a:latin typeface="Microsoft YaHei"/>
              </a:defRPr>
            </a:pPr>
            <a:r>
              <a:t>每轮在当前片段上重算；同频规则固定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94360" y="5596128"/>
            <a:ext cx="10991088" cy="630936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5528" y="5742432"/>
            <a:ext cx="10579608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1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087F8C"/>
                </a:solidFill>
                <a:latin typeface="Microsoft YaHei"/>
              </a:defRPr>
            </a:pPr>
            <a:r>
              <a:t>本例语料频次 5、3、2；四轮合并频次为 10、10、8、8。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" y="6464808"/>
            <a:ext cx="841248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C6F7B"/>
                </a:solidFill>
                <a:latin typeface="Microsoft YaHei"/>
              </a:defRPr>
            </a:pPr>
            <a:r>
              <a:t>TRANSFORMER NEWBIE  /  CLASS 2  /  TOKEN · EMBEDDING · POSITION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725912" y="6464808"/>
            <a:ext cx="841248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C6F7B"/>
                </a:solidFill>
                <a:latin typeface="Microsoft YaHei"/>
              </a:defRPr>
            </a:pPr>
            <a:r>
              <a:t>03 / 21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83210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087F8C"/>
                </a:solidFill>
                <a:latin typeface="Microsoft YaHei"/>
              </a:defRPr>
            </a:pPr>
            <a:r>
              <a:t>一 / 编码算法的关键一步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35440" y="320040"/>
            <a:ext cx="2359152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5C6F7B"/>
                </a:solidFill>
                <a:latin typeface="Microsoft YaHei"/>
              </a:defRPr>
            </a:pPr>
            <a:r>
              <a:t>09–12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41248"/>
            <a:ext cx="11018520" cy="7498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70"/>
              </a:lnSpc>
              <a:spcBef>
                <a:spcPts val="0"/>
              </a:spcBef>
              <a:spcAft>
                <a:spcPts val="0"/>
              </a:spcAft>
              <a:defRPr sz="2900" b="1">
                <a:solidFill>
                  <a:srgbClr val="132C3E"/>
                </a:solidFill>
                <a:latin typeface="Microsoft YaHei"/>
              </a:defRPr>
            </a:pPr>
            <a:r>
              <a:t>BPE 编码：按 merge rank，不按最长词匹配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19088" y="1700784"/>
            <a:ext cx="5166360" cy="37124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84708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192938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865376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固定 merges：第 0 条 b+c，第 1 条 a+b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280720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" y="288950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2825496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abc 的当前候选：bc(rank 0)、ab(rank 1)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376732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" y="384962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785615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先合并 bc，得到 a / bc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" y="4736592"/>
            <a:ext cx="5513832" cy="603504"/>
          </a:xfrm>
          <a:prstGeom prst="roundRect">
            <a:avLst>
              <a:gd name="adj" fmla="val 6000"/>
            </a:avLst>
          </a:prstGeom>
          <a:solidFill>
            <a:srgbClr val="132C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" y="4818888"/>
            <a:ext cx="5175504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rank, pair = min(candidates, key=lambda x: x[0])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0" y="2011680"/>
            <a:ext cx="4389120" cy="502920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31152" y="2093976"/>
            <a:ext cx="4242816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输入：a / b / c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9052560" y="2523744"/>
            <a:ext cx="0" cy="182880"/>
          </a:xfrm>
          <a:prstGeom prst="line">
            <a:avLst/>
          </a:prstGeom>
          <a:ln w="2159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Isosceles Triangle 20"/>
          <p:cNvSpPr/>
          <p:nvPr/>
        </p:nvSpPr>
        <p:spPr>
          <a:xfrm rot="10800000">
            <a:off x="9020556" y="2665476"/>
            <a:ext cx="64008" cy="82296"/>
          </a:xfrm>
          <a:prstGeom prst="triangle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858000" y="2715768"/>
            <a:ext cx="4389120" cy="502920"/>
          </a:xfrm>
          <a:prstGeom prst="roundRect">
            <a:avLst>
              <a:gd name="adj" fmla="val 6000"/>
            </a:avLst>
          </a:prstGeom>
          <a:solidFill>
            <a:srgbClr val="DE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31152" y="2798064"/>
            <a:ext cx="4242816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候选：ab rank1；bc rank0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9052560" y="3227832"/>
            <a:ext cx="0" cy="182880"/>
          </a:xfrm>
          <a:prstGeom prst="line">
            <a:avLst/>
          </a:prstGeom>
          <a:ln w="2159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Isosceles Triangle 24"/>
          <p:cNvSpPr/>
          <p:nvPr/>
        </p:nvSpPr>
        <p:spPr>
          <a:xfrm rot="10800000">
            <a:off x="9020556" y="3369564"/>
            <a:ext cx="64008" cy="82296"/>
          </a:xfrm>
          <a:prstGeom prst="triangle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858000" y="3419856"/>
            <a:ext cx="4389120" cy="502920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931152" y="3502152"/>
            <a:ext cx="4242816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先选 bc：a / bc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9052560" y="3931920"/>
            <a:ext cx="0" cy="182880"/>
          </a:xfrm>
          <a:prstGeom prst="line">
            <a:avLst/>
          </a:prstGeom>
          <a:ln w="2159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Isosceles Triangle 28"/>
          <p:cNvSpPr/>
          <p:nvPr/>
        </p:nvSpPr>
        <p:spPr>
          <a:xfrm rot="10800000">
            <a:off x="9020556" y="4073652"/>
            <a:ext cx="64008" cy="82296"/>
          </a:xfrm>
          <a:prstGeom prst="triangle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858000" y="4123944"/>
            <a:ext cx="4389120" cy="502920"/>
          </a:xfrm>
          <a:prstGeom prst="roundRect">
            <a:avLst>
              <a:gd name="adj" fmla="val 6000"/>
            </a:avLst>
          </a:prstGeom>
          <a:solidFill>
            <a:srgbClr val="DE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31152" y="4206240"/>
            <a:ext cx="4242816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最长前缀 ab / c 在此例不正确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5596128"/>
            <a:ext cx="10991088" cy="630936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95528" y="5742432"/>
            <a:ext cx="10579608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1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087F8C"/>
                </a:solidFill>
                <a:latin typeface="Microsoft YaHei"/>
              </a:defRPr>
            </a:pPr>
            <a:r>
              <a:t>merge rank 表示合并优先级；token ID 表示词表地址，两者不能混用。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360" y="6464808"/>
            <a:ext cx="841248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C6F7B"/>
                </a:solidFill>
                <a:latin typeface="Microsoft YaHei"/>
              </a:defRPr>
            </a:pPr>
            <a:r>
              <a:t>TRANSFORMER NEWBIE  /  CLASS 2  /  TOKEN · EMBEDDING · POSITION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725912" y="6464808"/>
            <a:ext cx="841248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C6F7B"/>
                </a:solidFill>
                <a:latin typeface="Microsoft YaHei"/>
              </a:defRPr>
            </a:pPr>
            <a:r>
              <a:t>04 / 21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83210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087F8C"/>
                </a:solidFill>
                <a:latin typeface="Microsoft YaHei"/>
              </a:defRPr>
            </a:pPr>
            <a:r>
              <a:t>一 / Hugging Face Tokenizers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35440" y="320040"/>
            <a:ext cx="2359152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5C6F7B"/>
                </a:solidFill>
                <a:latin typeface="Microsoft YaHei"/>
              </a:defRPr>
            </a:pPr>
            <a:r>
              <a:t>12–16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41248"/>
            <a:ext cx="11018520" cy="7498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70"/>
              </a:lnSpc>
              <a:spcBef>
                <a:spcPts val="0"/>
              </a:spcBef>
              <a:spcAft>
                <a:spcPts val="0"/>
              </a:spcAft>
              <a:defRPr sz="2900" b="1">
                <a:solidFill>
                  <a:srgbClr val="132C3E"/>
                </a:solidFill>
                <a:latin typeface="Microsoft YaHei"/>
              </a:defRPr>
            </a:pPr>
            <a:r>
              <a:t>真实实现：ByteLevel BPE 的完整流水线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19088" y="1700784"/>
            <a:ext cx="5166360" cy="37124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84708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192938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865376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本地语料 → ByteLevel 预切分 → BPE 训练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280720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" y="288950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2825496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保存 tokenizer.json：词表、merges 和配置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376732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" y="384962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785615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加载配置 → encode → tokens / ids / offsets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" y="4736592"/>
            <a:ext cx="5513832" cy="603504"/>
          </a:xfrm>
          <a:prstGeom prst="roundRect">
            <a:avLst>
              <a:gd name="adj" fmla="val 6000"/>
            </a:avLst>
          </a:prstGeom>
          <a:solidFill>
            <a:srgbClr val="132C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" y="4818888"/>
            <a:ext cx="5175504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tokenizer.train_from_iterator(corpus, trainer=trainer)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0" y="1874519"/>
            <a:ext cx="4389120" cy="448056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31152" y="1956815"/>
            <a:ext cx="4242816" cy="3566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21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132C3E"/>
                </a:solidFill>
                <a:latin typeface="Microsoft YaHei"/>
              </a:defRPr>
            </a:pPr>
            <a:r>
              <a:t>文本 + ByteLevel 预切分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9052560" y="2331720"/>
            <a:ext cx="0" cy="164592"/>
          </a:xfrm>
          <a:prstGeom prst="line">
            <a:avLst/>
          </a:prstGeom>
          <a:ln w="2159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Isosceles Triangle 20"/>
          <p:cNvSpPr/>
          <p:nvPr/>
        </p:nvSpPr>
        <p:spPr>
          <a:xfrm rot="10800000">
            <a:off x="9020556" y="2455164"/>
            <a:ext cx="64008" cy="82296"/>
          </a:xfrm>
          <a:prstGeom prst="triangle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858000" y="2505456"/>
            <a:ext cx="4389120" cy="448056"/>
          </a:xfrm>
          <a:prstGeom prst="roundRect">
            <a:avLst>
              <a:gd name="adj" fmla="val 6000"/>
            </a:avLst>
          </a:prstGeom>
          <a:solidFill>
            <a:srgbClr val="DE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31152" y="2587751"/>
            <a:ext cx="4242816" cy="3566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21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132C3E"/>
                </a:solidFill>
                <a:latin typeface="Microsoft YaHei"/>
              </a:defRPr>
            </a:pPr>
            <a:r>
              <a:t>256 基础字节 + 4 特殊符号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9052560" y="2962655"/>
            <a:ext cx="0" cy="164593"/>
          </a:xfrm>
          <a:prstGeom prst="line">
            <a:avLst/>
          </a:prstGeom>
          <a:ln w="2159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Isosceles Triangle 24"/>
          <p:cNvSpPr/>
          <p:nvPr/>
        </p:nvSpPr>
        <p:spPr>
          <a:xfrm rot="10800000">
            <a:off x="9020556" y="3086100"/>
            <a:ext cx="64008" cy="82296"/>
          </a:xfrm>
          <a:prstGeom prst="triangle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858000" y="3136391"/>
            <a:ext cx="4389120" cy="448056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931152" y="3218687"/>
            <a:ext cx="4242816" cy="3566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21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132C3E"/>
                </a:solidFill>
                <a:latin typeface="Microsoft YaHei"/>
              </a:defRPr>
            </a:pPr>
            <a:r>
              <a:t>BPE trainer → 320 项词表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9052560" y="3593591"/>
            <a:ext cx="0" cy="164593"/>
          </a:xfrm>
          <a:prstGeom prst="line">
            <a:avLst/>
          </a:prstGeom>
          <a:ln w="2159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Isosceles Triangle 28"/>
          <p:cNvSpPr/>
          <p:nvPr/>
        </p:nvSpPr>
        <p:spPr>
          <a:xfrm rot="10800000">
            <a:off x="9020556" y="3717036"/>
            <a:ext cx="64008" cy="82296"/>
          </a:xfrm>
          <a:prstGeom prst="triangle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858000" y="3767327"/>
            <a:ext cx="4389120" cy="448056"/>
          </a:xfrm>
          <a:prstGeom prst="roundRect">
            <a:avLst>
              <a:gd name="adj" fmla="val 6000"/>
            </a:avLst>
          </a:prstGeom>
          <a:solidFill>
            <a:srgbClr val="DE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31152" y="3849623"/>
            <a:ext cx="4242816" cy="3566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21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132C3E"/>
                </a:solidFill>
                <a:latin typeface="Microsoft YaHei"/>
              </a:defRPr>
            </a:pPr>
            <a:r>
              <a:t>保存完整 tokenizer.json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052560" y="4224527"/>
            <a:ext cx="0" cy="164593"/>
          </a:xfrm>
          <a:prstGeom prst="line">
            <a:avLst/>
          </a:prstGeom>
          <a:ln w="2159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Isosceles Triangle 32"/>
          <p:cNvSpPr/>
          <p:nvPr/>
        </p:nvSpPr>
        <p:spPr>
          <a:xfrm rot="10800000">
            <a:off x="9020556" y="4347972"/>
            <a:ext cx="64008" cy="82296"/>
          </a:xfrm>
          <a:prstGeom prst="triangle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6858000" y="4398264"/>
            <a:ext cx="4389120" cy="448056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931152" y="4480559"/>
            <a:ext cx="4242816" cy="3566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21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132C3E"/>
                </a:solidFill>
                <a:latin typeface="Microsoft YaHei"/>
              </a:defRPr>
            </a:pPr>
            <a:r>
              <a:t>加载 → encode / decode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94360" y="5596128"/>
            <a:ext cx="10991088" cy="630936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95528" y="5742432"/>
            <a:ext cx="10579608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1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087F8C"/>
                </a:solidFill>
                <a:latin typeface="Microsoft YaHei"/>
              </a:defRPr>
            </a:pPr>
            <a:r>
              <a:t>分词器训练与语言模型训练，是两套不同的学习过程。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" y="6464808"/>
            <a:ext cx="841248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C6F7B"/>
                </a:solidFill>
                <a:latin typeface="Microsoft YaHei"/>
              </a:defRPr>
            </a:pPr>
            <a:r>
              <a:t>TRANSFORMER NEWBIE  /  CLASS 2  /  TOKEN · EMBEDDING · POSITION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725912" y="6464808"/>
            <a:ext cx="841248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C6F7B"/>
                </a:solidFill>
                <a:latin typeface="Microsoft YaHei"/>
              </a:defRPr>
            </a:pPr>
            <a:r>
              <a:t>05 / 21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83210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087F8C"/>
                </a:solidFill>
                <a:latin typeface="Microsoft YaHei"/>
              </a:defRPr>
            </a:pPr>
            <a:r>
              <a:t>一 / 从库输出解释切分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35440" y="320040"/>
            <a:ext cx="2359152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5C6F7B"/>
                </a:solidFill>
                <a:latin typeface="Microsoft YaHei"/>
              </a:defRPr>
            </a:pPr>
            <a:r>
              <a:t>16–19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41248"/>
            <a:ext cx="11018520" cy="7498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70"/>
              </a:lnSpc>
              <a:spcBef>
                <a:spcPts val="0"/>
              </a:spcBef>
              <a:spcAft>
                <a:spcPts val="0"/>
              </a:spcAft>
              <a:defRPr sz="2900" b="1">
                <a:solidFill>
                  <a:srgbClr val="132C3E"/>
                </a:solidFill>
                <a:latin typeface="Microsoft YaHei"/>
              </a:defRPr>
            </a:pPr>
            <a:r>
              <a:t>字节、空格和边界：观察真实编码结果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19088" y="1700784"/>
            <a:ext cx="5166360" cy="37124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84708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192938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865376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Hello world!：V=320 时 9 项，V=384 时 5 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280720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" y="288950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2825496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前导空格、标点与大小写会影响预切分和编码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376732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" y="384962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785615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未见字符可由基础字节覆盖，完整回解核对文</a:t>
            </a:r>
          </a:p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60" y="2011680"/>
            <a:ext cx="45720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087F8C"/>
                </a:solidFill>
                <a:latin typeface="Microsoft YaHei"/>
              </a:defRPr>
            </a:pPr>
            <a:r>
              <a:t>Hello world!：本次实际编码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766560" y="2834640"/>
            <a:ext cx="4526280" cy="594360"/>
          </a:xfrm>
          <a:prstGeom prst="roundRect">
            <a:avLst>
              <a:gd name="adj" fmla="val 6000"/>
            </a:avLst>
          </a:prstGeom>
          <a:solidFill>
            <a:srgbClr val="DE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39712" y="2916936"/>
            <a:ext cx="4379976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860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132C3E"/>
                </a:solidFill>
                <a:latin typeface="Microsoft YaHei"/>
              </a:defRPr>
            </a:pPr>
            <a:r>
              <a:t>词表 320 → 9 个 token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766560" y="3794760"/>
            <a:ext cx="4526280" cy="594360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39712" y="3877056"/>
            <a:ext cx="4379976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860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132C3E"/>
                </a:solidFill>
                <a:latin typeface="Microsoft YaHei"/>
              </a:defRPr>
            </a:pPr>
            <a:r>
              <a:t>词表 384 → 5 个 token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66560" y="4892040"/>
            <a:ext cx="45262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8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5C6F7B"/>
                </a:solidFill>
                <a:latin typeface="Microsoft YaHei"/>
              </a:defRPr>
            </a:pPr>
            <a:r>
              <a:t>中文样例均为3项，不保证每句都缩短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4360" y="5596128"/>
            <a:ext cx="10991088" cy="630936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5528" y="5742432"/>
            <a:ext cx="10579608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1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087F8C"/>
                </a:solidFill>
                <a:latin typeface="Microsoft YaHei"/>
              </a:defRPr>
            </a:pPr>
            <a:r>
              <a:t>ByteLevel 的可显示 token 字符串，不保证每项都是完整汉字。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6464808"/>
            <a:ext cx="841248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C6F7B"/>
                </a:solidFill>
                <a:latin typeface="Microsoft YaHei"/>
              </a:defRPr>
            </a:pPr>
            <a:r>
              <a:t>TRANSFORMER NEWBIE  /  CLASS 2  /  TOKEN · EMBEDDING · POSITION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25912" y="6464808"/>
            <a:ext cx="841248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C6F7B"/>
                </a:solidFill>
                <a:latin typeface="Microsoft YaHei"/>
              </a:defRPr>
            </a:pPr>
            <a:r>
              <a:t>06 / 21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83210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087F8C"/>
                </a:solidFill>
                <a:latin typeface="Microsoft YaHei"/>
              </a:defRPr>
            </a:pPr>
            <a:r>
              <a:t>一 / 可复现输入的条件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35440" y="320040"/>
            <a:ext cx="2359152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5C6F7B"/>
                </a:solidFill>
                <a:latin typeface="Microsoft YaHei"/>
              </a:defRPr>
            </a:pPr>
            <a:r>
              <a:t>19–21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41248"/>
            <a:ext cx="11018520" cy="7498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70"/>
              </a:lnSpc>
              <a:spcBef>
                <a:spcPts val="0"/>
              </a:spcBef>
              <a:spcAft>
                <a:spcPts val="0"/>
              </a:spcAft>
              <a:defRPr sz="2900" b="1">
                <a:solidFill>
                  <a:srgbClr val="132C3E"/>
                </a:solidFill>
                <a:latin typeface="Microsoft YaHei"/>
              </a:defRPr>
            </a:pPr>
            <a:r>
              <a:t>tokenizer 必须与模型参数配套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19088" y="1700784"/>
            <a:ext cx="5166360" cy="37124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84708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192938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865376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特殊符号也有 ID：pad=0、unk=1、bos=2、e</a:t>
            </a:r>
          </a:p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os=3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280720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" y="288950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2825496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相同词表大小，不代表 ID 与 merges 相同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376732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" y="384962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785615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先固定配置，再为它构造和训练参数表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0" y="2011680"/>
            <a:ext cx="4389120" cy="502920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31152" y="2093976"/>
            <a:ext cx="4242816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我喜欢喝牛奶。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052560" y="2523744"/>
            <a:ext cx="0" cy="182880"/>
          </a:xfrm>
          <a:prstGeom prst="line">
            <a:avLst/>
          </a:prstGeom>
          <a:ln w="2159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Isosceles Triangle 18"/>
          <p:cNvSpPr/>
          <p:nvPr/>
        </p:nvSpPr>
        <p:spPr>
          <a:xfrm rot="10800000">
            <a:off x="9020556" y="2665476"/>
            <a:ext cx="64008" cy="82296"/>
          </a:xfrm>
          <a:prstGeom prst="triangle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858000" y="2715768"/>
            <a:ext cx="4389120" cy="502920"/>
          </a:xfrm>
          <a:prstGeom prst="roundRect">
            <a:avLst>
              <a:gd name="adj" fmla="val 6000"/>
            </a:avLst>
          </a:prstGeom>
          <a:solidFill>
            <a:srgbClr val="DE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31152" y="2798064"/>
            <a:ext cx="4242816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冻结配置 V=320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9052560" y="3227832"/>
            <a:ext cx="0" cy="182880"/>
          </a:xfrm>
          <a:prstGeom prst="line">
            <a:avLst/>
          </a:prstGeom>
          <a:ln w="2159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Isosceles Triangle 22"/>
          <p:cNvSpPr/>
          <p:nvPr/>
        </p:nvSpPr>
        <p:spPr>
          <a:xfrm rot="10800000">
            <a:off x="9020556" y="3369564"/>
            <a:ext cx="64008" cy="82296"/>
          </a:xfrm>
          <a:prstGeom prst="triangle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858000" y="3419856"/>
            <a:ext cx="4389120" cy="502920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31152" y="3502152"/>
            <a:ext cx="4242816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ID：[300, 304, 262]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9052560" y="3931920"/>
            <a:ext cx="0" cy="182880"/>
          </a:xfrm>
          <a:prstGeom prst="line">
            <a:avLst/>
          </a:prstGeom>
          <a:ln w="2159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Isosceles Triangle 26"/>
          <p:cNvSpPr/>
          <p:nvPr/>
        </p:nvSpPr>
        <p:spPr>
          <a:xfrm rot="10800000">
            <a:off x="9020556" y="4073652"/>
            <a:ext cx="64008" cy="82296"/>
          </a:xfrm>
          <a:prstGeom prst="triangle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858000" y="4123944"/>
            <a:ext cx="4389120" cy="502920"/>
          </a:xfrm>
          <a:prstGeom prst="roundRect">
            <a:avLst>
              <a:gd name="adj" fmla="val 6000"/>
            </a:avLst>
          </a:prstGeom>
          <a:solidFill>
            <a:srgbClr val="DE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31152" y="4206240"/>
            <a:ext cx="4242816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与该配置配套的 E：[320,D]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94360" y="5596128"/>
            <a:ext cx="10991088" cy="630936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5528" y="5742432"/>
            <a:ext cx="10579608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1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087F8C"/>
                </a:solidFill>
                <a:latin typeface="Microsoft YaHei"/>
              </a:defRPr>
            </a:pPr>
            <a:r>
              <a:t>本课默认配置：V=320；“我喜欢喝牛奶。”→ [300,304,262]。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" y="6464808"/>
            <a:ext cx="841248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C6F7B"/>
                </a:solidFill>
                <a:latin typeface="Microsoft YaHei"/>
              </a:defRPr>
            </a:pPr>
            <a:r>
              <a:t>TRANSFORMER NEWBIE  /  CLASS 2  /  TOKEN · EMBEDDING · POSITION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725912" y="6464808"/>
            <a:ext cx="841248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C6F7B"/>
                </a:solidFill>
                <a:latin typeface="Microsoft YaHei"/>
              </a:defRPr>
            </a:pPr>
            <a:r>
              <a:t>07 / 21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83210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087F8C"/>
                </a:solidFill>
                <a:latin typeface="Microsoft YaHei"/>
              </a:defRPr>
            </a:pPr>
            <a:r>
              <a:t>二 / 离散 ID 到连续参数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35440" y="320040"/>
            <a:ext cx="2359152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5C6F7B"/>
                </a:solidFill>
                <a:latin typeface="Microsoft YaHei"/>
              </a:defRPr>
            </a:pPr>
            <a:r>
              <a:t>21–24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41248"/>
            <a:ext cx="11018520" cy="7498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70"/>
              </a:lnSpc>
              <a:spcBef>
                <a:spcPts val="0"/>
              </a:spcBef>
              <a:spcAft>
                <a:spcPts val="0"/>
              </a:spcAft>
              <a:defRPr sz="2900" b="1">
                <a:solidFill>
                  <a:srgbClr val="132C3E"/>
                </a:solidFill>
                <a:latin typeface="Microsoft YaHei"/>
              </a:defRPr>
            </a:pPr>
            <a:r>
              <a:t>Embedding：查表与 one-hot 乘法等价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19088" y="1700784"/>
            <a:ext cx="5166360" cy="37124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84708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192938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865376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E∈R^(V×D)，单个输入 e_i = one_hot(i) 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280720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" y="288950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2825496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batch 输入 I:[B,T] → X:[B,T,D]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376732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" y="384962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785615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实现直接 gather 选行，不显式创建大 one-hot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" y="4736592"/>
            <a:ext cx="5513832" cy="603504"/>
          </a:xfrm>
          <a:prstGeom prst="roundRect">
            <a:avLst>
              <a:gd name="adj" fmla="val 6000"/>
            </a:avLst>
          </a:prstGeom>
          <a:solidFill>
            <a:srgbClr val="132C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" y="4818888"/>
            <a:ext cx="5175504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vectors = embedding(ids)  # [B,T] → [B,T,D]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0" y="2011680"/>
            <a:ext cx="4389120" cy="502920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31152" y="2093976"/>
            <a:ext cx="4242816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34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32C3E"/>
                </a:solidFill>
                <a:latin typeface="Microsoft YaHei"/>
              </a:defRPr>
            </a:pPr>
            <a:r>
              <a:t>I：[2,6]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9052560" y="2523744"/>
            <a:ext cx="0" cy="182880"/>
          </a:xfrm>
          <a:prstGeom prst="line">
            <a:avLst/>
          </a:prstGeom>
          <a:ln w="2159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Isosceles Triangle 20"/>
          <p:cNvSpPr/>
          <p:nvPr/>
        </p:nvSpPr>
        <p:spPr>
          <a:xfrm rot="10800000">
            <a:off x="9020556" y="2665476"/>
            <a:ext cx="64008" cy="82296"/>
          </a:xfrm>
          <a:prstGeom prst="triangle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858000" y="2715768"/>
            <a:ext cx="4389120" cy="502920"/>
          </a:xfrm>
          <a:prstGeom prst="roundRect">
            <a:avLst>
              <a:gd name="adj" fmla="val 6000"/>
            </a:avLst>
          </a:prstGeom>
          <a:solidFill>
            <a:srgbClr val="DE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31152" y="2798064"/>
            <a:ext cx="4242816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34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32C3E"/>
                </a:solidFill>
                <a:latin typeface="Microsoft YaHei"/>
              </a:defRPr>
            </a:pPr>
            <a:r>
              <a:t>one-hot(I)：[2,6,320]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9052560" y="3227832"/>
            <a:ext cx="0" cy="182880"/>
          </a:xfrm>
          <a:prstGeom prst="line">
            <a:avLst/>
          </a:prstGeom>
          <a:ln w="2159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Isosceles Triangle 24"/>
          <p:cNvSpPr/>
          <p:nvPr/>
        </p:nvSpPr>
        <p:spPr>
          <a:xfrm rot="10800000">
            <a:off x="9020556" y="3369564"/>
            <a:ext cx="64008" cy="82296"/>
          </a:xfrm>
          <a:prstGeom prst="triangle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858000" y="3419856"/>
            <a:ext cx="4389120" cy="502920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931152" y="3502152"/>
            <a:ext cx="4242816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34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32C3E"/>
                </a:solidFill>
                <a:latin typeface="Microsoft YaHei"/>
              </a:defRPr>
            </a:pPr>
            <a:r>
              <a:t>@ E：[320,8]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9052560" y="3931920"/>
            <a:ext cx="0" cy="182880"/>
          </a:xfrm>
          <a:prstGeom prst="line">
            <a:avLst/>
          </a:prstGeom>
          <a:ln w="2159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Isosceles Triangle 28"/>
          <p:cNvSpPr/>
          <p:nvPr/>
        </p:nvSpPr>
        <p:spPr>
          <a:xfrm rot="10800000">
            <a:off x="9020556" y="4073652"/>
            <a:ext cx="64008" cy="82296"/>
          </a:xfrm>
          <a:prstGeom prst="triangle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858000" y="4123944"/>
            <a:ext cx="4389120" cy="502920"/>
          </a:xfrm>
          <a:prstGeom prst="roundRect">
            <a:avLst>
              <a:gd name="adj" fmla="val 6000"/>
            </a:avLst>
          </a:prstGeom>
          <a:solidFill>
            <a:srgbClr val="DE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31152" y="4206240"/>
            <a:ext cx="4242816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34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32C3E"/>
                </a:solidFill>
                <a:latin typeface="Microsoft YaHei"/>
              </a:defRPr>
            </a:pPr>
            <a:r>
              <a:t>结果 = gather(E,I)：[2,6,8]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5596128"/>
            <a:ext cx="10991088" cy="630936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95528" y="5742432"/>
            <a:ext cx="10579608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1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087F8C"/>
                </a:solidFill>
                <a:latin typeface="Microsoft YaHei"/>
              </a:defRPr>
            </a:pPr>
            <a:r>
              <a:t>ID 没有语义距离；表示的可学习几何来自 E 和训练目标。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360" y="6464808"/>
            <a:ext cx="841248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C6F7B"/>
                </a:solidFill>
                <a:latin typeface="Microsoft YaHei"/>
              </a:defRPr>
            </a:pPr>
            <a:r>
              <a:t>TRANSFORMER NEWBIE  /  CLASS 2  /  TOKEN · EMBEDDING · POSITION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725912" y="6464808"/>
            <a:ext cx="841248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C6F7B"/>
                </a:solidFill>
                <a:latin typeface="Microsoft YaHei"/>
              </a:defRPr>
            </a:pPr>
            <a:r>
              <a:t>08 / 21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83210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087F8C"/>
                </a:solidFill>
                <a:latin typeface="Microsoft YaHei"/>
              </a:defRPr>
            </a:pPr>
            <a:r>
              <a:t>二 / shape 与特殊行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35440" y="320040"/>
            <a:ext cx="2359152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5C6F7B"/>
                </a:solidFill>
                <a:latin typeface="Microsoft YaHei"/>
              </a:defRPr>
            </a:pPr>
            <a:r>
              <a:t>24–27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41248"/>
            <a:ext cx="11018520" cy="7498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70"/>
              </a:lnSpc>
              <a:spcBef>
                <a:spcPts val="0"/>
              </a:spcBef>
              <a:spcAft>
                <a:spcPts val="0"/>
              </a:spcAft>
              <a:defRPr sz="2900" b="1">
                <a:solidFill>
                  <a:srgbClr val="132C3E"/>
                </a:solidFill>
                <a:latin typeface="Microsoft YaHei"/>
              </a:defRPr>
            </a:pPr>
            <a:r>
              <a:t>真实 batch：padding 不等于真实文本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19088" y="1700784"/>
            <a:ext cx="5166360" cy="37124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84708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192938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865376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两条不同长度序列，补齐到 T=6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280720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" y="288950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2825496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nn.Embedding(..., padding_idx=0) 控制 looku</a:t>
            </a:r>
          </a:p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p 梯度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376732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" y="384962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785615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valid mask 仍需传给后续注意力或损失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60" y="2011680"/>
            <a:ext cx="45720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73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087F8C"/>
                </a:solidFill>
                <a:latin typeface="Microsoft YaHei"/>
              </a:defRPr>
            </a:pPr>
            <a:r>
              <a:t>B=2，T=6，pad=0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766560" y="2743200"/>
            <a:ext cx="4526280" cy="594360"/>
          </a:xfrm>
          <a:prstGeom prst="roundRect">
            <a:avLst>
              <a:gd name="adj" fmla="val 6000"/>
            </a:avLst>
          </a:prstGeom>
          <a:solidFill>
            <a:srgbClr val="DE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39712" y="2825496"/>
            <a:ext cx="4379976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21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132C3E"/>
                </a:solidFill>
                <a:latin typeface="Microsoft YaHei"/>
              </a:defRPr>
            </a:pPr>
            <a:r>
              <a:t>句1：bos + 3 tokens + eos + pad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766560" y="3749039"/>
            <a:ext cx="4526280" cy="594360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39712" y="3831335"/>
            <a:ext cx="4379976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34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32C3E"/>
                </a:solidFill>
                <a:latin typeface="Microsoft YaHei"/>
              </a:defRPr>
            </a:pPr>
            <a:r>
              <a:t>句2：bos + 4 tokens + eos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66560" y="4892040"/>
            <a:ext cx="45262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1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5C6F7B"/>
                </a:solidFill>
                <a:latin typeface="Microsoft YaHei"/>
              </a:defRPr>
            </a:pPr>
            <a:r>
              <a:t>补齐不代表末尾出现了真实文本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4360" y="5596128"/>
            <a:ext cx="10991088" cy="630936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5528" y="5742432"/>
            <a:ext cx="10579608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1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087F8C"/>
                </a:solidFill>
                <a:latin typeface="Microsoft YaHei"/>
              </a:defRPr>
            </a:pPr>
            <a:r>
              <a:t>padding_idx 不会自动遮住 Attention，也不会自动忽略 loss。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6464808"/>
            <a:ext cx="841248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C6F7B"/>
                </a:solidFill>
                <a:latin typeface="Microsoft YaHei"/>
              </a:defRPr>
            </a:pPr>
            <a:r>
              <a:t>TRANSFORMER NEWBIE  /  CLASS 2  /  TOKEN · EMBEDDING · POSITION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25912" y="6464808"/>
            <a:ext cx="841248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C6F7B"/>
                </a:solidFill>
                <a:latin typeface="Microsoft YaHei"/>
              </a:defRPr>
            </a:pPr>
            <a:r>
              <a:t>09 / 21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83210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087F8C"/>
                </a:solidFill>
                <a:latin typeface="Microsoft YaHei"/>
              </a:defRPr>
            </a:pPr>
            <a:r>
              <a:t>二 / gather 的反向：scatter-add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35440" y="320040"/>
            <a:ext cx="2359152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5C6F7B"/>
                </a:solidFill>
                <a:latin typeface="Microsoft YaHei"/>
              </a:defRPr>
            </a:pPr>
            <a:r>
              <a:t>27–31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41248"/>
            <a:ext cx="11018520" cy="7498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70"/>
              </a:lnSpc>
              <a:spcBef>
                <a:spcPts val="0"/>
              </a:spcBef>
              <a:spcAft>
                <a:spcPts val="0"/>
              </a:spcAft>
              <a:defRPr sz="2900" b="1">
                <a:solidFill>
                  <a:srgbClr val="132C3E"/>
                </a:solidFill>
                <a:latin typeface="Microsoft YaHei"/>
              </a:defRPr>
            </a:pPr>
            <a:r>
              <a:t>重复 token 怎样更新同一行？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19088" y="1700784"/>
            <a:ext cx="5166360" cy="37124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84708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192938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865376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单位置反传得到 g_p = ∂L/∂X_p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280720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" y="288950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2825496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同一 ID 的梯度按所有出现位置累加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376732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" y="384962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785615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∂L/∂E_j = Σ_{p:I_p=j} g_p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0" y="2011680"/>
            <a:ext cx="4389120" cy="502920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31152" y="2093976"/>
            <a:ext cx="4242816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34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32C3E"/>
                </a:solidFill>
                <a:latin typeface="Microsoft YaHei"/>
              </a:defRPr>
            </a:pPr>
            <a:r>
              <a:t>位置梯度：1 / 1 / 1 / 1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052560" y="2523744"/>
            <a:ext cx="0" cy="182880"/>
          </a:xfrm>
          <a:prstGeom prst="line">
            <a:avLst/>
          </a:prstGeom>
          <a:ln w="2159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Isosceles Triangle 18"/>
          <p:cNvSpPr/>
          <p:nvPr/>
        </p:nvSpPr>
        <p:spPr>
          <a:xfrm rot="10800000">
            <a:off x="9020556" y="2665476"/>
            <a:ext cx="64008" cy="82296"/>
          </a:xfrm>
          <a:prstGeom prst="triangle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858000" y="2715768"/>
            <a:ext cx="4389120" cy="502920"/>
          </a:xfrm>
          <a:prstGeom prst="roundRect">
            <a:avLst>
              <a:gd name="adj" fmla="val 6000"/>
            </a:avLst>
          </a:prstGeom>
          <a:solidFill>
            <a:srgbClr val="DE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31152" y="2798064"/>
            <a:ext cx="4242816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34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32C3E"/>
                </a:solidFill>
                <a:latin typeface="Microsoft YaHei"/>
              </a:defRPr>
            </a:pPr>
            <a:r>
              <a:t>输入 ID：a / a / b / pad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9052560" y="3227832"/>
            <a:ext cx="0" cy="182880"/>
          </a:xfrm>
          <a:prstGeom prst="line">
            <a:avLst/>
          </a:prstGeom>
          <a:ln w="2159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Isosceles Triangle 22"/>
          <p:cNvSpPr/>
          <p:nvPr/>
        </p:nvSpPr>
        <p:spPr>
          <a:xfrm rot="10800000">
            <a:off x="9020556" y="3369564"/>
            <a:ext cx="64008" cy="82296"/>
          </a:xfrm>
          <a:prstGeom prst="triangle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858000" y="3419856"/>
            <a:ext cx="4389120" cy="502920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31152" y="3502152"/>
            <a:ext cx="4242816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34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32C3E"/>
                </a:solidFill>
                <a:latin typeface="Microsoft YaHei"/>
              </a:defRPr>
            </a:pPr>
            <a:r>
              <a:t>scatter-add 到共享表行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9052560" y="3931920"/>
            <a:ext cx="0" cy="182880"/>
          </a:xfrm>
          <a:prstGeom prst="line">
            <a:avLst/>
          </a:prstGeom>
          <a:ln w="2159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Isosceles Triangle 26"/>
          <p:cNvSpPr/>
          <p:nvPr/>
        </p:nvSpPr>
        <p:spPr>
          <a:xfrm rot="10800000">
            <a:off x="9020556" y="4073652"/>
            <a:ext cx="64008" cy="82296"/>
          </a:xfrm>
          <a:prstGeom prst="triangle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858000" y="4123944"/>
            <a:ext cx="4389120" cy="502920"/>
          </a:xfrm>
          <a:prstGeom prst="roundRect">
            <a:avLst>
              <a:gd name="adj" fmla="val 6000"/>
            </a:avLst>
          </a:prstGeom>
          <a:solidFill>
            <a:srgbClr val="DE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31152" y="4206240"/>
            <a:ext cx="4242816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34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32C3E"/>
                </a:solidFill>
                <a:latin typeface="Microsoft YaHei"/>
              </a:defRPr>
            </a:pPr>
            <a:r>
              <a:t>行梯度：a=2，b=1，pad=0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94360" y="5596128"/>
            <a:ext cx="10991088" cy="630936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5528" y="5742432"/>
            <a:ext cx="10579608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1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087F8C"/>
                </a:solidFill>
                <a:latin typeface="Microsoft YaHei"/>
              </a:defRPr>
            </a:pPr>
            <a:r>
              <a:t>诊断输入 [a,a,b,pad]：求和 loss 的梯度分别是 2、1、0。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" y="6464808"/>
            <a:ext cx="841248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C6F7B"/>
                </a:solidFill>
                <a:latin typeface="Microsoft YaHei"/>
              </a:defRPr>
            </a:pPr>
            <a:r>
              <a:t>TRANSFORMER NEWBIE  /  CLASS 2  /  TOKEN · EMBEDDING · POSITION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725912" y="6464808"/>
            <a:ext cx="841248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C6F7B"/>
                </a:solidFill>
                <a:latin typeface="Microsoft YaHei"/>
              </a:defRPr>
            </a:pPr>
            <a:r>
              <a:t>10 / 21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83210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087F8C"/>
                </a:solidFill>
                <a:latin typeface="Microsoft YaHei"/>
              </a:defRPr>
            </a:pPr>
            <a:r>
              <a:t>二 / 一条可以对应代码的梯度链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35440" y="320040"/>
            <a:ext cx="2359152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5C6F7B"/>
                </a:solidFill>
                <a:latin typeface="Microsoft YaHei"/>
              </a:defRPr>
            </a:pPr>
            <a:r>
              <a:t>31–34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41248"/>
            <a:ext cx="11018520" cy="7498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70"/>
              </a:lnSpc>
              <a:spcBef>
                <a:spcPts val="0"/>
              </a:spcBef>
              <a:spcAft>
                <a:spcPts val="0"/>
              </a:spcAft>
              <a:defRPr sz="2900" b="1">
                <a:solidFill>
                  <a:srgbClr val="132C3E"/>
                </a:solidFill>
                <a:latin typeface="Microsoft YaHei"/>
              </a:defRPr>
            </a:pPr>
            <a:r>
              <a:t>从下一 token 交叉熵追到 embedding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19088" y="1700784"/>
            <a:ext cx="5166360" cy="37124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84708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192938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865376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z = e W_out^T + b，p = softmax(z)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280720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" y="288950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2825496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单位置交叉熵 L = −log p_y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376732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" y="384962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785615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∂L/∂e = (p − one_hot(y)) W_out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" y="4736592"/>
            <a:ext cx="5513832" cy="603504"/>
          </a:xfrm>
          <a:prstGeom prst="roundRect">
            <a:avLst>
              <a:gd name="adj" fmla="val 6000"/>
            </a:avLst>
          </a:prstGeom>
          <a:solidFill>
            <a:srgbClr val="132C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" y="4818888"/>
            <a:ext cx="5175504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loss = F.cross_entropy(output(embedding(x)), y)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0" y="2011680"/>
            <a:ext cx="4389120" cy="502920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31152" y="2093976"/>
            <a:ext cx="4242816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73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32C3E"/>
                </a:solidFill>
                <a:latin typeface="Microsoft YaHei"/>
              </a:defRPr>
            </a:pPr>
            <a:r>
              <a:t>e：[D]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9052560" y="2523744"/>
            <a:ext cx="0" cy="182880"/>
          </a:xfrm>
          <a:prstGeom prst="line">
            <a:avLst/>
          </a:prstGeom>
          <a:ln w="2159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Isosceles Triangle 20"/>
          <p:cNvSpPr/>
          <p:nvPr/>
        </p:nvSpPr>
        <p:spPr>
          <a:xfrm rot="10800000">
            <a:off x="9020556" y="2665476"/>
            <a:ext cx="64008" cy="82296"/>
          </a:xfrm>
          <a:prstGeom prst="triangle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858000" y="2715768"/>
            <a:ext cx="4389120" cy="502920"/>
          </a:xfrm>
          <a:prstGeom prst="roundRect">
            <a:avLst>
              <a:gd name="adj" fmla="val 6000"/>
            </a:avLst>
          </a:prstGeom>
          <a:solidFill>
            <a:srgbClr val="DE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31152" y="2798064"/>
            <a:ext cx="4242816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73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32C3E"/>
                </a:solidFill>
                <a:latin typeface="Microsoft YaHei"/>
              </a:defRPr>
            </a:pPr>
            <a:r>
              <a:t>z=e W^T+b：[V]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9052560" y="3227832"/>
            <a:ext cx="0" cy="182880"/>
          </a:xfrm>
          <a:prstGeom prst="line">
            <a:avLst/>
          </a:prstGeom>
          <a:ln w="2159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Isosceles Triangle 24"/>
          <p:cNvSpPr/>
          <p:nvPr/>
        </p:nvSpPr>
        <p:spPr>
          <a:xfrm rot="10800000">
            <a:off x="9020556" y="3369564"/>
            <a:ext cx="64008" cy="82296"/>
          </a:xfrm>
          <a:prstGeom prst="triangle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858000" y="3419856"/>
            <a:ext cx="4389120" cy="502920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931152" y="3502152"/>
            <a:ext cx="4242816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73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32C3E"/>
                </a:solidFill>
                <a:latin typeface="Microsoft YaHei"/>
              </a:defRPr>
            </a:pPr>
            <a:r>
              <a:t>g_z = p − one_hot(y)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9052560" y="3931920"/>
            <a:ext cx="0" cy="182880"/>
          </a:xfrm>
          <a:prstGeom prst="line">
            <a:avLst/>
          </a:prstGeom>
          <a:ln w="2159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Isosceles Triangle 28"/>
          <p:cNvSpPr/>
          <p:nvPr/>
        </p:nvSpPr>
        <p:spPr>
          <a:xfrm rot="10800000">
            <a:off x="9020556" y="4073652"/>
            <a:ext cx="64008" cy="82296"/>
          </a:xfrm>
          <a:prstGeom prst="triangle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858000" y="4123944"/>
            <a:ext cx="4389120" cy="502920"/>
          </a:xfrm>
          <a:prstGeom prst="roundRect">
            <a:avLst>
              <a:gd name="adj" fmla="val 6000"/>
            </a:avLst>
          </a:prstGeom>
          <a:solidFill>
            <a:srgbClr val="DE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31152" y="4206240"/>
            <a:ext cx="4242816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73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32C3E"/>
                </a:solidFill>
                <a:latin typeface="Microsoft YaHei"/>
              </a:defRPr>
            </a:pPr>
            <a:r>
              <a:t>g_e = g_z W：[D]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5596128"/>
            <a:ext cx="10991088" cy="630936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95528" y="5742432"/>
            <a:ext cx="10579608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1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087F8C"/>
                </a:solidFill>
                <a:latin typeface="Microsoft YaHei"/>
              </a:defRPr>
            </a:pPr>
            <a:r>
              <a:t>先得到每次出现的向量梯度，再按 token ID 累加到 E。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360" y="6464808"/>
            <a:ext cx="841248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C6F7B"/>
                </a:solidFill>
                <a:latin typeface="Microsoft YaHei"/>
              </a:defRPr>
            </a:pPr>
            <a:r>
              <a:t>TRANSFORMER NEWBIE  /  CLASS 2  /  TOKEN · EMBEDDING · POSITION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725912" y="6464808"/>
            <a:ext cx="841248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C6F7B"/>
                </a:solidFill>
                <a:latin typeface="Microsoft YaHei"/>
              </a:defRPr>
            </a:pPr>
            <a:r>
              <a:t>11 / 21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83210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087F8C"/>
                </a:solidFill>
                <a:latin typeface="Microsoft YaHei"/>
              </a:defRPr>
            </a:pPr>
            <a:r>
              <a:t>二 / Embedding + Linear 的 bigram 基线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35440" y="320040"/>
            <a:ext cx="2359152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5C6F7B"/>
                </a:solidFill>
                <a:latin typeface="Microsoft YaHei"/>
              </a:defRPr>
            </a:pPr>
            <a:r>
              <a:t>34–37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41248"/>
            <a:ext cx="11018520" cy="7498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70"/>
              </a:lnSpc>
              <a:spcBef>
                <a:spcPts val="0"/>
              </a:spcBef>
              <a:spcAft>
                <a:spcPts val="0"/>
              </a:spcAft>
              <a:defRPr sz="2900" b="1">
                <a:solidFill>
                  <a:srgbClr val="132C3E"/>
                </a:solidFill>
                <a:latin typeface="Microsoft YaHei"/>
              </a:defRPr>
            </a:pPr>
            <a:r>
              <a:t>运行一次真实的下一 token 训练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19088" y="1700784"/>
            <a:ext cx="5166360" cy="37124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84708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192938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865376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真实 ByteLevel BPE，7 句训练文本、57 对相</a:t>
            </a:r>
          </a:p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邻 token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280720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" y="288950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2825496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nn.Embedding(320,16) → Linear(16,320)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376732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" y="384962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785615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Adam 训练 120 步，观察 loss 与表行变化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0" y="2011680"/>
            <a:ext cx="4389120" cy="502920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31152" y="2093976"/>
            <a:ext cx="4242816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57 个相邻 token 训练 pair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052560" y="2523744"/>
            <a:ext cx="0" cy="182880"/>
          </a:xfrm>
          <a:prstGeom prst="line">
            <a:avLst/>
          </a:prstGeom>
          <a:ln w="2159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Isosceles Triangle 18"/>
          <p:cNvSpPr/>
          <p:nvPr/>
        </p:nvSpPr>
        <p:spPr>
          <a:xfrm rot="10800000">
            <a:off x="9020556" y="2665476"/>
            <a:ext cx="64008" cy="82296"/>
          </a:xfrm>
          <a:prstGeom prst="triangle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858000" y="2715768"/>
            <a:ext cx="4389120" cy="502920"/>
          </a:xfrm>
          <a:prstGeom prst="roundRect">
            <a:avLst>
              <a:gd name="adj" fmla="val 6000"/>
            </a:avLst>
          </a:prstGeom>
          <a:solidFill>
            <a:srgbClr val="DE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31152" y="2798064"/>
            <a:ext cx="4242816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Embedding(320,16)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9052560" y="3227832"/>
            <a:ext cx="0" cy="182880"/>
          </a:xfrm>
          <a:prstGeom prst="line">
            <a:avLst/>
          </a:prstGeom>
          <a:ln w="2159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Isosceles Triangle 22"/>
          <p:cNvSpPr/>
          <p:nvPr/>
        </p:nvSpPr>
        <p:spPr>
          <a:xfrm rot="10800000">
            <a:off x="9020556" y="3369564"/>
            <a:ext cx="64008" cy="82296"/>
          </a:xfrm>
          <a:prstGeom prst="triangle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858000" y="3419856"/>
            <a:ext cx="4389120" cy="502920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31152" y="3502152"/>
            <a:ext cx="4242816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Linear(16,320) → CE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9052560" y="3931920"/>
            <a:ext cx="0" cy="182880"/>
          </a:xfrm>
          <a:prstGeom prst="line">
            <a:avLst/>
          </a:prstGeom>
          <a:ln w="2159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Isosceles Triangle 26"/>
          <p:cNvSpPr/>
          <p:nvPr/>
        </p:nvSpPr>
        <p:spPr>
          <a:xfrm rot="10800000">
            <a:off x="9020556" y="4073652"/>
            <a:ext cx="64008" cy="82296"/>
          </a:xfrm>
          <a:prstGeom prst="triangle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858000" y="4123944"/>
            <a:ext cx="4389120" cy="502920"/>
          </a:xfrm>
          <a:prstGeom prst="roundRect">
            <a:avLst>
              <a:gd name="adj" fmla="val 6000"/>
            </a:avLst>
          </a:prstGeom>
          <a:solidFill>
            <a:srgbClr val="DE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31152" y="4206240"/>
            <a:ext cx="4242816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120步：5.7565 → 0.3559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94360" y="5596128"/>
            <a:ext cx="10991088" cy="630936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5528" y="5742432"/>
            <a:ext cx="10579608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1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087F8C"/>
                </a:solidFill>
                <a:latin typeface="Microsoft YaHei"/>
              </a:defRPr>
            </a:pPr>
            <a:r>
              <a:t>实测 loss：5.7565 → 0.3559；26 个输入表行发生更新。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" y="6464808"/>
            <a:ext cx="841248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C6F7B"/>
                </a:solidFill>
                <a:latin typeface="Microsoft YaHei"/>
              </a:defRPr>
            </a:pPr>
            <a:r>
              <a:t>TRANSFORMER NEWBIE  /  CLASS 2  /  TOKEN · EMBEDDING · POSITION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725912" y="6464808"/>
            <a:ext cx="841248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C6F7B"/>
                </a:solidFill>
                <a:latin typeface="Microsoft YaHei"/>
              </a:defRPr>
            </a:pPr>
            <a:r>
              <a:t>12 / 21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83210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087F8C"/>
                </a:solidFill>
                <a:latin typeface="Microsoft YaHei"/>
              </a:defRPr>
            </a:pPr>
            <a:r>
              <a:t>二 / 参数共享与表示边界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35440" y="320040"/>
            <a:ext cx="2359152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5C6F7B"/>
                </a:solidFill>
                <a:latin typeface="Microsoft YaHei"/>
              </a:defRPr>
            </a:pPr>
            <a:r>
              <a:t>37–39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41248"/>
            <a:ext cx="11018520" cy="7498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70"/>
              </a:lnSpc>
              <a:spcBef>
                <a:spcPts val="0"/>
              </a:spcBef>
              <a:spcAft>
                <a:spcPts val="0"/>
              </a:spcAft>
              <a:defRPr sz="2900" b="1">
                <a:solidFill>
                  <a:srgbClr val="132C3E"/>
                </a:solidFill>
                <a:latin typeface="Microsoft YaHei"/>
              </a:defRPr>
            </a:pPr>
            <a:r>
              <a:t>输入表、输出表与权重绑定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19088" y="1700784"/>
            <a:ext cx="5166360" cy="37124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84708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192938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865376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输入 embedding 与输出投影可共用 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280720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" y="288950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2825496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权重绑定：logits = h E^T + b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376732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" y="384962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785615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同一输入表行固定，经过上下文后的隐藏表示</a:t>
            </a:r>
          </a:p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可变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0" y="2011680"/>
            <a:ext cx="4389120" cy="502920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31152" y="2093976"/>
            <a:ext cx="4242816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6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132C3E"/>
                </a:solidFill>
                <a:latin typeface="Microsoft YaHei"/>
              </a:defRPr>
            </a:pPr>
            <a:r>
              <a:t>输入路径：gather(E,I)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052560" y="2523744"/>
            <a:ext cx="0" cy="182880"/>
          </a:xfrm>
          <a:prstGeom prst="line">
            <a:avLst/>
          </a:prstGeom>
          <a:ln w="2159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Isosceles Triangle 18"/>
          <p:cNvSpPr/>
          <p:nvPr/>
        </p:nvSpPr>
        <p:spPr>
          <a:xfrm rot="10800000">
            <a:off x="9020556" y="2665476"/>
            <a:ext cx="64008" cy="82296"/>
          </a:xfrm>
          <a:prstGeom prst="triangle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858000" y="2715768"/>
            <a:ext cx="4389120" cy="502920"/>
          </a:xfrm>
          <a:prstGeom prst="roundRect">
            <a:avLst>
              <a:gd name="adj" fmla="val 6000"/>
            </a:avLst>
          </a:prstGeom>
          <a:solidFill>
            <a:srgbClr val="DE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31152" y="2798064"/>
            <a:ext cx="4242816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6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132C3E"/>
                </a:solidFill>
                <a:latin typeface="Microsoft YaHei"/>
              </a:defRPr>
            </a:pPr>
            <a:r>
              <a:t>输出路径：h @ E^T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9052560" y="3227832"/>
            <a:ext cx="0" cy="182880"/>
          </a:xfrm>
          <a:prstGeom prst="line">
            <a:avLst/>
          </a:prstGeom>
          <a:ln w="2159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Isosceles Triangle 22"/>
          <p:cNvSpPr/>
          <p:nvPr/>
        </p:nvSpPr>
        <p:spPr>
          <a:xfrm rot="10800000">
            <a:off x="9020556" y="3369564"/>
            <a:ext cx="64008" cy="82296"/>
          </a:xfrm>
          <a:prstGeom prst="triangle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858000" y="3419856"/>
            <a:ext cx="4389120" cy="502920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31152" y="3502152"/>
            <a:ext cx="4242816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6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132C3E"/>
                </a:solidFill>
                <a:latin typeface="Microsoft YaHei"/>
              </a:defRPr>
            </a:pPr>
            <a:r>
              <a:t>同一个参数 E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9052560" y="3931920"/>
            <a:ext cx="0" cy="182880"/>
          </a:xfrm>
          <a:prstGeom prst="line">
            <a:avLst/>
          </a:prstGeom>
          <a:ln w="2159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Isosceles Triangle 26"/>
          <p:cNvSpPr/>
          <p:nvPr/>
        </p:nvSpPr>
        <p:spPr>
          <a:xfrm rot="10800000">
            <a:off x="9020556" y="4073652"/>
            <a:ext cx="64008" cy="82296"/>
          </a:xfrm>
          <a:prstGeom prst="triangle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858000" y="4123944"/>
            <a:ext cx="4389120" cy="502920"/>
          </a:xfrm>
          <a:prstGeom prst="roundRect">
            <a:avLst>
              <a:gd name="adj" fmla="val 6000"/>
            </a:avLst>
          </a:prstGeom>
          <a:solidFill>
            <a:srgbClr val="DE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31152" y="4206240"/>
            <a:ext cx="4242816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6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132C3E"/>
                </a:solidFill>
                <a:latin typeface="Microsoft YaHei"/>
              </a:defRPr>
            </a:pPr>
            <a:r>
              <a:t>两条梯度路径在 E 上相加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94360" y="5596128"/>
            <a:ext cx="10991088" cy="630936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5528" y="5742432"/>
            <a:ext cx="10579608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1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087F8C"/>
                </a:solidFill>
                <a:latin typeface="Microsoft YaHei"/>
              </a:defRPr>
            </a:pPr>
            <a:r>
              <a:t>绑定权重后，E 会同时接收输入 lookup 与输出分类器的梯度。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" y="6464808"/>
            <a:ext cx="841248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C6F7B"/>
                </a:solidFill>
                <a:latin typeface="Microsoft YaHei"/>
              </a:defRPr>
            </a:pPr>
            <a:r>
              <a:t>TRANSFORMER NEWBIE  /  CLASS 2  /  TOKEN · EMBEDDING · POSITION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725912" y="6464808"/>
            <a:ext cx="841248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C6F7B"/>
                </a:solidFill>
                <a:latin typeface="Microsoft YaHei"/>
              </a:defRPr>
            </a:pPr>
            <a:r>
              <a:t>13 / 21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83210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087F8C"/>
                </a:solidFill>
                <a:latin typeface="Microsoft YaHei"/>
              </a:defRPr>
            </a:pPr>
            <a:r>
              <a:t>三 / 顺序问题的准确表述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35440" y="320040"/>
            <a:ext cx="2359152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5C6F7B"/>
                </a:solidFill>
                <a:latin typeface="Microsoft YaHei"/>
              </a:defRPr>
            </a:pPr>
            <a:r>
              <a:t>39–42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41248"/>
            <a:ext cx="11018520" cy="7498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70"/>
              </a:lnSpc>
              <a:spcBef>
                <a:spcPts val="0"/>
              </a:spcBef>
              <a:spcAft>
                <a:spcPts val="0"/>
              </a:spcAft>
              <a:defRPr sz="2900" b="1">
                <a:solidFill>
                  <a:srgbClr val="132C3E"/>
                </a:solidFill>
                <a:latin typeface="Microsoft YaHei"/>
              </a:defRPr>
            </a:pPr>
            <a:r>
              <a:t>无位置时：为什么是置换等变？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19088" y="1700784"/>
            <a:ext cx="5166360" cy="37124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84708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192938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865376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行置换 P：Q′=PQ，K′=PK，V′=PV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280720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" y="288950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2825496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分数矩阵随之变成 P(QK^T)P^T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376732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" y="384962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785615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逐行 softmax 后，Attn(PX)=P Attn(X)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0" y="2011680"/>
            <a:ext cx="4389120" cy="502920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31152" y="2093976"/>
            <a:ext cx="4242816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6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132C3E"/>
                </a:solidFill>
                <a:latin typeface="Microsoft YaHei"/>
              </a:defRPr>
            </a:pPr>
            <a:r>
              <a:t>X → Q,K,V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052560" y="2523744"/>
            <a:ext cx="0" cy="182880"/>
          </a:xfrm>
          <a:prstGeom prst="line">
            <a:avLst/>
          </a:prstGeom>
          <a:ln w="2159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Isosceles Triangle 18"/>
          <p:cNvSpPr/>
          <p:nvPr/>
        </p:nvSpPr>
        <p:spPr>
          <a:xfrm rot="10800000">
            <a:off x="9020556" y="2665476"/>
            <a:ext cx="64008" cy="82296"/>
          </a:xfrm>
          <a:prstGeom prst="triangle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858000" y="2715768"/>
            <a:ext cx="4389120" cy="502920"/>
          </a:xfrm>
          <a:prstGeom prst="roundRect">
            <a:avLst>
              <a:gd name="adj" fmla="val 6000"/>
            </a:avLst>
          </a:prstGeom>
          <a:solidFill>
            <a:srgbClr val="DE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31152" y="2798064"/>
            <a:ext cx="4242816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6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132C3E"/>
                </a:solidFill>
                <a:latin typeface="Microsoft YaHei"/>
              </a:defRPr>
            </a:pPr>
            <a:r>
              <a:t>PX → PQ,PK,PV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9052560" y="3227832"/>
            <a:ext cx="0" cy="182880"/>
          </a:xfrm>
          <a:prstGeom prst="line">
            <a:avLst/>
          </a:prstGeom>
          <a:ln w="2159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Isosceles Triangle 22"/>
          <p:cNvSpPr/>
          <p:nvPr/>
        </p:nvSpPr>
        <p:spPr>
          <a:xfrm rot="10800000">
            <a:off x="9020556" y="3369564"/>
            <a:ext cx="64008" cy="82296"/>
          </a:xfrm>
          <a:prstGeom prst="triangle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858000" y="3419856"/>
            <a:ext cx="4389120" cy="502920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31152" y="3502152"/>
            <a:ext cx="4242816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6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132C3E"/>
                </a:solidFill>
                <a:latin typeface="Microsoft YaHei"/>
              </a:defRPr>
            </a:pPr>
            <a:r>
              <a:t>scores′ = P scores P^T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9052560" y="3931920"/>
            <a:ext cx="0" cy="182880"/>
          </a:xfrm>
          <a:prstGeom prst="line">
            <a:avLst/>
          </a:prstGeom>
          <a:ln w="2159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Isosceles Triangle 26"/>
          <p:cNvSpPr/>
          <p:nvPr/>
        </p:nvSpPr>
        <p:spPr>
          <a:xfrm rot="10800000">
            <a:off x="9020556" y="4073652"/>
            <a:ext cx="64008" cy="82296"/>
          </a:xfrm>
          <a:prstGeom prst="triangle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858000" y="4123944"/>
            <a:ext cx="4389120" cy="502920"/>
          </a:xfrm>
          <a:prstGeom prst="roundRect">
            <a:avLst>
              <a:gd name="adj" fmla="val 6000"/>
            </a:avLst>
          </a:prstGeom>
          <a:solidFill>
            <a:srgbClr val="DE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31152" y="4206240"/>
            <a:ext cx="4242816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6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132C3E"/>
                </a:solidFill>
                <a:latin typeface="Microsoft YaHei"/>
              </a:defRPr>
            </a:pPr>
            <a:r>
              <a:t>Attn(PX) = P Attn(X)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0" y="5047488"/>
            <a:ext cx="4389120" cy="2468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5C6F7B"/>
                </a:solidFill>
                <a:latin typeface="Microsoft YaHei"/>
              </a:defRPr>
            </a:pPr>
            <a:r>
              <a:t>仅讨论无位置且无遮罩的标准注意力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94360" y="5596128"/>
            <a:ext cx="10991088" cy="630936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95528" y="5742432"/>
            <a:ext cx="10579608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1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087F8C"/>
                </a:solidFill>
                <a:latin typeface="Microsoft YaHei"/>
              </a:defRPr>
            </a:pPr>
            <a:r>
              <a:t>这里假设没有位置机制、没有因果 mask；等变不等于输出完全相同。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" y="6464808"/>
            <a:ext cx="841248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C6F7B"/>
                </a:solidFill>
                <a:latin typeface="Microsoft YaHei"/>
              </a:defRPr>
            </a:pPr>
            <a:r>
              <a:t>TRANSFORMER NEWBIE  /  CLASS 2  /  TOKEN · EMBEDDING · POSITION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725912" y="6464808"/>
            <a:ext cx="841248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C6F7B"/>
                </a:solidFill>
                <a:latin typeface="Microsoft YaHei"/>
              </a:defRPr>
            </a:pPr>
            <a:r>
              <a:t>14 / 21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83210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087F8C"/>
                </a:solidFill>
                <a:latin typeface="Microsoft YaHei"/>
              </a:defRPr>
            </a:pPr>
            <a:r>
              <a:t>三 / 位置从何处进入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35440" y="320040"/>
            <a:ext cx="2359152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5C6F7B"/>
                </a:solidFill>
                <a:latin typeface="Microsoft YaHei"/>
              </a:defRPr>
            </a:pPr>
            <a:r>
              <a:t>42–45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41248"/>
            <a:ext cx="11018520" cy="7498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70"/>
              </a:lnSpc>
              <a:spcBef>
                <a:spcPts val="0"/>
              </a:spcBef>
              <a:spcAft>
                <a:spcPts val="0"/>
              </a:spcAft>
              <a:defRPr sz="2900" b="1">
                <a:solidFill>
                  <a:srgbClr val="132C3E"/>
                </a:solidFill>
                <a:latin typeface="Microsoft YaHei"/>
              </a:defRPr>
            </a:pPr>
            <a:r>
              <a:t>绝对位置：学习表与固定函数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19088" y="1700784"/>
            <a:ext cx="5166360" cy="37124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84708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192938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865376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可学习 P:[L,D]，按 token 位置索引查行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280720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" y="288950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2825496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相加式输入 X_p = E[I_p] + P_p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376732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" y="384962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785615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正弦编码用固定公式，维度与输入一致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0" y="2011680"/>
            <a:ext cx="4389120" cy="502920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31152" y="2093976"/>
            <a:ext cx="4242816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6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132C3E"/>
                </a:solidFill>
                <a:latin typeface="Microsoft YaHei"/>
              </a:defRPr>
            </a:pPr>
            <a:r>
              <a:t>内容表 E：[V,D]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052560" y="2523744"/>
            <a:ext cx="0" cy="182880"/>
          </a:xfrm>
          <a:prstGeom prst="line">
            <a:avLst/>
          </a:prstGeom>
          <a:ln w="2159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Isosceles Triangle 18"/>
          <p:cNvSpPr/>
          <p:nvPr/>
        </p:nvSpPr>
        <p:spPr>
          <a:xfrm rot="10800000">
            <a:off x="9020556" y="2665476"/>
            <a:ext cx="64008" cy="82296"/>
          </a:xfrm>
          <a:prstGeom prst="triangle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858000" y="2715768"/>
            <a:ext cx="4389120" cy="502920"/>
          </a:xfrm>
          <a:prstGeom prst="roundRect">
            <a:avLst>
              <a:gd name="adj" fmla="val 6000"/>
            </a:avLst>
          </a:prstGeom>
          <a:solidFill>
            <a:srgbClr val="DE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31152" y="2798064"/>
            <a:ext cx="4242816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6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132C3E"/>
                </a:solidFill>
                <a:latin typeface="Microsoft YaHei"/>
              </a:defRPr>
            </a:pPr>
            <a:r>
              <a:t>学习式位置表 P：[L,D]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9052560" y="3227832"/>
            <a:ext cx="0" cy="182880"/>
          </a:xfrm>
          <a:prstGeom prst="line">
            <a:avLst/>
          </a:prstGeom>
          <a:ln w="2159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Isosceles Triangle 22"/>
          <p:cNvSpPr/>
          <p:nvPr/>
        </p:nvSpPr>
        <p:spPr>
          <a:xfrm rot="10800000">
            <a:off x="9020556" y="3369564"/>
            <a:ext cx="64008" cy="82296"/>
          </a:xfrm>
          <a:prstGeom prst="triangle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858000" y="3419856"/>
            <a:ext cx="4389120" cy="502920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31152" y="3502152"/>
            <a:ext cx="4242816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6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132C3E"/>
                </a:solidFill>
                <a:latin typeface="Microsoft YaHei"/>
              </a:defRPr>
            </a:pPr>
            <a:r>
              <a:t>或用固定函数计算 PE(p)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9052560" y="3931920"/>
            <a:ext cx="0" cy="182880"/>
          </a:xfrm>
          <a:prstGeom prst="line">
            <a:avLst/>
          </a:prstGeom>
          <a:ln w="2159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Isosceles Triangle 26"/>
          <p:cNvSpPr/>
          <p:nvPr/>
        </p:nvSpPr>
        <p:spPr>
          <a:xfrm rot="10800000">
            <a:off x="9020556" y="4073652"/>
            <a:ext cx="64008" cy="82296"/>
          </a:xfrm>
          <a:prstGeom prst="triangle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858000" y="4123944"/>
            <a:ext cx="4389120" cy="502920"/>
          </a:xfrm>
          <a:prstGeom prst="roundRect">
            <a:avLst>
              <a:gd name="adj" fmla="val 6000"/>
            </a:avLst>
          </a:prstGeom>
          <a:solidFill>
            <a:srgbClr val="DE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31152" y="4206240"/>
            <a:ext cx="4242816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6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132C3E"/>
                </a:solidFill>
                <a:latin typeface="Microsoft YaHei"/>
              </a:defRPr>
            </a:pPr>
            <a:r>
              <a:t>X_p = E[I_p] + P_p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94360" y="5596128"/>
            <a:ext cx="10991088" cy="630936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5528" y="5742432"/>
            <a:ext cx="10579608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1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087F8C"/>
                </a:solidFill>
                <a:latin typeface="Microsoft YaHei"/>
              </a:defRPr>
            </a:pPr>
            <a:r>
              <a:t>P 的索引是 token 位置；L 限制学习式表能直接查询的范围。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" y="6464808"/>
            <a:ext cx="841248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C6F7B"/>
                </a:solidFill>
                <a:latin typeface="Microsoft YaHei"/>
              </a:defRPr>
            </a:pPr>
            <a:r>
              <a:t>TRANSFORMER NEWBIE  /  CLASS 2  /  TOKEN · EMBEDDING · POSITION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725912" y="6464808"/>
            <a:ext cx="841248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C6F7B"/>
                </a:solidFill>
                <a:latin typeface="Microsoft YaHei"/>
              </a:defRPr>
            </a:pPr>
            <a:r>
              <a:t>15 / 21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83210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087F8C"/>
                </a:solidFill>
                <a:latin typeface="Microsoft YaHei"/>
              </a:defRPr>
            </a:pPr>
            <a:r>
              <a:t>三 / 从公式到向量化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35440" y="320040"/>
            <a:ext cx="2359152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5C6F7B"/>
                </a:solidFill>
                <a:latin typeface="Microsoft YaHei"/>
              </a:defRPr>
            </a:pPr>
            <a:r>
              <a:t>45–48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41248"/>
            <a:ext cx="11018520" cy="7498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70"/>
              </a:lnSpc>
              <a:spcBef>
                <a:spcPts val="0"/>
              </a:spcBef>
              <a:spcAft>
                <a:spcPts val="0"/>
              </a:spcAft>
              <a:defRPr sz="2900" b="1">
                <a:solidFill>
                  <a:srgbClr val="132C3E"/>
                </a:solidFill>
                <a:latin typeface="Microsoft YaHei"/>
              </a:defRPr>
            </a:pPr>
            <a:r>
              <a:t>正弦为什么使用多组频率？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19088" y="1700784"/>
            <a:ext cx="5166360" cy="37124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84708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192938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865376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θ_i=10000^(−2i/D)，第 i 对使用 pθ_i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280720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" y="288950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2825496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PE 的相邻两维为 sin(pθ_i)、cos(pθ_i)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376732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" y="384962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785615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固定偏移 Δ 可由同一二维线性变换表示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" y="4736592"/>
            <a:ext cx="5513832" cy="603504"/>
          </a:xfrm>
          <a:prstGeom prst="roundRect">
            <a:avLst>
              <a:gd name="adj" fmla="val 6000"/>
            </a:avLst>
          </a:prstGeom>
          <a:solidFill>
            <a:srgbClr val="132C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" y="4818888"/>
            <a:ext cx="5175504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angles = positions[:, None] * frequencies[None, :]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0" y="2011680"/>
            <a:ext cx="4389120" cy="502920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31152" y="2093976"/>
            <a:ext cx="4242816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34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32C3E"/>
                </a:solidFill>
                <a:latin typeface="Microsoft YaHei"/>
              </a:defRPr>
            </a:pPr>
            <a:r>
              <a:t>D=4 → 频率 [1, 0.01]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9052560" y="2523744"/>
            <a:ext cx="0" cy="182880"/>
          </a:xfrm>
          <a:prstGeom prst="line">
            <a:avLst/>
          </a:prstGeom>
          <a:ln w="2159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Isosceles Triangle 20"/>
          <p:cNvSpPr/>
          <p:nvPr/>
        </p:nvSpPr>
        <p:spPr>
          <a:xfrm rot="10800000">
            <a:off x="9020556" y="2665476"/>
            <a:ext cx="64008" cy="82296"/>
          </a:xfrm>
          <a:prstGeom prst="triangle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858000" y="2715768"/>
            <a:ext cx="4389120" cy="502920"/>
          </a:xfrm>
          <a:prstGeom prst="roundRect">
            <a:avLst>
              <a:gd name="adj" fmla="val 6000"/>
            </a:avLst>
          </a:prstGeom>
          <a:solidFill>
            <a:srgbClr val="DE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31152" y="2798064"/>
            <a:ext cx="4242816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34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32C3E"/>
                </a:solidFill>
                <a:latin typeface="Microsoft YaHei"/>
              </a:defRPr>
            </a:pPr>
            <a:r>
              <a:t>positions：[T]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9052560" y="3227832"/>
            <a:ext cx="0" cy="182880"/>
          </a:xfrm>
          <a:prstGeom prst="line">
            <a:avLst/>
          </a:prstGeom>
          <a:ln w="2159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Isosceles Triangle 24"/>
          <p:cNvSpPr/>
          <p:nvPr/>
        </p:nvSpPr>
        <p:spPr>
          <a:xfrm rot="10800000">
            <a:off x="9020556" y="3369564"/>
            <a:ext cx="64008" cy="82296"/>
          </a:xfrm>
          <a:prstGeom prst="triangle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858000" y="3419856"/>
            <a:ext cx="4389120" cy="502920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931152" y="3502152"/>
            <a:ext cx="4242816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34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32C3E"/>
                </a:solidFill>
                <a:latin typeface="Microsoft YaHei"/>
              </a:defRPr>
            </a:pPr>
            <a:r>
              <a:t>广播相乘 → angles：[T,2]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9052560" y="3931920"/>
            <a:ext cx="0" cy="182880"/>
          </a:xfrm>
          <a:prstGeom prst="line">
            <a:avLst/>
          </a:prstGeom>
          <a:ln w="2159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Isosceles Triangle 28"/>
          <p:cNvSpPr/>
          <p:nvPr/>
        </p:nvSpPr>
        <p:spPr>
          <a:xfrm rot="10800000">
            <a:off x="9020556" y="4073652"/>
            <a:ext cx="64008" cy="82296"/>
          </a:xfrm>
          <a:prstGeom prst="triangle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858000" y="4123944"/>
            <a:ext cx="4389120" cy="502920"/>
          </a:xfrm>
          <a:prstGeom prst="roundRect">
            <a:avLst>
              <a:gd name="adj" fmla="val 6000"/>
            </a:avLst>
          </a:prstGeom>
          <a:solidFill>
            <a:srgbClr val="DE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31152" y="4206240"/>
            <a:ext cx="4242816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34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32C3E"/>
                </a:solidFill>
                <a:latin typeface="Microsoft YaHei"/>
              </a:defRPr>
            </a:pPr>
            <a:r>
              <a:t>sin / cos 交错 → PE：[T,4]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5596128"/>
            <a:ext cx="10991088" cy="630936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95528" y="5742432"/>
            <a:ext cx="10579608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1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087F8C"/>
                </a:solidFill>
                <a:latin typeface="Microsoft YaHei"/>
              </a:defRPr>
            </a:pPr>
            <a:r>
              <a:t>sin((p+Δ)θ)=sin(pθ)cos(Δθ)+cos(pθ)sin(Δθ)。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360" y="6464808"/>
            <a:ext cx="841248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C6F7B"/>
                </a:solidFill>
                <a:latin typeface="Microsoft YaHei"/>
              </a:defRPr>
            </a:pPr>
            <a:r>
              <a:t>TRANSFORMER NEWBIE  /  CLASS 2  /  TOKEN · EMBEDDING · POSITION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725912" y="6464808"/>
            <a:ext cx="841248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C6F7B"/>
                </a:solidFill>
                <a:latin typeface="Microsoft YaHei"/>
              </a:defRPr>
            </a:pPr>
            <a:r>
              <a:t>16 / 21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83210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087F8C"/>
                </a:solidFill>
                <a:latin typeface="Microsoft YaHei"/>
              </a:defRPr>
            </a:pPr>
            <a:r>
              <a:t>三 / 旋转与 Attention 点积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35440" y="320040"/>
            <a:ext cx="2359152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5C6F7B"/>
                </a:solidFill>
                <a:latin typeface="Microsoft YaHei"/>
              </a:defRPr>
            </a:pPr>
            <a:r>
              <a:t>48–51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41248"/>
            <a:ext cx="11018520" cy="7498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70"/>
              </a:lnSpc>
              <a:spcBef>
                <a:spcPts val="0"/>
              </a:spcBef>
              <a:spcAft>
                <a:spcPts val="0"/>
              </a:spcAft>
              <a:defRPr sz="2900" b="1">
                <a:solidFill>
                  <a:srgbClr val="132C3E"/>
                </a:solidFill>
                <a:latin typeface="Microsoft YaHei"/>
              </a:defRPr>
            </a:pPr>
            <a:r>
              <a:t>RoPE 二维推导：相对位移从哪来？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19088" y="1700784"/>
            <a:ext cx="5166360" cy="37124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84708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192938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865376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R(φ)=[[cosφ,−sinφ],[sinφ,cosφ]]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280720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" y="288950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2825496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q′_m=R(mθ)q，k′_n=R(nθ)k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376732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" y="384962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785615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q′_m^T k′_n = q^T R((n−m)θ) k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0" y="2011680"/>
            <a:ext cx="4389120" cy="502920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31152" y="2093976"/>
            <a:ext cx="4242816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34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32C3E"/>
                </a:solidFill>
                <a:latin typeface="Microsoft YaHei"/>
              </a:defRPr>
            </a:pPr>
            <a:r>
              <a:t>q′ = R(mθ) q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052560" y="2523744"/>
            <a:ext cx="0" cy="182880"/>
          </a:xfrm>
          <a:prstGeom prst="line">
            <a:avLst/>
          </a:prstGeom>
          <a:ln w="2159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Isosceles Triangle 18"/>
          <p:cNvSpPr/>
          <p:nvPr/>
        </p:nvSpPr>
        <p:spPr>
          <a:xfrm rot="10800000">
            <a:off x="9020556" y="2665476"/>
            <a:ext cx="64008" cy="82296"/>
          </a:xfrm>
          <a:prstGeom prst="triangle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858000" y="2715768"/>
            <a:ext cx="4389120" cy="502920"/>
          </a:xfrm>
          <a:prstGeom prst="roundRect">
            <a:avLst>
              <a:gd name="adj" fmla="val 6000"/>
            </a:avLst>
          </a:prstGeom>
          <a:solidFill>
            <a:srgbClr val="DE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31152" y="2798064"/>
            <a:ext cx="4242816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34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32C3E"/>
                </a:solidFill>
                <a:latin typeface="Microsoft YaHei"/>
              </a:defRPr>
            </a:pPr>
            <a:r>
              <a:t>k′ = R(nθ) k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9052560" y="3227832"/>
            <a:ext cx="0" cy="182880"/>
          </a:xfrm>
          <a:prstGeom prst="line">
            <a:avLst/>
          </a:prstGeom>
          <a:ln w="2159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Isosceles Triangle 22"/>
          <p:cNvSpPr/>
          <p:nvPr/>
        </p:nvSpPr>
        <p:spPr>
          <a:xfrm rot="10800000">
            <a:off x="9020556" y="3369564"/>
            <a:ext cx="64008" cy="82296"/>
          </a:xfrm>
          <a:prstGeom prst="triangle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858000" y="3419856"/>
            <a:ext cx="4389120" cy="502920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31152" y="3502152"/>
            <a:ext cx="4242816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34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32C3E"/>
                </a:solidFill>
                <a:latin typeface="Microsoft YaHei"/>
              </a:defRPr>
            </a:pPr>
            <a:r>
              <a:t>R(mθ)^T R(nθ) = R((n−m)θ)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9052560" y="3931920"/>
            <a:ext cx="0" cy="182880"/>
          </a:xfrm>
          <a:prstGeom prst="line">
            <a:avLst/>
          </a:prstGeom>
          <a:ln w="2159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Isosceles Triangle 26"/>
          <p:cNvSpPr/>
          <p:nvPr/>
        </p:nvSpPr>
        <p:spPr>
          <a:xfrm rot="10800000">
            <a:off x="9020556" y="4073652"/>
            <a:ext cx="64008" cy="82296"/>
          </a:xfrm>
          <a:prstGeom prst="triangle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858000" y="4123944"/>
            <a:ext cx="4389120" cy="502920"/>
          </a:xfrm>
          <a:prstGeom prst="roundRect">
            <a:avLst>
              <a:gd name="adj" fmla="val 6000"/>
            </a:avLst>
          </a:prstGeom>
          <a:solidFill>
            <a:srgbClr val="DE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31152" y="4206240"/>
            <a:ext cx="4242816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34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32C3E"/>
                </a:solidFill>
                <a:latin typeface="Microsoft YaHei"/>
              </a:defRPr>
            </a:pPr>
            <a:r>
              <a:t>点积依赖相对位移 n−m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94360" y="5596128"/>
            <a:ext cx="10991088" cy="630936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5528" y="5742432"/>
            <a:ext cx="10579608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1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087F8C"/>
                </a:solidFill>
                <a:latin typeface="Microsoft YaHei"/>
              </a:defRPr>
            </a:pPr>
            <a:r>
              <a:t>关键等式：R(mθ)^TR(nθ)=R((n−m)θ)。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" y="6464808"/>
            <a:ext cx="841248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C6F7B"/>
                </a:solidFill>
                <a:latin typeface="Microsoft YaHei"/>
              </a:defRPr>
            </a:pPr>
            <a:r>
              <a:t>TRANSFORMER NEWBIE  /  CLASS 2  /  TOKEN · EMBEDDING · POSITION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725912" y="6464808"/>
            <a:ext cx="841248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C6F7B"/>
                </a:solidFill>
                <a:latin typeface="Microsoft YaHei"/>
              </a:defRPr>
            </a:pPr>
            <a:r>
              <a:t>17 / 21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83210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087F8C"/>
                </a:solidFill>
                <a:latin typeface="Microsoft YaHei"/>
              </a:defRPr>
            </a:pPr>
            <a:r>
              <a:t>三 / 从二维旋转到多头 Q/K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35440" y="320040"/>
            <a:ext cx="2359152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5C6F7B"/>
                </a:solidFill>
                <a:latin typeface="Microsoft YaHei"/>
              </a:defRPr>
            </a:pPr>
            <a:r>
              <a:t>51–54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41248"/>
            <a:ext cx="11018520" cy="7498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70"/>
              </a:lnSpc>
              <a:spcBef>
                <a:spcPts val="0"/>
              </a:spcBef>
              <a:spcAft>
                <a:spcPts val="0"/>
              </a:spcAft>
              <a:defRPr sz="2900" b="1">
                <a:solidFill>
                  <a:srgbClr val="132C3E"/>
                </a:solidFill>
                <a:latin typeface="Microsoft YaHei"/>
              </a:defRPr>
            </a:pPr>
            <a:r>
              <a:t>把 RoPE 写成张量运算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19088" y="1700784"/>
            <a:ext cx="5166360" cy="37124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84708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192938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865376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本例按相邻维度配对：even=x[...,0::2]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280720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" y="288950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2825496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每组频率分别旋转，广播到 batch 与 head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376732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" y="384962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785615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Q/K:[B,H,T,d_h]，对最后一维应用旋转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" y="4736592"/>
            <a:ext cx="5513832" cy="603504"/>
          </a:xfrm>
          <a:prstGeom prst="roundRect">
            <a:avLst>
              <a:gd name="adj" fmla="val 6000"/>
            </a:avLst>
          </a:prstGeom>
          <a:solidFill>
            <a:srgbClr val="132C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" y="4818888"/>
            <a:ext cx="5175504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rot_even = even*cos - odd*sin</a:t>
            </a:r>
          </a:p>
          <a:p>
            <a:pPr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rot_odd  = even*sin + odd*cos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0" y="2011680"/>
            <a:ext cx="4389120" cy="502920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31152" y="2093976"/>
            <a:ext cx="4242816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34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32C3E"/>
                </a:solidFill>
                <a:latin typeface="Microsoft YaHei"/>
              </a:defRPr>
            </a:pPr>
            <a:r>
              <a:t>Q/K：[B,H,T,d_h]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9052560" y="2523744"/>
            <a:ext cx="0" cy="182880"/>
          </a:xfrm>
          <a:prstGeom prst="line">
            <a:avLst/>
          </a:prstGeom>
          <a:ln w="2159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Isosceles Triangle 20"/>
          <p:cNvSpPr/>
          <p:nvPr/>
        </p:nvSpPr>
        <p:spPr>
          <a:xfrm rot="10800000">
            <a:off x="9020556" y="2665476"/>
            <a:ext cx="64008" cy="82296"/>
          </a:xfrm>
          <a:prstGeom prst="triangle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858000" y="2715768"/>
            <a:ext cx="4389120" cy="502920"/>
          </a:xfrm>
          <a:prstGeom prst="roundRect">
            <a:avLst>
              <a:gd name="adj" fmla="val 6000"/>
            </a:avLst>
          </a:prstGeom>
          <a:solidFill>
            <a:srgbClr val="DE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31152" y="2798064"/>
            <a:ext cx="4242816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34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32C3E"/>
                </a:solidFill>
                <a:latin typeface="Microsoft YaHei"/>
              </a:defRPr>
            </a:pPr>
            <a:r>
              <a:t>按相邻维度拆 even / odd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9052560" y="3227832"/>
            <a:ext cx="0" cy="182880"/>
          </a:xfrm>
          <a:prstGeom prst="line">
            <a:avLst/>
          </a:prstGeom>
          <a:ln w="2159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Isosceles Triangle 24"/>
          <p:cNvSpPr/>
          <p:nvPr/>
        </p:nvSpPr>
        <p:spPr>
          <a:xfrm rot="10800000">
            <a:off x="9020556" y="3369564"/>
            <a:ext cx="64008" cy="82296"/>
          </a:xfrm>
          <a:prstGeom prst="triangle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858000" y="3419856"/>
            <a:ext cx="4389120" cy="502920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931152" y="3502152"/>
            <a:ext cx="4242816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34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32C3E"/>
                </a:solidFill>
                <a:latin typeface="Microsoft YaHei"/>
              </a:defRPr>
            </a:pPr>
            <a:r>
              <a:t>分别计算旋转的两个分量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9052560" y="3931920"/>
            <a:ext cx="0" cy="182880"/>
          </a:xfrm>
          <a:prstGeom prst="line">
            <a:avLst/>
          </a:prstGeom>
          <a:ln w="2159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Isosceles Triangle 28"/>
          <p:cNvSpPr/>
          <p:nvPr/>
        </p:nvSpPr>
        <p:spPr>
          <a:xfrm rot="10800000">
            <a:off x="9020556" y="4073652"/>
            <a:ext cx="64008" cy="82296"/>
          </a:xfrm>
          <a:prstGeom prst="triangle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858000" y="4123944"/>
            <a:ext cx="4389120" cy="502920"/>
          </a:xfrm>
          <a:prstGeom prst="roundRect">
            <a:avLst>
              <a:gd name="adj" fmla="val 6000"/>
            </a:avLst>
          </a:prstGeom>
          <a:solidFill>
            <a:srgbClr val="DE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31152" y="4206240"/>
            <a:ext cx="4242816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34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32C3E"/>
                </a:solidFill>
                <a:latin typeface="Microsoft YaHei"/>
              </a:defRPr>
            </a:pPr>
            <a:r>
              <a:t>形状与每个向量范数保持不变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5596128"/>
            <a:ext cx="10991088" cy="630936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95528" y="5742432"/>
            <a:ext cx="10579608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1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087F8C"/>
                </a:solidFill>
                <a:latin typeface="Microsoft YaHei"/>
              </a:defRPr>
            </a:pPr>
            <a:r>
              <a:t>RoPE 保持每个向量范数；点积仍会随相对位置改变。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360" y="6464808"/>
            <a:ext cx="841248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C6F7B"/>
                </a:solidFill>
                <a:latin typeface="Microsoft YaHei"/>
              </a:defRPr>
            </a:pPr>
            <a:r>
              <a:t>TRANSFORMER NEWBIE  /  CLASS 2  /  TOKEN · EMBEDDING · POSITION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725912" y="6464808"/>
            <a:ext cx="841248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C6F7B"/>
                </a:solidFill>
                <a:latin typeface="Microsoft YaHei"/>
              </a:defRPr>
            </a:pPr>
            <a:r>
              <a:t>18 / 21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83210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087F8C"/>
                </a:solidFill>
                <a:latin typeface="Microsoft YaHei"/>
              </a:defRPr>
            </a:pPr>
            <a:r>
              <a:t>三 / 不同维度的约束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35440" y="320040"/>
            <a:ext cx="2359152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5C6F7B"/>
                </a:solidFill>
                <a:latin typeface="Microsoft YaHei"/>
              </a:defRPr>
            </a:pPr>
            <a:r>
              <a:t>54–56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41248"/>
            <a:ext cx="11018520" cy="7498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70"/>
              </a:lnSpc>
              <a:spcBef>
                <a:spcPts val="0"/>
              </a:spcBef>
              <a:spcAft>
                <a:spcPts val="0"/>
              </a:spcAft>
              <a:defRPr sz="2900" b="1">
                <a:solidFill>
                  <a:srgbClr val="132C3E"/>
                </a:solidFill>
                <a:latin typeface="Microsoft YaHei"/>
              </a:defRPr>
            </a:pPr>
            <a:r>
              <a:t>三种机制：位置、因果范围与 padding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19088" y="1700784"/>
            <a:ext cx="5166360" cy="37124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84708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192938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865376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RoPE 或绝对位置：让位置参与数值计算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280720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" y="288950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2825496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causal mask:[T,T]，限制读取未来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376732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" y="384962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785615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padding key mask:[B,1,1,T]，屏蔽补齐位置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0" y="2011680"/>
            <a:ext cx="4389120" cy="502920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31152" y="2093976"/>
            <a:ext cx="4242816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34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32C3E"/>
                </a:solidFill>
                <a:latin typeface="Microsoft YaHei"/>
              </a:defRPr>
            </a:pPr>
            <a:r>
              <a:t>位置机制 → 数值中的位置关系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052560" y="2523744"/>
            <a:ext cx="0" cy="182880"/>
          </a:xfrm>
          <a:prstGeom prst="line">
            <a:avLst/>
          </a:prstGeom>
          <a:ln w="2159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Isosceles Triangle 18"/>
          <p:cNvSpPr/>
          <p:nvPr/>
        </p:nvSpPr>
        <p:spPr>
          <a:xfrm rot="10800000">
            <a:off x="9020556" y="2665476"/>
            <a:ext cx="64008" cy="82296"/>
          </a:xfrm>
          <a:prstGeom prst="triangle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858000" y="2715768"/>
            <a:ext cx="4389120" cy="502920"/>
          </a:xfrm>
          <a:prstGeom prst="roundRect">
            <a:avLst>
              <a:gd name="adj" fmla="val 6000"/>
            </a:avLst>
          </a:prstGeom>
          <a:solidFill>
            <a:srgbClr val="DE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31152" y="2798064"/>
            <a:ext cx="4242816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34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32C3E"/>
                </a:solidFill>
                <a:latin typeface="Microsoft YaHei"/>
              </a:defRPr>
            </a:pPr>
            <a:r>
              <a:t>causal：[1,1,T,T]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9052560" y="3227832"/>
            <a:ext cx="0" cy="182880"/>
          </a:xfrm>
          <a:prstGeom prst="line">
            <a:avLst/>
          </a:prstGeom>
          <a:ln w="2159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Isosceles Triangle 22"/>
          <p:cNvSpPr/>
          <p:nvPr/>
        </p:nvSpPr>
        <p:spPr>
          <a:xfrm rot="10800000">
            <a:off x="9020556" y="3369564"/>
            <a:ext cx="64008" cy="82296"/>
          </a:xfrm>
          <a:prstGeom prst="triangle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858000" y="3419856"/>
            <a:ext cx="4389120" cy="502920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31152" y="3502152"/>
            <a:ext cx="4242816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34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32C3E"/>
                </a:solidFill>
                <a:latin typeface="Microsoft YaHei"/>
              </a:defRPr>
            </a:pPr>
            <a:r>
              <a:t>padding key：[B,1,1,T]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9052560" y="3931920"/>
            <a:ext cx="0" cy="182880"/>
          </a:xfrm>
          <a:prstGeom prst="line">
            <a:avLst/>
          </a:prstGeom>
          <a:ln w="2159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Isosceles Triangle 26"/>
          <p:cNvSpPr/>
          <p:nvPr/>
        </p:nvSpPr>
        <p:spPr>
          <a:xfrm rot="10800000">
            <a:off x="9020556" y="4073652"/>
            <a:ext cx="64008" cy="82296"/>
          </a:xfrm>
          <a:prstGeom prst="triangle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858000" y="4123944"/>
            <a:ext cx="4389120" cy="502920"/>
          </a:xfrm>
          <a:prstGeom prst="roundRect">
            <a:avLst>
              <a:gd name="adj" fmla="val 6000"/>
            </a:avLst>
          </a:prstGeom>
          <a:solidFill>
            <a:srgbClr val="DE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31152" y="4206240"/>
            <a:ext cx="4242816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34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32C3E"/>
                </a:solidFill>
                <a:latin typeface="Microsoft YaHei"/>
              </a:defRPr>
            </a:pPr>
            <a:r>
              <a:t>forbidden = future OR padding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94360" y="5596128"/>
            <a:ext cx="10991088" cy="630936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5528" y="5742432"/>
            <a:ext cx="10579608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1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087F8C"/>
                </a:solidFill>
                <a:latin typeface="Microsoft YaHei"/>
              </a:defRPr>
            </a:pPr>
            <a:r>
              <a:t>padding_idx、Attention mask、loss ignore_index 互不替代。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" y="6464808"/>
            <a:ext cx="841248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C6F7B"/>
                </a:solidFill>
                <a:latin typeface="Microsoft YaHei"/>
              </a:defRPr>
            </a:pPr>
            <a:r>
              <a:t>TRANSFORMER NEWBIE  /  CLASS 2  /  TOKEN · EMBEDDING · POSITION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725912" y="6464808"/>
            <a:ext cx="841248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C6F7B"/>
                </a:solidFill>
                <a:latin typeface="Microsoft YaHei"/>
              </a:defRPr>
            </a:pPr>
            <a:r>
              <a:t>19 / 21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83210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087F8C"/>
                </a:solidFill>
                <a:latin typeface="Microsoft YaHei"/>
              </a:defRPr>
            </a:pPr>
            <a:r>
              <a:t>收束 / 看清接口，不重讲完整模型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35440" y="320040"/>
            <a:ext cx="2359152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5C6F7B"/>
                </a:solidFill>
                <a:latin typeface="Microsoft YaHei"/>
              </a:defRPr>
            </a:pPr>
            <a:r>
              <a:t>56–58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41248"/>
            <a:ext cx="11018520" cy="7498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70"/>
              </a:lnSpc>
              <a:spcBef>
                <a:spcPts val="0"/>
              </a:spcBef>
              <a:spcAft>
                <a:spcPts val="0"/>
              </a:spcAft>
              <a:defRPr sz="2900" b="1">
                <a:solidFill>
                  <a:srgbClr val="132C3E"/>
                </a:solidFill>
                <a:latin typeface="Microsoft YaHei"/>
              </a:defRPr>
            </a:pPr>
            <a:r>
              <a:t>真实输入链路：把 shape 全部接上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19088" y="1700784"/>
            <a:ext cx="5166360" cy="37124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84708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192938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865376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真实 tokenizer → ID [2,6] → embedding [2,6,8</a:t>
            </a:r>
          </a:p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]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280720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" y="288950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2825496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投影并拆头 → Q/K [2,2,6,4]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376732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" y="384962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785615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RoPE + 两种 mask → 输出 [2,6,8]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0" y="1874519"/>
            <a:ext cx="4389120" cy="448056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31152" y="1956815"/>
            <a:ext cx="4242816" cy="3566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ID：[2,6]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052560" y="2331720"/>
            <a:ext cx="0" cy="164592"/>
          </a:xfrm>
          <a:prstGeom prst="line">
            <a:avLst/>
          </a:prstGeom>
          <a:ln w="2159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Isosceles Triangle 18"/>
          <p:cNvSpPr/>
          <p:nvPr/>
        </p:nvSpPr>
        <p:spPr>
          <a:xfrm rot="10800000">
            <a:off x="9020556" y="2455164"/>
            <a:ext cx="64008" cy="82296"/>
          </a:xfrm>
          <a:prstGeom prst="triangle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858000" y="2505456"/>
            <a:ext cx="4389120" cy="448056"/>
          </a:xfrm>
          <a:prstGeom prst="roundRect">
            <a:avLst>
              <a:gd name="adj" fmla="val 6000"/>
            </a:avLst>
          </a:prstGeom>
          <a:solidFill>
            <a:srgbClr val="DE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31152" y="2587751"/>
            <a:ext cx="4242816" cy="3566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X：[2,6,8]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9052560" y="2962655"/>
            <a:ext cx="0" cy="164593"/>
          </a:xfrm>
          <a:prstGeom prst="line">
            <a:avLst/>
          </a:prstGeom>
          <a:ln w="2159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Isosceles Triangle 22"/>
          <p:cNvSpPr/>
          <p:nvPr/>
        </p:nvSpPr>
        <p:spPr>
          <a:xfrm rot="10800000">
            <a:off x="9020556" y="3086100"/>
            <a:ext cx="64008" cy="82296"/>
          </a:xfrm>
          <a:prstGeom prst="triangle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858000" y="3136391"/>
            <a:ext cx="4389120" cy="448056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31152" y="3218687"/>
            <a:ext cx="4242816" cy="3566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Q/K：[2,2,6,4]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9052560" y="3593591"/>
            <a:ext cx="0" cy="164593"/>
          </a:xfrm>
          <a:prstGeom prst="line">
            <a:avLst/>
          </a:prstGeom>
          <a:ln w="2159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Isosceles Triangle 26"/>
          <p:cNvSpPr/>
          <p:nvPr/>
        </p:nvSpPr>
        <p:spPr>
          <a:xfrm rot="10800000">
            <a:off x="9020556" y="3717036"/>
            <a:ext cx="64008" cy="82296"/>
          </a:xfrm>
          <a:prstGeom prst="triangle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858000" y="3767327"/>
            <a:ext cx="4389120" cy="448056"/>
          </a:xfrm>
          <a:prstGeom prst="roundRect">
            <a:avLst>
              <a:gd name="adj" fmla="val 6000"/>
            </a:avLst>
          </a:prstGeom>
          <a:solidFill>
            <a:srgbClr val="DE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31152" y="3849623"/>
            <a:ext cx="4242816" cy="3566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scores：[2,2,6,6]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9052560" y="4224527"/>
            <a:ext cx="0" cy="164593"/>
          </a:xfrm>
          <a:prstGeom prst="line">
            <a:avLst/>
          </a:prstGeom>
          <a:ln w="2159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Isosceles Triangle 30"/>
          <p:cNvSpPr/>
          <p:nvPr/>
        </p:nvSpPr>
        <p:spPr>
          <a:xfrm rot="10800000">
            <a:off x="9020556" y="4347972"/>
            <a:ext cx="64008" cy="82296"/>
          </a:xfrm>
          <a:prstGeom prst="triangle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858000" y="4398264"/>
            <a:ext cx="4389120" cy="448056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931152" y="4480559"/>
            <a:ext cx="4242816" cy="3566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合并 heads：[2,6,8]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94360" y="5596128"/>
            <a:ext cx="10991088" cy="630936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95528" y="5742432"/>
            <a:ext cx="10579608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1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087F8C"/>
                </a:solidFill>
                <a:latin typeface="Microsoft YaHei"/>
              </a:defRPr>
            </a:pPr>
            <a:r>
              <a:t>该脚本验证输入端与 Attention 接口，不包含完整 Block 或生成循环。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94360" y="6464808"/>
            <a:ext cx="841248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C6F7B"/>
                </a:solidFill>
                <a:latin typeface="Microsoft YaHei"/>
              </a:defRPr>
            </a:pPr>
            <a:r>
              <a:t>TRANSFORMER NEWBIE  /  CLASS 2  /  TOKEN · EMBEDDING · POSITION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725912" y="6464808"/>
            <a:ext cx="841248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C6F7B"/>
                </a:solidFill>
                <a:latin typeface="Microsoft YaHei"/>
              </a:defRPr>
            </a:pPr>
            <a:r>
              <a:t>20 / 21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83210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087F8C"/>
                </a:solidFill>
                <a:latin typeface="Microsoft YaHei"/>
              </a:defRPr>
            </a:pPr>
            <a:r>
              <a:t>检查 / 课后约 30 分钟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35440" y="320040"/>
            <a:ext cx="2359152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5C6F7B"/>
                </a:solidFill>
                <a:latin typeface="Microsoft YaHei"/>
              </a:defRPr>
            </a:pPr>
            <a:r>
              <a:t>58–60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41248"/>
            <a:ext cx="11018520" cy="7498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70"/>
              </a:lnSpc>
              <a:spcBef>
                <a:spcPts val="0"/>
              </a:spcBef>
              <a:spcAft>
                <a:spcPts val="0"/>
              </a:spcAft>
              <a:defRPr sz="2900" b="1">
                <a:solidFill>
                  <a:srgbClr val="132C3E"/>
                </a:solidFill>
                <a:latin typeface="Microsoft YaHei"/>
              </a:defRPr>
            </a:pPr>
            <a:r>
              <a:t>检查理解：解释一次编码、一次反传、一次旋转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19088" y="1700784"/>
            <a:ext cx="5166360" cy="37124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84708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192938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865376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为什么 abc 在 rank 规则下是 a/bc 而非 ab/c</a:t>
            </a:r>
          </a:p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280720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" y="288950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2825496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同一 token 出现三次，它的表行梯度怎么计算</a:t>
            </a:r>
          </a:p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？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376732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" y="384962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785615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为什么保持 n−m 后旋转点积相同，mask 却仍</a:t>
            </a:r>
          </a:p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必要？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0" y="2377440"/>
            <a:ext cx="4389120" cy="594360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31152" y="2459736"/>
            <a:ext cx="4242816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73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32C3E"/>
                </a:solidFill>
                <a:latin typeface="Microsoft YaHei"/>
              </a:defRPr>
            </a:pPr>
            <a:r>
              <a:t>选 pair：rank 还是长度？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052560" y="2980944"/>
            <a:ext cx="0" cy="256032"/>
          </a:xfrm>
          <a:prstGeom prst="line">
            <a:avLst/>
          </a:prstGeom>
          <a:ln w="2159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Isosceles Triangle 18"/>
          <p:cNvSpPr/>
          <p:nvPr/>
        </p:nvSpPr>
        <p:spPr>
          <a:xfrm rot="10800000">
            <a:off x="9020556" y="3195828"/>
            <a:ext cx="64008" cy="82296"/>
          </a:xfrm>
          <a:prstGeom prst="triangle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858000" y="3246120"/>
            <a:ext cx="4389120" cy="594360"/>
          </a:xfrm>
          <a:prstGeom prst="roundRect">
            <a:avLst>
              <a:gd name="adj" fmla="val 6000"/>
            </a:avLst>
          </a:prstGeom>
          <a:solidFill>
            <a:srgbClr val="DE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31152" y="3328415"/>
            <a:ext cx="4242816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73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32C3E"/>
                </a:solidFill>
                <a:latin typeface="Microsoft YaHei"/>
              </a:defRPr>
            </a:pPr>
            <a:r>
              <a:t>更新表：覆盖还是累加？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9052560" y="3849624"/>
            <a:ext cx="0" cy="256032"/>
          </a:xfrm>
          <a:prstGeom prst="line">
            <a:avLst/>
          </a:prstGeom>
          <a:ln w="2159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Isosceles Triangle 22"/>
          <p:cNvSpPr/>
          <p:nvPr/>
        </p:nvSpPr>
        <p:spPr>
          <a:xfrm rot="10800000">
            <a:off x="9020556" y="4064508"/>
            <a:ext cx="64008" cy="82296"/>
          </a:xfrm>
          <a:prstGeom prst="triangle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858000" y="4114800"/>
            <a:ext cx="4389120" cy="594360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31152" y="4197096"/>
            <a:ext cx="4242816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73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32C3E"/>
                </a:solidFill>
                <a:latin typeface="Microsoft YaHei"/>
              </a:defRPr>
            </a:pPr>
            <a:r>
              <a:t>位置关系：旋转还是遮罩？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94360" y="5596128"/>
            <a:ext cx="10991088" cy="630936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5528" y="5742432"/>
            <a:ext cx="10579608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1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087F8C"/>
                </a:solidFill>
                <a:latin typeface="Microsoft YaHei"/>
              </a:defRPr>
            </a:pPr>
            <a:r>
              <a:t>课后：改词表规模、检查梯度、验证旋转等式并记录结果。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60" y="6464808"/>
            <a:ext cx="841248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C6F7B"/>
                </a:solidFill>
                <a:latin typeface="Microsoft YaHei"/>
              </a:defRPr>
            </a:pPr>
            <a:r>
              <a:t>TRANSFORMER NEWBIE  /  CLASS 2  /  TOKEN · EMBEDDING · POSITION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25912" y="6464808"/>
            <a:ext cx="841248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C6F7B"/>
                </a:solidFill>
                <a:latin typeface="Microsoft YaHei"/>
              </a:defRPr>
            </a:pPr>
            <a:r>
              <a:t>21 / 21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第二课：Tokenizer、Embedding 与位置机制</dc:title>
  <dc:subject>Transformer 输入表示，60 分钟</dc:subject>
  <dc:creator>Transformer Newbie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