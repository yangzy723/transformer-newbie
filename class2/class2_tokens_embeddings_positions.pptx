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页｜0–3 分钟</a:t>
            </a:r>
          </a:p>
          <a:p>
            <a:r>
              <a:t>回顾：Transformer 的完整生成架构</a:t>
            </a:r>
          </a:p>
          <a:p>
            <a:r>
              <a:t>文本编码为ID，经Embedding成为[B,T,D]向量。</a:t>
            </a:r>
          </a:p>
          <a:p>
            <a:r>
              <a:t>向量经过L层Decoder Block：归一化、因果多头Attention、FFN与两条残差。</a:t>
            </a:r>
          </a:p>
          <a:p>
            <a:r>
              <a:t>最终归一化和输出映射产生词表logits，选择下一ID并接回序列。</a:t>
            </a:r>
          </a:p>
          <a:p>
            <a:r>
              <a:t>文本 → Tokenizer → IDs → Embedding → Decoder Blocks × L → Norm / LM Head → logits → 下一 token</a:t>
            </a:r>
          </a:p>
          <a:p>
            <a:r>
              <a:t>沿用第一课后半段的Decoder-only文本生成架构。图中选择Pre-Norm和RoPE：h=x+MHA(Norm(x))，输出=h+FFN(Norm(h))，两条残差分别保留输入x和中间h。Q/K在Attention内使用RoPE；没有同时给输入叠加正弦PE。先沿左列读生成数据流，再展开右侧一个Block。说明B是batch、T是序列长度、D是隐藏维度、V是词表大小。生成时取最后位置的词表logits来选择下一ID，追加到ID序列；初始文本只需先分词，示意省略KV cache。原始Transformer是Encoder–Decoder，本课程沿用第一课选定的Decoder-only主线。第一课和第二课脚本只实现部分接口，图不是已训练模型的运行截图。</a:t>
            </a:r>
          </a:p>
          <a:p>
            <a:r>
              <a:t>页面解释：</a:t>
            </a:r>
          </a:p>
          <a:p>
            <a:r>
              <a:t>上节课把文字变数字、用Q/K算匹配并混合V，再从输出向量得到下一token候选概率。</a:t>
            </a:r>
          </a:p>
          <a:p>
            <a:r>
              <a:t>把这些步骤放回完整生成架构：Tokenizer与Embedding在Block之前，Attention、FFN、Norm和残差在重复的Block中。</a:t>
            </a:r>
          </a:p>
          <a:p>
            <a:r>
              <a:t>图中采用Pre-Norm与RoPE；向量在Block间保持[B,T,D]，输出投影变成[B,T,V]，生成时取最后位置。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页｜3–6 分钟</a:t>
            </a:r>
          </a:p>
          <a:p>
            <a:r>
              <a:t>衔接：今天细讲输入端的三个机制</a:t>
            </a:r>
          </a:p>
          <a:p>
            <a:r>
              <a:t>回顾“我/喜欢/喝”的人工算例：匹配、混合与候选选择。</a:t>
            </a:r>
          </a:p>
          <a:p>
            <a:r>
              <a:t>Tokenizer决定切出哪些片段；Embedding把ID映射成可训练向量。</a:t>
            </a:r>
          </a:p>
          <a:p>
            <a:r>
              <a:t>位置编码提供位置关系：正弦PE可加在输入，RoPE则作用于Attention的Q/K。</a:t>
            </a:r>
          </a:p>
          <a:p>
            <a:r>
              <a:t>本课：分词规则怎样学习 → ID怎样变成可训练向量 → 顺序怎样参与计算。</a:t>
            </a:r>
          </a:p>
          <a:p>
            <a:r>
              <a:t>先用第一课代码的实际输出唤起记忆：注意力权重约[0.248,0.248,0.503]，混合向量约[0.752,0.752]，酒/牛奶概率约[0.680,0.320]。这些是人工参数的演示结果；显示值有四舍五入。区分第一次Softmax给输入位置分配混合权重，第二次给词表候选分配输出概率。再指向三个本课模块：第一课的text.split()替换为真实BPE，人工向量升级为Embedding参数及梯度，位置概念升级为正弦与RoPE机制。强调相加式PE和Q/K上的RoPE是不同接口，本课分别比较，不机械叠加。随后进入第3页奶茶BPE语料，先用一句话说明频繁片段可以合并，再按5/3/2手算统计。</a:t>
            </a:r>
          </a:p>
          <a:p>
            <a:r>
              <a:t>页面解释：</a:t>
            </a:r>
          </a:p>
          <a:p>
            <a:r>
              <a:t>第一课用空格切分和人工二维向量，走通了Q/K匹配、V加权混合与下一token选择。</a:t>
            </a:r>
          </a:p>
          <a:p>
            <a:r>
              <a:t>本课依次补全输入端：BPE怎样学并执行切分规则；Embedding怎样查表、接受预测误差并更新参数。</a:t>
            </a:r>
          </a:p>
          <a:p>
            <a:r>
              <a:t>位置编码说明顺序怎样进入运算：相加式PE作用于输入，RoPE作用于Q/K；二者作为不同接口讲解。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页｜6–10 分钟</a:t>
            </a:r>
          </a:p>
          <a:p>
            <a:r>
              <a:t>BPE 训练：加权统计、合并、重新统计</a:t>
            </a:r>
          </a:p>
          <a:p>
            <a:r>
              <a:t>把每种文本的相邻次数，乘以该文本的出现频次</a:t>
            </a:r>
          </a:p>
          <a:p>
            <a:r>
              <a:t>选择当前最高频 pair，合并非重叠出现</a:t>
            </a:r>
          </a:p>
          <a:p>
            <a:r>
              <a:t>重算频次，直到词表预算或停止条件满足</a:t>
            </a:r>
          </a:p>
          <a:p>
            <a:r>
              <a:t>本例语料频次 5、3、2；四轮合并频次为 10、10、8、8。</a:t>
            </a:r>
          </a:p>
          <a:p>
            <a:r>
              <a:t>打开bpe_core.train_bpe，解释corpus中的频次乘数。首轮喜+欢与欢+喝同为10，本例按首次出现顺序打破并列。边界由预切分决定，本字符示例把每句作为一个片段；真实库下一页展示正则预切分。讲清训练不是梯度下降，而是统计和贪心合并。 演示语料改为奶茶与咖啡，四轮频次仍为10、10、8、8。</a:t>
            </a:r>
          </a:p>
          <a:p>
            <a:r>
              <a:t>页面解释：</a:t>
            </a:r>
          </a:p>
          <a:p>
            <a:r>
              <a:t>演示语料：我喜欢喝奶茶×5、你喜欢喝奶茶×3、我喜欢喝咖啡×2。</a:t>
            </a:r>
          </a:p>
          <a:p>
            <a:r>
              <a:t>第一轮“喜+欢”频次为5+3+2=10；“我+喜”只有5+2=7。</a:t>
            </a:r>
          </a:p>
          <a:p>
            <a:r>
              <a:t>先合并喜+欢，再重新统计；四轮依次得到喜欢、喜欢喝、喜欢喝奶、喜欢喝奶茶。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1，bpe_core.py:train_bpe</a:t>
            </a:r>
          </a:p>
          <a:p>
            <a:r>
              <a:t>观察：四轮合并频次：10 → 10 → 8 →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页｜10–14 分钟</a:t>
            </a:r>
          </a:p>
          <a:p>
            <a:r>
              <a:t>BPE 编码：按 merge rank，不按最长词匹配</a:t>
            </a:r>
          </a:p>
          <a:p>
            <a:r>
              <a:t>固定 merges：第 0 条 b+c，第 1 条 a+b</a:t>
            </a:r>
          </a:p>
          <a:p>
            <a:r>
              <a:t>abc 的当前候选：bc(rank 0)、ab(rank 1)</a:t>
            </a:r>
          </a:p>
          <a:p>
            <a:r>
              <a:t>先合并 bc，得到 a / bc</a:t>
            </a:r>
          </a:p>
          <a:p>
            <a:r>
              <a:t>merge rank 表示合并优先级；token ID 表示词表地址，两者不能混用。</a:t>
            </a:r>
          </a:p>
          <a:p>
            <a:r>
              <a:t>用语料bc×6、ab×5、abc×1训练两轮，先bc频次7，再ab频次5。词表含ab、bc，但编码abc按rank得到a/bc，最长前缀会得到ab/c。运行bpe_core.demo看反例，再指出encode_bpe每轮枚举当前相邻候选并选最小rank。真实实现常用更高效数据结构，本课重在规则语义。 先走完奶茶例子的四步编码，再用abc说明重叠候选为何不能最长匹配。</a:t>
            </a:r>
          </a:p>
          <a:p>
            <a:r>
              <a:t>页面解释：</a:t>
            </a:r>
          </a:p>
          <a:p>
            <a:r>
              <a:t>固定上一页学到的四条 merges，对“你喜欢喝奶茶”逐轮执行。</a:t>
            </a:r>
          </a:p>
          <a:p>
            <a:r>
              <a:t>编码时不再统计训练语料，也不更新 merges，只选择当前候选的最小 rank。</a:t>
            </a:r>
          </a:p>
          <a:p>
            <a:r>
              <a:t>遇到重叠候选时，优先级比片段长度重要；abc 的反例得到 a/bc。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2，bpe_core.py:encode_bpe</a:t>
            </a:r>
          </a:p>
          <a:p>
            <a:r>
              <a:t>观察：你喜欢喝奶茶 → 你 / 喜欢喝奶茶；重叠反例 abc → a / bc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页｜14–18 分钟</a:t>
            </a:r>
          </a:p>
          <a:p>
            <a:r>
              <a:t>真实实现：ByteLevel BPE 的完整流水线</a:t>
            </a:r>
          </a:p>
          <a:p>
            <a:r>
              <a:t>本地语料 → ByteLevel 预切分 → BPE 训练</a:t>
            </a:r>
          </a:p>
          <a:p>
            <a:r>
              <a:t>保存 tokenizer.json：词表、merges 和配置</a:t>
            </a:r>
          </a:p>
          <a:p>
            <a:r>
              <a:t>加载配置 → encode → tokens / ids / offsets</a:t>
            </a:r>
          </a:p>
          <a:p>
            <a:r>
              <a:t>分词器训练与语言模型训练，是两套不同的学习过程。</a:t>
            </a:r>
          </a:p>
          <a:p>
            <a:r>
              <a:t>展示train_tokenizer.py中的Tokenizer(BPE)、ByteLevel、BpeTrainer和save。设置完整256字节基础字母表，四个特殊token，目标词表320或384。不设置有损normalizer，add_prefix_space=False。本地语料28行，重复10遍用于频次。已提交配置用于课堂复现，现场不必重训。不能把该小语料tokenizer称为商用模型的预训练配置。</a:t>
            </a:r>
          </a:p>
          <a:p>
            <a:r>
              <a:t>页面解释：</a:t>
            </a:r>
          </a:p>
          <a:p>
            <a:r>
              <a:t>字符演示说明合并规则；真实库还要处理文本边界、基础字节和解码。</a:t>
            </a:r>
          </a:p>
          <a:p>
            <a:r>
              <a:t>本课 ByteLevel 用完整256字节字母表覆盖UTF-8字节，并设置4个特殊符号。</a:t>
            </a:r>
          </a:p>
          <a:p>
            <a:r>
              <a:t>保存的不只是词表，还包括merges、预切分和decoder；之后加载完整配置。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3，train_tokenizer.py:train</a:t>
            </a:r>
          </a:p>
          <a:p>
            <a:r>
              <a:t>观察：从本地语料训练，完整配置保存在 JSON 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页｜18–20 分钟</a:t>
            </a:r>
          </a:p>
          <a:p>
            <a:r>
              <a:t>tokenizer 必须与模型参数配套</a:t>
            </a:r>
          </a:p>
          <a:p>
            <a:r>
              <a:t>特殊符号也有 ID：pad=0、unk=1、bos=2、eos=3</a:t>
            </a:r>
          </a:p>
          <a:p>
            <a:r>
              <a:t>相同词表大小，不代表 ID 与 merges 相同</a:t>
            </a:r>
          </a:p>
          <a:p>
            <a:r>
              <a:t>先固定配置，再为它构造和训练参数表</a:t>
            </a:r>
          </a:p>
          <a:p>
            <a:r>
              <a:t>本课默认配置：V=320；“我喜欢喝牛奶。”→ [300,304,262]。</a:t>
            </a:r>
          </a:p>
          <a:p>
            <a:r>
              <a:t>展示assets/tokenizer_320.json及384版本。ByteLevel与decoder让普通测试文本完整回解；skip_special_tokens默认会处理特殊符号，不能据普通文本测试承诺所有特殊字符串也逐字可逆。配置改变时须同步参数映射，不能直接拿320模型的embedding套384词表。</a:t>
            </a:r>
          </a:p>
          <a:p>
            <a:r>
              <a:t>页面解释：</a:t>
            </a:r>
          </a:p>
          <a:p>
            <a:r>
              <a:t>默认配置把“我喜欢喝牛奶。”编码为[300,304,262]，这些ID是参数表的行地址。</a:t>
            </a:r>
          </a:p>
          <a:p>
            <a:r>
              <a:t>另一份同样大小的词表，也可能给同一片段分配不同ID，直接替换会读错参数。</a:t>
            </a:r>
          </a:p>
          <a:p>
            <a:r>
              <a:t>bos/eos由本课batch代码显式加入；pad=0只用于补齐，不代表真实文本。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4，runtime.py:load_tokenizer</a:t>
            </a:r>
          </a:p>
          <a:p>
            <a:r>
              <a:t>观察：默认配置下：我喜欢喝牛奶。→ [300,304,262]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页｜20–24 分钟</a:t>
            </a:r>
          </a:p>
          <a:p>
            <a:r>
              <a:t>Embedding：查表与 one-hot 乘法等价</a:t>
            </a:r>
          </a:p>
          <a:p>
            <a:r>
              <a:t>每个 ID 选择参数表的一行，得到 D 维向量</a:t>
            </a:r>
          </a:p>
          <a:p>
            <a:r>
              <a:t>batch 的每个位置都执行同一次查表操作</a:t>
            </a:r>
          </a:p>
          <a:p>
            <a:r>
              <a:t>one-hot 乘法用于理解，实际实现直接 gather</a:t>
            </a:r>
          </a:p>
          <a:p>
            <a:r>
              <a:t>ID 没有语义距离；表示的可学习几何来自 E 和训练目标。</a:t>
            </a:r>
          </a:p>
          <a:p>
            <a:r>
              <a:t>运行embeddings.py的前半段，torch.allclose(lookup,one_hot@E)为True。真实示例E为[320,8]，batch为[2,6]，X为[2,6,8]。one-hot只为验证构造，不建议大词表训练时这么实现。对应重编号并重排行能保持前向结果不变。</a:t>
            </a:r>
          </a:p>
          <a:p>
            <a:r>
              <a:t>页面解释：</a:t>
            </a:r>
          </a:p>
          <a:p>
            <a:r>
              <a:t>查表等于用one-hot选择一行，既保留可学习参数，又避免显式分配大one-hot张量。</a:t>
            </a:r>
          </a:p>
          <a:p>
            <a:r>
              <a:t>算术小表中，ID=[1,2,1]会读到第1行、第2行、再读一次第1行。</a:t>
            </a:r>
          </a:p>
          <a:p>
            <a:r>
              <a:t>行向量最初可以随机初始化；训练任务逐步调整它们，每一维没有预先规定的语义。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5，embeddings.py:demo</a:t>
            </a:r>
          </a:p>
          <a:p>
            <a:r>
              <a:t>观察：[2,6] → [2,6,8]；与 one-hot 乘法前向等价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页｜24–27 分钟</a:t>
            </a:r>
          </a:p>
          <a:p>
            <a:r>
              <a:t>真实 batch：padding 不等于真实文本</a:t>
            </a:r>
          </a:p>
          <a:p>
            <a:r>
              <a:t>两条不同长度序列，补齐到 T=6</a:t>
            </a:r>
          </a:p>
          <a:p>
            <a:r>
              <a:t>nn.Embedding(..., padding_idx=0) 控制 lookup 梯度</a:t>
            </a:r>
          </a:p>
          <a:p>
            <a:r>
              <a:t>valid mask 仍需传给后续注意力或损失</a:t>
            </a:r>
          </a:p>
          <a:p>
            <a:r>
              <a:t>padding_idx 不会自动遮住 Attention，也不会自动忽略 loss。</a:t>
            </a:r>
          </a:p>
          <a:p>
            <a:r>
              <a:t>make_batch手动加bos/eos；第一句长度5，第二句长度6，第一句末尾补pad。nn.Embedding默认将padding行初始化为0并在lookup反传中抑制其梯度；加载或手动改值时不要假定它永远为0。Attention的padding key mask以及交叉熵ignore_index各自仍要处理。</a:t>
            </a:r>
          </a:p>
          <a:p>
            <a:r>
              <a:t>页面解释：</a:t>
            </a:r>
          </a:p>
          <a:p>
            <a:r>
              <a:t>第一句3个普通token加bos/eos得5项；第二句4个加标记得6项，因此前者补1个pad。</a:t>
            </a:r>
          </a:p>
          <a:p>
            <a:r>
              <a:t>补齐只统一张量形状；Attention仍应屏蔽pad key，训练loss仍应忽略pad标签。</a:t>
            </a:r>
          </a:p>
          <a:p>
            <a:r>
              <a:t>padding_idx抑制lookup路径的pad行梯度，不会替后续网络自动处理mask。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5，runtime.py:make_batch</a:t>
            </a:r>
          </a:p>
          <a:p>
            <a:r>
              <a:t>观察：第一句 5 项补齐到 6；第二句 6 项无需补齐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页｜27–31 分钟</a:t>
            </a:r>
          </a:p>
          <a:p>
            <a:r>
              <a:t>重复 token 怎样更新同一行？</a:t>
            </a:r>
          </a:p>
          <a:p>
            <a:r>
              <a:t>先得到每个出现位置的向量梯度</a:t>
            </a:r>
          </a:p>
          <a:p>
            <a:r>
              <a:t>同一参数行可能被多个位置共同读取</a:t>
            </a:r>
          </a:p>
          <a:p>
            <a:r>
              <a:t>把这些位置的梯度相加，更新共享表行</a:t>
            </a:r>
          </a:p>
          <a:p>
            <a:r>
              <a:t>诊断输入 [a,a,b,pad]：求和 loss 的梯度分别是 2、1、0。</a:t>
            </a:r>
          </a:p>
          <a:p>
            <a:r>
              <a:t>运行embeddings.py后半段，用.sum().backward()明确上游每维梯度是1；a出现两次所以对应行每维2，b每维1，padding lookup为0。这是诊断loss，不是语言模型交叉熵。未用作输入的行在此lookup路径梯度为0；绑定输出权重或施加weight decay时不能把它说成所有训练情形的更新规律。</a:t>
            </a:r>
          </a:p>
          <a:p>
            <a:r>
              <a:t>页面解释：</a:t>
            </a:r>
          </a:p>
          <a:p>
            <a:r>
              <a:t>把同一行看成被多处引用的共享参数；每个位置贡献自己的向量梯度。</a:t>
            </a:r>
          </a:p>
          <a:p>
            <a:r>
              <a:t>若ID1两次上游梯度为[1,0]和[0,2]，第1行收到[1,2]，不是取平均也不是覆盖。</a:t>
            </a:r>
          </a:p>
          <a:p>
            <a:r>
              <a:t>求和损失只是特殊情况：上游全为1，出现两次的行每一维梯度为2。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6，embeddings.py:demo</a:t>
            </a:r>
          </a:p>
          <a:p>
            <a:r>
              <a:t>观察：每维梯度：a 行 2，b 行 1，pad 行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页｜31–34 分钟</a:t>
            </a:r>
          </a:p>
          <a:p>
            <a:r>
              <a:t>从下一 token 交叉熵追到 embedding</a:t>
            </a:r>
          </a:p>
          <a:p>
            <a:r>
              <a:t>输入向量经过输出投影，得到各 token 的 logits</a:t>
            </a:r>
          </a:p>
          <a:p>
            <a:r>
              <a:t>交叉熵衡量正确下一 token 的预测概率</a:t>
            </a:r>
          </a:p>
          <a:p>
            <a:r>
              <a:t>误差信号右乘输出权重，传回输入向量</a:t>
            </a:r>
          </a:p>
          <a:p>
            <a:r>
              <a:t>先得到每次出现的向量梯度，再按 token ID 累加到 E。</a:t>
            </a:r>
          </a:p>
          <a:p>
            <a:r>
              <a:t>W_out形状[V,D]，p-y是[V]，右乘得到[D]梯度。写一个正确类别的p_y低时误差大的例子，不推导softmax完整Jacobian。公式按单个位置；实际batch mean loss还包含平均因子。F.cross_entropy直接接原始logits，内部完成log_softmax，不先softmax。</a:t>
            </a:r>
          </a:p>
          <a:p>
            <a:r>
              <a:t>页面解释：</a:t>
            </a:r>
          </a:p>
          <a:p>
            <a:r>
              <a:t>类别编号0/1/2，目标y=1，预测p=[0.1,0.7,0.2]；交叉熵为−ln(0.7)≈0.3567。</a:t>
            </a:r>
          </a:p>
          <a:p>
            <a:r>
              <a:t>类别误差p−one_hot(1)=[0.1,−0.3,0.2]，右乘输出权重得到输入向量梯度。</a:t>
            </a:r>
          </a:p>
          <a:p>
            <a:r>
              <a:t>小算例得到[-0.1,-0.2]，与autograd一致；真实词表只是把类别数扩到V。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7，gradient_chain.py:demo</a:t>
            </a:r>
          </a:p>
          <a:p>
            <a:r>
              <a:t>观察：手算向量梯度与 autograd 逐项一致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页｜34–37 分钟</a:t>
            </a:r>
          </a:p>
          <a:p>
            <a:r>
              <a:t>运行一次真实的下一 token 训练</a:t>
            </a:r>
          </a:p>
          <a:p>
            <a:r>
              <a:t>真实 ByteLevel BPE，7 句训练文本、57 对相邻 token</a:t>
            </a:r>
          </a:p>
          <a:p>
            <a:r>
              <a:t>nn.Embedding(320,16) → Linear(16,320)</a:t>
            </a:r>
          </a:p>
          <a:p>
            <a:r>
              <a:t>Adam 训练 120 步，观察 loss 与表行变化</a:t>
            </a:r>
          </a:p>
          <a:p>
            <a:r>
              <a:t>实测 loss：5.7565 → 0.3559；26 个输入表行发生更新。</a:t>
            </a:r>
          </a:p>
          <a:p>
            <a:r>
              <a:t>运行embedding_train.py或Notebook训练单元。模型只用当前token预测下一项，因此是bigram基线，不是Transformer；同一个输入可能有多个后续，loss不必归零。无验证集，仅观察训练拟合。在无weight decay、未绑定输出权重的本实验中，更新行数26与出现过的输入行数一致。 本数据仅依赖当前token时的经验条件熵下界约0.35583；此项供老师解释loss平台，不要求课内计算。训练pair未补齐，不含pad标签。</a:t>
            </a:r>
          </a:p>
          <a:p>
            <a:r>
              <a:t>页面解释：</a:t>
            </a:r>
          </a:p>
          <a:p>
            <a:r>
              <a:t>把相邻token构成(x,y)：当前ID查表，经Linear产生所有候选的logits，再与真实下一ID比较。</a:t>
            </a:r>
          </a:p>
          <a:p>
            <a:r>
              <a:t>每步依次前向、清梯度、backward、optimizer.step；梯度负责指出如何调整参数。</a:t>
            </a:r>
          </a:p>
          <a:p>
            <a:r>
              <a:t>本例只利用当前token；同一token可能有多个后续，所以训练loss不必降到0。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8，embedding_train.py:train</a:t>
            </a:r>
          </a:p>
          <a:p>
            <a:r>
              <a:t>观察：120 步：loss 5.7565 → 0.3559；26 行更新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页｜37–39 分钟</a:t>
            </a:r>
          </a:p>
          <a:p>
            <a:r>
              <a:t>输入表、输出表与权重绑定</a:t>
            </a:r>
          </a:p>
          <a:p>
            <a:r>
              <a:t>输入 embedding 与输出投影可共用同一份 E</a:t>
            </a:r>
          </a:p>
          <a:p>
            <a:r>
              <a:t>输入查表和输出分类，形成两条梯度路径</a:t>
            </a:r>
          </a:p>
          <a:p>
            <a:r>
              <a:t>输入表行固定，上下文隐藏表示仍可变化</a:t>
            </a:r>
          </a:p>
          <a:p>
            <a:r>
              <a:t>绑定权重后，E 会同时接收输入 lookup 与输出分类器的梯度。</a:t>
            </a:r>
          </a:p>
          <a:p>
            <a:r>
              <a:t>本课bigram代码未绑定，便于先看lookup行更新。若绑定，词表全体候选参与输出softmax，未作为输入的行也可能收到输出梯度；padding_idx只限制lookup路径。设置output.weight=embedding.weight应在创建optimizer之前完成，并用去重的参数迭代器。相似度受训练任务影响，不能把每维解释为固定语义标签。</a:t>
            </a:r>
          </a:p>
          <a:p>
            <a:r>
              <a:t>页面解释：</a:t>
            </a:r>
          </a:p>
          <a:p>
            <a:r>
              <a:t>不绑定时，输入E与输出W是两个参数；绑定后输出直接使用E的转置。</a:t>
            </a:r>
          </a:p>
          <a:p>
            <a:r>
              <a:t>输入查表只读取少数行，输出softmax却把全词表作为候选，因此更多行可能收到梯度。</a:t>
            </a:r>
          </a:p>
          <a:p>
            <a:r>
              <a:t>padding_idx只限制lookup路径；绑权重并不保证pad行完全没有梯度。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对应：课后扩展验证，tools/check_experiments.py:main</a:t>
            </a:r>
          </a:p>
          <a:p>
            <a:r>
              <a:t>观察：课后验证：没作为输入的行也可能得到输出梯度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页｜39–42 分钟</a:t>
            </a:r>
          </a:p>
          <a:p>
            <a:r>
              <a:t>无位置时：为什么是置换等变？</a:t>
            </a:r>
          </a:p>
          <a:p>
            <a:r>
              <a:t>把 token 行重排，Q/K/V 也对应重排</a:t>
            </a:r>
          </a:p>
          <a:p>
            <a:r>
              <a:t>分数矩阵的 query 行和 key 列同时重排</a:t>
            </a:r>
          </a:p>
          <a:p>
            <a:r>
              <a:t>输出跟随输入重排：没有引入固定位置坐标</a:t>
            </a:r>
          </a:p>
          <a:p>
            <a:r>
              <a:t>这里假设没有位置机制、没有因果 mask；等变不等于输出完全相同。</a:t>
            </a:r>
          </a:p>
          <a:p>
            <a:r>
              <a:t>给出三行token的重排，说明输出随行重排，而非整个矩阵不变。运行position_mechanics.py：无位置时True，给新行位置加PE后False。不要求证明任意网络性质，只连接QK转置和softmax逐行对称性。因果mask并不随任意置换同样改变，所以不满足这里的假设。 用 Π 记行置换，与学习式位置表 P 区分。</a:t>
            </a:r>
          </a:p>
          <a:p>
            <a:r>
              <a:t>页面解释：</a:t>
            </a:r>
          </a:p>
          <a:p>
            <a:r>
              <a:t>“我/喜欢/你”换成“你/喜欢/我”，仅查表得到的仍是同一组内容向量。</a:t>
            </a:r>
          </a:p>
          <a:p>
            <a:r>
              <a:t>无位置、无mask时，Q/K/V随行重排，scores行列同时重排，输出也对应重排。</a:t>
            </a:r>
          </a:p>
          <a:p>
            <a:r>
              <a:t>因果mask带有可读范围约束，不满足这里任意置换的假设；等变不等于输出不变。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9，position_mechanics.py:attention</a:t>
            </a:r>
          </a:p>
          <a:p>
            <a:r>
              <a:t>观察：重排后输出也重排：True；加入位置后通常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页｜42–45 分钟</a:t>
            </a:r>
          </a:p>
          <a:p>
            <a:r>
              <a:t>绝对位置：学习表与固定函数</a:t>
            </a:r>
          </a:p>
          <a:p>
            <a:r>
              <a:t>学习式位置表按 token 序号查行</a:t>
            </a:r>
          </a:p>
          <a:p>
            <a:r>
              <a:t>把内容向量与同维度的位置向量相加</a:t>
            </a:r>
          </a:p>
          <a:p>
            <a:r>
              <a:t>正弦编码则用固定函数生成位置向量</a:t>
            </a:r>
          </a:p>
          <a:p>
            <a:r>
              <a:t>P 的索引是 token 位置；L 限制学习式表能直接查询的范围。</a:t>
            </a:r>
          </a:p>
          <a:p>
            <a:r>
              <a:t>不要把BPE的字符offset当成token位置。可学习位置表也参与反向传播；正弦表不需要训练其数值。相加式输入与RoPE是不同接口，下一页分别说明，代码不会先加绝对PE又声称相对旋转分数必然保持不变。</a:t>
            </a:r>
          </a:p>
          <a:p>
            <a:r>
              <a:t>页面解释：</a:t>
            </a:r>
          </a:p>
          <a:p>
            <a:r>
              <a:t>内容向量表示“是什么”，位置向量提供“在第几个token”；相加后仍是D维。</a:t>
            </a:r>
          </a:p>
          <a:p>
            <a:r>
              <a:t>学习式位置表通过训练更新，直接查询范围受表长L限制；正弦编码由固定函数生成。</a:t>
            </a:r>
          </a:p>
          <a:p>
            <a:r>
              <a:t>相加式位置与RoPE是不同接口，本课RoPE分支不先叠加绝对位置。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10，positions.py:sinusoidal</a:t>
            </a:r>
          </a:p>
          <a:p>
            <a:r>
              <a:t>观察：相加后形状保持 [B,T,D]；本课代码演示固定函数</a:t>
            </a:r>
          </a:p>
          <a:p>
            <a:r>
              <a:t>投影代码出自 position_mechanics.py:demo；位置函数来自 positions.py:sinusoidal。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页｜45–48 分钟</a:t>
            </a:r>
          </a:p>
          <a:p>
            <a:r>
              <a:t>正弦为什么使用多组频率？</a:t>
            </a:r>
          </a:p>
          <a:p>
            <a:r>
              <a:t>频率随维度对编号变化，提供多种变化尺度</a:t>
            </a:r>
          </a:p>
          <a:p>
            <a:r>
              <a:t>每个位置乘以各组频率，得到旋转角度</a:t>
            </a:r>
          </a:p>
          <a:p>
            <a:r>
              <a:t>相邻两维分别存放角度的 sin 与 cos</a:t>
            </a:r>
          </a:p>
          <a:p>
            <a:r>
              <a:t>从位置 t，到角度 tω，再到每一对维度的 sin / cos。</a:t>
            </a:r>
          </a:p>
          <a:p>
            <a:r>
              <a:t>D=4时频率1与0.01，沿用上一版四维数值核对。多个频率提供不同变化尺度，单一周期不能代替全部设计。指出pos[:,None]*frequencies[None,:]的广播形状[T,D/2]，而非逐token循环。可计算更大p不等于模型长上下文质量有保证。 统一记号：ω_i 为频率，θ_{t,i}=tω_i 为角度；分别对应 frequencies 与 angles。</a:t>
            </a:r>
          </a:p>
          <a:p>
            <a:r>
              <a:t>页面解释：</a:t>
            </a:r>
          </a:p>
          <a:p>
            <a:r>
              <a:t>D=4时有两对维度，频率分别为1和0.01；同一位置形成两种变化尺度。</a:t>
            </a:r>
          </a:p>
          <a:p>
            <a:r>
              <a:t>t=1时角度为[1,0.01]，分别取sin/cos并交错排列，得到4维位置向量。</a:t>
            </a:r>
          </a:p>
          <a:p>
            <a:r>
              <a:t>广播[T,1]×[1,D/2]生成全部角度；能计算更远位置不等于模型一定能泛化。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10，positions.py:sinusoidal</a:t>
            </a:r>
          </a:p>
          <a:p>
            <a:r>
              <a:t>观察：位置 0：[0,1,0,1]；不同维度对有不同变化尺度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页｜48–51 分钟</a:t>
            </a:r>
          </a:p>
          <a:p>
            <a:r>
              <a:t>RoPE：位置变成箭头的转角</a:t>
            </a:r>
          </a:p>
          <a:p>
            <a:r>
              <a:t>先把一对分量看成一支箭头：内容决定原来的方向，位置再让它旋转。</a:t>
            </a:r>
          </a:p>
          <a:p>
            <a:r>
              <a:t>图解让每个位置多转30°：位置1和3对应30°、90°，夹角60°，单位向量点积为0.5。</a:t>
            </a:r>
          </a:p>
          <a:p>
            <a:r>
              <a:t>两位置同时加2，箭头变为90°、150°；夹角仍为60°，点积仍为0.5。</a:t>
            </a:r>
          </a:p>
          <a:p>
            <a:r>
              <a:t>两个箭头一起转，夹角不变；位置差因此进入注意力分数。</a:t>
            </a:r>
          </a:p>
          <a:p>
            <a:r>
              <a:t>先看箭头，暂不展示矩阵。设未旋转q=k=[1,0]，每格30°，位置1/3与3/5的夹角都为60°，点积都是cos60°=0.5。请学生预测位置一起移动后分数是否改变，再运行实验11的rotate_pair核对。内容决定原始方向，位置附加旋转，点积同时包含内容与相对位移；不能说分数只由距离决定。30°是图解频率，标准apply_rope按每对维度的频率计算，使用弧度。若追问一般q/k，讲义给出qᵀR((n−m)ω)k及矩阵推导。</a:t>
            </a:r>
          </a:p>
          <a:p>
            <a:r>
              <a:t>页面解释：</a:t>
            </a:r>
          </a:p>
          <a:p>
            <a:r>
              <a:t>先把一对分量看成一支箭头：内容决定原来的方向，位置再让它旋转。</a:t>
            </a:r>
          </a:p>
          <a:p>
            <a:r>
              <a:t>图解让每个位置多转30°：位置1和3对应30°、90°，夹角60°，单位向量点积为0.5。</a:t>
            </a:r>
          </a:p>
          <a:p>
            <a:r>
              <a:t>两位置同时加2，箭头变为90°、150°；夹角仍为60°，点积仍为0.5。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11，positions.py:apply_rope</a:t>
            </a:r>
          </a:p>
          <a:p>
            <a:r>
              <a:t>观察：固定 q/k 内容：点积由相对位置 n−m 调节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页｜51–54 分钟</a:t>
            </a:r>
          </a:p>
          <a:p>
            <a:r>
              <a:t>从两个箭头，到整个 Q / K 张量</a:t>
            </a:r>
          </a:p>
          <a:p>
            <a:r>
              <a:t>把相邻分量分成(x0,x1)、(x2,x3)等二维箭头；第i对旋转角为tω_i。</a:t>
            </a:r>
          </a:p>
          <a:p>
            <a:r>
              <a:t>d_h=4时两对维度频率为1、0.01：一对变化快，一对变化慢。</a:t>
            </a:r>
          </a:p>
          <a:p>
            <a:r>
              <a:t>分量旋转公式对应even/odd两行代码；角度[T,d_h/2]广播到Q/K的[B,H,T,d_h]，V保持原样。</a:t>
            </a:r>
          </a:p>
          <a:p>
            <a:r>
              <a:t>RoPE 旋转 Q 和 K；位置通过它们的点积进入 Attention。</a:t>
            </a:r>
          </a:p>
          <a:p>
            <a:r>
              <a:t>先把第16页的箭头推广到多对分量，再逐项对应公式中的x_2i、x_2i+1与代码even、odd。算[1,0]转30°=[0.8660,0.5]；长度仍为1。随后展示positions.apply_rope，实际频率为10000^(-2i/d_h)，位置乘频率得到弧度。相邻维度配对的代码支持[B,H,T,d_h]；另一种split-half实现要匹配同一坐标约定。运行整体位置平移与范数检查。本课只旋转Q/K，不旋转V。</a:t>
            </a:r>
          </a:p>
          <a:p>
            <a:r>
              <a:t>页面解释：</a:t>
            </a:r>
          </a:p>
          <a:p>
            <a:r>
              <a:t>把相邻分量分成(x0,x1)、(x2,x3)等二维箭头；第i对旋转角为tω_i。</a:t>
            </a:r>
          </a:p>
          <a:p>
            <a:r>
              <a:t>d_h=4时两对维度频率为1、0.01：一对变化快，一对变化慢。</a:t>
            </a:r>
          </a:p>
          <a:p>
            <a:r>
              <a:t>分量旋转公式对应even/odd两行代码；角度[T,d_h/2]广播到Q/K的[B,H,T,d_h]，V保持原样。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11，positions.py:apply_rope</a:t>
            </a:r>
          </a:p>
          <a:p>
            <a:r>
              <a:t>观察：范数保持；整体平移位置后分数误差约 10⁻¹⁵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页｜54–56 分钟</a:t>
            </a:r>
          </a:p>
          <a:p>
            <a:r>
              <a:t>三种机制：位置、因果范围与 padding</a:t>
            </a:r>
          </a:p>
          <a:p>
            <a:r>
              <a:t>RoPE 或绝对位置：让位置参与数值计算</a:t>
            </a:r>
          </a:p>
          <a:p>
            <a:r>
              <a:t>causal mask:[T,T]，限制读取未来</a:t>
            </a:r>
          </a:p>
          <a:p>
            <a:r>
              <a:t>padding key mask:[B,1,1,T]，屏蔽补齐位置</a:t>
            </a:r>
          </a:p>
          <a:p>
            <a:r>
              <a:t>padding_idx、Attention mask、loss ignore_index 互不替代。</a:t>
            </a:r>
          </a:p>
          <a:p>
            <a:r>
              <a:t>pipeline将上三角future和无效key位置做逻辑或，再把score设为-inf；不会修改token ID来实现mask。批中每句含bos/eos，至少有可见有效key；对全屏蔽行必须另作处理以免softmax NaN。padding query的输出最后清零，但训练损失仍需独立忽略padding标签。</a:t>
            </a:r>
          </a:p>
          <a:p>
            <a:r>
              <a:t>页面解释：</a:t>
            </a:r>
          </a:p>
          <a:p>
            <a:r>
              <a:t>位置机制改变分数的数值关系，因果mask禁止读取未来，padding key mask禁止读取补齐项。</a:t>
            </a:r>
          </a:p>
          <a:p>
            <a:r>
              <a:t>禁止位置设为−∞，softmax后权重为0；示意中最后一个key为pad，整列权重为0。</a:t>
            </a:r>
          </a:p>
          <a:p>
            <a:r>
              <a:t>pad query输出清零与loss忽略标签仍需各自处理；全屏蔽行需要避免softmax产生NaN。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12，input_pipeline.py:demo</a:t>
            </a:r>
          </a:p>
          <a:p>
            <a:r>
              <a:t>观察：未来 key 与 padding key 的权重均为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页｜56–58 分钟</a:t>
            </a:r>
          </a:p>
          <a:p>
            <a:r>
              <a:t>真实输入链路：把 shape 全部接上</a:t>
            </a:r>
          </a:p>
          <a:p>
            <a:r>
              <a:t>真实 tokenizer → ID [2,6] → embedding [2,6,8]</a:t>
            </a:r>
          </a:p>
          <a:p>
            <a:r>
              <a:t>投影并拆头 → Q/K [2,2,6,4]</a:t>
            </a:r>
          </a:p>
          <a:p>
            <a:r>
              <a:t>RoPE + 两种 mask → 输出 [2,6,8]</a:t>
            </a:r>
          </a:p>
          <a:p>
            <a:r>
              <a:t>该脚本验证输入端与 Attention 接口，不包含完整 Block 或生成循环。</a:t>
            </a:r>
          </a:p>
          <a:p>
            <a:r>
              <a:t>运行input_pipeline.py，只跟踪形状与一行RoPE、一行mask。此分支不先加绝对PE，随机参数未训练；上面的bigram训练也没有Attention。明确两个实验各验证什么，避免把它们拼成已训练的大模型。首句实际token3个，加bos/eos为5，补到6；另一句4个token，加标记为6。</a:t>
            </a:r>
          </a:p>
          <a:p>
            <a:r>
              <a:t>页面解释：</a:t>
            </a:r>
          </a:p>
          <a:p>
            <a:r>
              <a:t>tokenizer先生成离散ID，Embedding读取参数，线性层一次投影出Q/K/V。</a:t>
            </a:r>
          </a:p>
          <a:p>
            <a:r>
              <a:t>把D=8拆成H=2个head，每头d_h=4；RoPE只处理Q/K，mask在scores上生效。</a:t>
            </a:r>
          </a:p>
          <a:p>
            <a:r>
              <a:t>softmax沿key维，再乘V并合并head；该脚本参数随机，未训练完整Block。</a:t>
            </a:r>
          </a:p>
          <a:p>
            <a:r>
              <a:t>数值算例：code/worked_examples.py；结果：assets/worked_examples.json。</a:t>
            </a:r>
          </a:p>
          <a:p>
            <a:r>
              <a:t>对应：Notebook 实验 12，input_pipeline.py:demo</a:t>
            </a:r>
          </a:p>
          <a:p>
            <a:r>
              <a:t>观察：ID [2,6] → X [2,6,8] → Q/K [2,2,6,4] → 输出 [2,6,8]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页｜58–60 分钟</a:t>
            </a:r>
          </a:p>
          <a:p>
            <a:r>
              <a:t>检查理解：解释一次编码、一次反传、一次旋转</a:t>
            </a:r>
          </a:p>
          <a:p>
            <a:r>
              <a:t>为什么 abc 在 rank 规则下是 a/bc 而非 ab/c？</a:t>
            </a:r>
          </a:p>
          <a:p>
            <a:r>
              <a:t>同一 token 出现三次，它的表行梯度怎么计算？</a:t>
            </a:r>
          </a:p>
          <a:p>
            <a:r>
              <a:t>为什么保持 n−m 后旋转点积相同，mask 却仍必要？</a:t>
            </a:r>
          </a:p>
          <a:p>
            <a:r>
              <a:t>课后：改词表规模、检查梯度、验证旋转等式并记录结果。</a:t>
            </a:r>
          </a:p>
          <a:p>
            <a:r>
              <a:t>答案：重叠候选选最小rank；按各位置上游梯度求和，不是简单覆盖；旋转编码位置关系，mask决定哪些关系可读取。作业增加一个权重绑定实验，观察输出路径使更多embedding行获得梯度。完整答案及检查在exercises.md，保留数据与机制来源。</a:t>
            </a:r>
          </a:p>
          <a:p>
            <a:r>
              <a:t>页面解释：</a:t>
            </a:r>
          </a:p>
          <a:p>
            <a:r>
              <a:t>编码：按冻结merges逐步执行，重叠候选选择最小rank。</a:t>
            </a:r>
          </a:p>
          <a:p>
            <a:r>
              <a:t>反传：同一ID在不同位置的向量梯度相加；padding lookup有专门约定。</a:t>
            </a:r>
          </a:p>
          <a:p>
            <a:r>
              <a:t>位置与mask：前者描述位置关系，后者限制哪些key可读，二者互不替代。</a:t>
            </a:r>
          </a:p>
          <a:p>
            <a:r>
              <a:t>数值算例：code/worked_examples.py；结果：assets/worked_examples.json。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00–03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回顾：Transformer 的数据怎样流动？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从一句话出发，沿着分词、向量、注意力和输出，走完一次预测。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文本变 ID，向量穿过多层 Block，最后得到下一 token 的概率。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047488" cy="38039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681727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整条路径：预测下一个 token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423160"/>
            <a:ext cx="4590288" cy="43891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2491740"/>
            <a:ext cx="384048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lang="zh-CN" sz="16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2482596"/>
            <a:ext cx="242316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文本 → Tokenizer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505456"/>
            <a:ext cx="146304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IDs [B,T]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72384" y="2871215"/>
            <a:ext cx="0" cy="100585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77240" y="2980944"/>
            <a:ext cx="4590288" cy="43891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3049524"/>
            <a:ext cx="384048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lang="zh-CN" sz="16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" y="3040379"/>
            <a:ext cx="242316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Embedding 查表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67328" y="3063239"/>
            <a:ext cx="146304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X [B,T,D]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72384" y="3429000"/>
            <a:ext cx="0" cy="100584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3538728"/>
            <a:ext cx="4590288" cy="438912"/>
          </a:xfrm>
          <a:prstGeom prst="roundRect">
            <a:avLst>
              <a:gd name="adj" fmla="val 4000"/>
            </a:avLst>
          </a:prstGeom>
          <a:solidFill>
            <a:srgbClr val="DF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3607308"/>
            <a:ext cx="384048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lang="zh-CN" sz="16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598164"/>
            <a:ext cx="242316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Decoder Block × 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67328" y="3621024"/>
            <a:ext cx="146304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H [B,T,D]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072384" y="3986784"/>
            <a:ext cx="0" cy="100584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77240" y="4096512"/>
            <a:ext cx="4590288" cy="43891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165092"/>
            <a:ext cx="384048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lang="zh-CN" sz="16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" y="4155948"/>
            <a:ext cx="242316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Norm + LM Head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67328" y="4178808"/>
            <a:ext cx="146304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logits [B,T,V]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072384" y="4544568"/>
            <a:ext cx="0" cy="100584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77240" y="4654296"/>
            <a:ext cx="4590288" cy="43891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4722876"/>
            <a:ext cx="384048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lang="zh-CN" sz="16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" y="4713732"/>
            <a:ext cx="242316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最后位置的 Softmax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67328" y="4736592"/>
            <a:ext cx="146304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选择下一 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" y="5340096"/>
            <a:ext cx="452628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把新 ID 追加到序列，再预测下一项。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97296" y="1901952"/>
            <a:ext cx="5815584" cy="38039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80176" y="2039112"/>
            <a:ext cx="54498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单层 Block：混合上下文，再加工特征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95160" y="2542032"/>
            <a:ext cx="3429000" cy="36576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86600" y="2587751"/>
            <a:ext cx="32461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Norm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705088" y="2916936"/>
            <a:ext cx="0" cy="82296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995160" y="3008376"/>
            <a:ext cx="3429000" cy="365760"/>
          </a:xfrm>
          <a:prstGeom prst="roundRect">
            <a:avLst>
              <a:gd name="adj" fmla="val 4000"/>
            </a:avLst>
          </a:prstGeom>
          <a:solidFill>
            <a:srgbClr val="DF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86600" y="3054096"/>
            <a:ext cx="32461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lang="zh-CN" sz="16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因果多头 Attention · Q/K 用 RoPE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705088" y="3383280"/>
            <a:ext cx="0" cy="82296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6995160" y="3474720"/>
            <a:ext cx="3429000" cy="36576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86600" y="3520439"/>
            <a:ext cx="32461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＋ 输入 x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705088" y="3849624"/>
            <a:ext cx="0" cy="82296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995160" y="3941063"/>
            <a:ext cx="3429000" cy="36576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86600" y="3986783"/>
            <a:ext cx="32461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Norm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705088" y="4315968"/>
            <a:ext cx="0" cy="82296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995160" y="4407408"/>
            <a:ext cx="3429000" cy="36576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86600" y="4453128"/>
            <a:ext cx="32461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FFN / MLP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705088" y="4782312"/>
            <a:ext cx="0" cy="82296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6995160" y="4873752"/>
            <a:ext cx="3429000" cy="36576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86600" y="4919472"/>
            <a:ext cx="32461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＋ 中间 h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705088" y="2368296"/>
            <a:ext cx="0" cy="164592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6428232" y="2404872"/>
            <a:ext cx="2276856" cy="0"/>
          </a:xfrm>
          <a:prstGeom prst="line">
            <a:avLst/>
          </a:prstGeom>
          <a:ln w="16510">
            <a:solidFill>
              <a:srgbClr val="087F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428232" y="2404872"/>
            <a:ext cx="0" cy="1252728"/>
          </a:xfrm>
          <a:prstGeom prst="line">
            <a:avLst/>
          </a:prstGeom>
          <a:ln w="16510">
            <a:solidFill>
              <a:srgbClr val="087F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28232" y="3657600"/>
            <a:ext cx="548640" cy="0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080760" y="2880360"/>
            <a:ext cx="26517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x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05088" y="3867912"/>
            <a:ext cx="2286000" cy="0"/>
          </a:xfrm>
          <a:prstGeom prst="line">
            <a:avLst/>
          </a:prstGeom>
          <a:ln w="16510">
            <a:solidFill>
              <a:srgbClr val="087F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991088" y="3867912"/>
            <a:ext cx="0" cy="1188720"/>
          </a:xfrm>
          <a:prstGeom prst="line">
            <a:avLst/>
          </a:prstGeom>
          <a:ln w="16510">
            <a:solidFill>
              <a:srgbClr val="087F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0442448" y="5056632"/>
            <a:ext cx="548640" cy="0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128248" y="4224528"/>
            <a:ext cx="256032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705088" y="5248656"/>
            <a:ext cx="0" cy="100584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537960" y="5422392"/>
            <a:ext cx="4407408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每层输入、输出都保持 [B,T,D]。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9808" y="5833872"/>
            <a:ext cx="10789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lang="zh-CN" sz="16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B 句子数    T 序列长度    D 向量维度    V 词表大小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03–06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从上节课的计算，走到今天的输入端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把上节课的人工算例，接到真实模型的三个输入接口。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本课聚焦：Tokenizer、Embedding、位置编码在整体架构中的作用。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上节课的人工算例：“我 / 喜欢 / 喝” → 下一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395728"/>
            <a:ext cx="10588752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Q/K 匹配 → Softmax 权重 ≈ [0.248,0.248,0.503] → 加权混合 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761488"/>
            <a:ext cx="10588752" cy="29438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混合向量 ≈ [0.752,0.752] → 输出映射 → 酒 / 牛奶的概率 ≈ [0.680,0.320]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4612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383279"/>
            <a:ext cx="320040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01  Tokenizer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3749039"/>
            <a:ext cx="3182112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文本 → IDs [B,T]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4416552"/>
            <a:ext cx="3182112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上节课：按空格切分。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" y="4750308"/>
            <a:ext cx="3182112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今天：BPE 怎样学规则、怎样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执行？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324612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59" y="3383279"/>
            <a:ext cx="320040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02  Embedding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3" y="3749039"/>
            <a:ext cx="3182112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ID → 向量 [B,T,D]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9703" y="4416552"/>
            <a:ext cx="3182112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上节课：人工二维向量。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9703" y="4750308"/>
            <a:ext cx="3182112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今天：怎样查表、怎样通过训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练更新？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24612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383279"/>
            <a:ext cx="320040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03  位置编码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3749039"/>
            <a:ext cx="3182112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位置 t → 注意力的位置关系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4416552"/>
            <a:ext cx="3182112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上节课：认识顺序的作用。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4750308"/>
            <a:ext cx="3182112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今天：输入加 PE，或在 Q/K 上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用 RoPE。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596128"/>
            <a:ext cx="105613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今天的目标：说明每个接口为什么这样设计，并在代码里找到对应运算。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06–10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BPE：先统计，再合并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每轮重新统计当前相邻片段，选择最高频的一对。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频次来自语料；合并后要重新统计。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0292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66344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① 语料与权重：不是每句话只算一次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23160"/>
            <a:ext cx="4526280" cy="35636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我喜欢喝奶茶  ×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834640"/>
            <a:ext cx="4526280" cy="35636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你喜欢喝奶茶  ×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246120"/>
            <a:ext cx="4526280" cy="35636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我喜欢喝咖啡  ×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767328"/>
            <a:ext cx="4553712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喜+欢：5+3+2=10；我+喜：5+2=7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901952"/>
            <a:ext cx="58521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039112"/>
            <a:ext cx="548640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② 每次合并后重算；同频按首次出现处理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2395728"/>
            <a:ext cx="541324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rank 0：喜 + 欢   频次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2788920"/>
            <a:ext cx="541324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rank 1：喜欢 + 喝   频次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182112"/>
            <a:ext cx="541324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rank 2：喜欢喝 + 奶   频次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575304"/>
            <a:ext cx="541324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rank 3：喜欢喝奶 + 茶   频次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389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" y="4480560"/>
            <a:ext cx="10607040" cy="3474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先从字符出发，学出“喜欢喝奶茶”；这是高频片段，不是人工指定的语言学词语。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counts[pair] += corpus[text]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pair = max(counts, key=counts.get)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01   ·   bpe_core.py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10–14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BPE 编码：谁的 rank 更小？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规则已经冻结；每次在当前候选中选择优先级最高的一对。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merge rank 决定合并顺序，token ID 决定查表地址。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04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3895344" cy="25237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352958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① 冻结规则：不再计算语料频次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04872"/>
            <a:ext cx="349300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0：喜 + 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798064"/>
            <a:ext cx="349300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1：喜欢 + 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191256"/>
            <a:ext cx="349300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2：喜欢喝 + 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84448"/>
            <a:ext cx="349300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3：喜欢喝奶 + 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6864" y="1901952"/>
            <a:ext cx="6986016" cy="25237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039112"/>
            <a:ext cx="6620255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② 编码“你喜欢喝奶茶”：按最小可用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359152"/>
            <a:ext cx="649224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你 / 喜 / 欢 / 喝 / 奶 / 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761488"/>
            <a:ext cx="649224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0 → 你 / 喜欢 / 喝 / 奶 / 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127248"/>
            <a:ext cx="649224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1 → 你 / 喜欢喝 / 奶 / 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493008"/>
            <a:ext cx="649224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2 → 你 / 喜欢喝奶 / 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858768"/>
            <a:ext cx="649224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3 → 你 / 喜欢喝奶茶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90288"/>
            <a:ext cx="1060704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重叠反例：bc 的 rank=0、ab 的 rank=1；abc 先合并 bc → a/bc，而非 ab/c。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rank, pair = min(candidates, key=lambda item: item[0])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parts = merge_pair(parts, pair)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02   ·   bpe_core.py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14–18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把 BPE 接到真实文本上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ByteLevel 处理字节与边界；BPE 处理合并规则。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先训练并保存配置，再加载同一配置进行编码。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05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349240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983479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字节、边界、合并：各自负责什么？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432304"/>
            <a:ext cx="4910328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字符演示说明合并规则；真实库还要处理文本边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界、基础字节和解码。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054096"/>
            <a:ext cx="4910328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本课 ByteLevel 用完整256字节字母表覆盖UTF-8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字节，并设置4个特殊符号。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75887"/>
            <a:ext cx="4910328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保存的不只是词表，还包括merges、预切分和de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coder；之后加载完整配置。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1901952"/>
            <a:ext cx="5532120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039112"/>
            <a:ext cx="5166359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对应分词器的五个步骤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441448"/>
            <a:ext cx="512064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Menlo"/>
                <a:ea typeface="Menlo"/>
                <a:cs typeface="Menlo"/>
              </a:defRPr>
            </a:pPr>
            <a:r>
              <a:t>Tokenizer(models.BPE(...))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62072"/>
            <a:ext cx="512064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Menlo"/>
                <a:ea typeface="Menlo"/>
                <a:cs typeface="Menlo"/>
              </a:defRPr>
            </a:pPr>
            <a:r>
              <a:t>pre_tokenizers.ByteLevel(...)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282696"/>
            <a:ext cx="512064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Menlo"/>
                <a:ea typeface="Menlo"/>
                <a:cs typeface="Menlo"/>
              </a:defRPr>
            </a:pPr>
            <a:r>
              <a:t>trainers.BpeTrainer(...)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3703320"/>
            <a:ext cx="512064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Menlo"/>
                <a:ea typeface="Menlo"/>
                <a:cs typeface="Menlo"/>
              </a:defRPr>
            </a:pPr>
            <a:r>
              <a:t>tokenizer.train_from_iterator(...)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4123944"/>
            <a:ext cx="512064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Menlo"/>
                <a:ea typeface="Menlo"/>
                <a:cs typeface="Menlo"/>
              </a:defRPr>
            </a:pPr>
            <a:r>
              <a:t>tokenizer.save(...)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tokenizer = load_tokenizer()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enc = tokenizer.encode(text)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03   ·   train_tokenizer.py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18–20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ID 必须与参数表配套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同样大小的词表，也可能把同一片段映射到不同的地址。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更换 tokenizer 时，必须核对 ID 与模型参数的对应关系。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06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真实配置：普通文本的 ID 只对当前词表有意义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423160"/>
            <a:ext cx="10515600" cy="365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我喜欢喝牛奶。 → [300,304,262] → E[300]、E[304]、E[262]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27832"/>
            <a:ext cx="534924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364991"/>
            <a:ext cx="4983479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地址相同、含义不同：假设两份词表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3739896"/>
            <a:ext cx="4892040" cy="365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词表 A：奶茶 →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197096"/>
            <a:ext cx="4892040" cy="365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词表 B：咖啡 → 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3227832"/>
            <a:ext cx="553212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364991"/>
            <a:ext cx="5166359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只换词表会怎样？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739896"/>
            <a:ext cx="5093208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模型原先把 E[7] 当作奶茶的表示。只替换词表后，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咖啡会读到原来的参数行。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361688"/>
            <a:ext cx="5093208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词表配置与参数表，必须成套加载。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212080"/>
            <a:ext cx="10515600" cy="3474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默认特殊符号：pad=0，unk=1，bos=2，eos=3；本课显式添加 bos/eos。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04   ·   runtime.py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20–24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Embedding：一个 ID 选择一行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查表与 one-hot 乘法前向等价；实际实现直接选行。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ID 是地址；可训练的表示存放在 E 的每一行。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07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X}=\mathbf{E}[I]=\operatorname{one\_hot}(I)\,\mathbf{E}" descr="\mathbf{X}=\mathbf{E}[I]=\operatorname{one\_hot}(I)\,\mathbf{E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368" y="2136267"/>
            <a:ext cx="3974782" cy="3543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查表等于用one-hot选择一行，既保留可学习参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数，又避免显式分配大one-hot张量。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算术小表中，ID=[1,2,1]会读到第1行、第2行、再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读一次第1行。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算术小表 E 的第 1、2 行：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85615"/>
            <a:ext cx="502920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E[1] = [0.2, -0.1, 0.4]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60520"/>
            <a:ext cx="502920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E[2] = [0.5, 0.3, -0.2]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53712"/>
            <a:ext cx="502920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I=[1,2,1] → 依次取第1、第2、第1行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vectors = embedding(ids)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one_hot @ embedding.weight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05   ·   embeddings.py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24–27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不同长度，怎样组成 batch？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先添加起止标记，再补齐；pad 只是占位。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padding_idx、注意力 mask 和损失忽略，需要分别处理。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08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B=2，T=6：t1…t4 是普通 token；起止标记也占位置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569464"/>
            <a:ext cx="1005840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句1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459736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83664" y="2523744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bos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1" y="2459736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2523744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t1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1183" y="2459736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7" y="2523744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t2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37376" y="2459736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523744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t3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7" y="2459736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1" y="2523744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eos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9760" y="2459736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4624" y="2523744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pad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3227832"/>
            <a:ext cx="1005840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句2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3118104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83664" y="3182112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bos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3118104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9856" y="3182112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t1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01183" y="3118104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6047" y="3182112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t2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37376" y="3118104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182112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t3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3567" y="3118104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28431" y="3182112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t4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60" y="3118104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64624" y="3182112"/>
            <a:ext cx="1188719" cy="4389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eos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3904487"/>
            <a:ext cx="11064240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4041648"/>
            <a:ext cx="1069848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三个接口分别负责什么？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8" y="4389120"/>
            <a:ext cx="3657600" cy="309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padding_idx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389120"/>
            <a:ext cx="6492240" cy="309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抑制 pad 行的 lookup 梯度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4754880"/>
            <a:ext cx="3657600" cy="309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padding key mask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4754880"/>
            <a:ext cx="6492240" cy="309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Attention 不读取 pad key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8" y="5120640"/>
            <a:ext cx="3657600" cy="309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ignore_index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5120640"/>
            <a:ext cx="6492240" cy="309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损失不计算 pad 标签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05   ·   runtime.py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27–31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读了同一行，梯度就要相加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共享参数接收所有读取位置的贡献；这里先看 lookup 路径。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反向是 scatter-add：累加贡献，而不是覆盖旧值。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09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frac{\partial L}{\partial\mathbf{E}_j}=\sum_{(b,t):\,I_{b,t}=j}\frac{\partial L}{\partial\mathbf{X}_{b,t}}\quad(j\ne\mathrm{pad})" descr="\frac{\partial L}{\partial\mathbf{E}_j}=\sum_{(b,t):\,I_{b,t}=j}\frac{\partial L}{\partial\mathbf{X}_{b,t}}\quad(j\ne\mathrm{pad}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076" y="1920240"/>
            <a:ext cx="4805367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把同一行看成被多处引用的共享参数；每个位置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贡献自己的向量梯度。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若ID1两次上游梯度为[1,0]和[0,2]，第1行收到[1,2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]，不是取平均也不是覆盖。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ID 1：[1,0]+[0,2] = [1, 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31336"/>
            <a:ext cx="5029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ID 2：第2行梯度 = [3, 4]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88536"/>
            <a:ext cx="498348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pad 行的 lookup 梯度为 [0,0]。上游梯度是向量，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累加不是数出现次数这么简单。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loss = (embedding(ids) * upstream).sum()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loss.backward()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06   ·   embeddings.py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31–34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预测误差怎样传回向量？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单位置交叉熵：先得到类别误差，再乘回输出权重。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先算每次出现的向量梯度，再按 ID 汇总到参数表。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10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frac{\partial L}{\partial\mathbf{e}}=(\mathbf{p}-\operatorname{one\_hot}(y))\mathbf{W}_{\rm out}" descr="\frac{\partial L}{\partial\mathbf{e}}=(\mathbf{p}-\operatorname{one\_hot}(y))\mathbf{W}_{\rm out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345" y="2073402"/>
            <a:ext cx="4354830" cy="4800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类别编号0/1/2，目标y=1，预测p=[0.1,0.7,0.2]；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交叉熵为-ln(0.7)≈0.3567。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类别误差p-one_hot(1)=[0.1,-0.3,0.2]，右乘输出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权重得到输入向量梯度。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09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p-one_hot(y) = [0.1, -0.3, 0.2]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76472"/>
            <a:ext cx="502920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W_out 三行：[1,0]、[0,1]、[-1,0.5]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42232"/>
            <a:ext cx="5029200" cy="35636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1">
                <a:solidFill>
                  <a:srgbClr val="087568"/>
                </a:solidFill>
                <a:latin typeface="DengXian"/>
                <a:ea typeface="DengXian"/>
                <a:cs typeface="DengXian"/>
              </a:defRPr>
            </a:pPr>
            <a:r>
              <a:t>向量梯度 = [-0.1, -0.2]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81144"/>
            <a:ext cx="502920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目标类的概率偏低，误差经 W_out 传回。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loss = F.cross_entropy(logits, target)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loss.backward()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07   ·   gradient_chain.py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34–37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让 Embedding 真正学一次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57 对相邻 token；Embedding → Linear → CrossEntropy。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训练让“当前 token 的向量”逐渐有助于预测下一项。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11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L=-\frac{1}{N}\sum_{r=1}^{N}\log p(y_r\mid x_r)" descr="L=-\frac{1}{N}\sum_{r=1}^{N}\log p(y_r\mid x_r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495" y="1920240"/>
            <a:ext cx="3026528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把相邻token构成(x,y)：当前ID查表，经Linear产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生所有候选的logits，再与真实下一ID比较。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每步依次前向、清梯度、backward、optimizer.st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ep；梯度负责指出如何调整参数。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步数       0          30         120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03904"/>
            <a:ext cx="5029200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loss   5.7565   0.3607   0.3559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0248"/>
            <a:ext cx="498348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26 行参数改变；模型只看当前 token。同一输入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存在多种后续，loss 不必归零。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logits = output(embedding(x)); loss = F.cross_entropy(logits, 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optimizer.zero_grad(); loss.backward(); optimizer.step()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08   ·   embedding_train.py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37–39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一张表，两条梯度路径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权重绑定：输入查表和输出分类器共享同一个 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绑定后，没作为输入的行也可能收到输出梯度。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12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z}=\mathbf{h}\mathbf{E}^{\mathsf{T}}+\mathbf{b},\qquad\nabla_{\mathbf{E}}L=\nabla_{\mathbf{E}}^{\rm lookup}L+\nabla_{\mathbf{E}}^{\rm output}L" descr="\mathbf{z}=\mathbf{h}\mathbf{E}^{\mathsf{T}}+\mathbf{b},\qquad\nabla_{\mathbf{E}}L=\nabla_{\mathbf{E}}^{\rm lookup}L+\nabla_{\mathbf{E}}^{\rm output}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595" y="2034825"/>
            <a:ext cx="7212330" cy="55721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不绑定时，输入E与输出W是两个参数；绑定后输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出直接使用E的转置。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输入查表只读取少数行，输出softmax却把全词表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作为候选，因此更多行可能收到梯度。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498348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输入路径：只读取当前出现的行。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53612"/>
            <a:ext cx="498348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输出路径：softmax 对全词表候选求导。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096512"/>
            <a:ext cx="498348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两条贡献相加：没出现在输入里的行，也可能因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输出分类收到梯度。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head.weight = tied_embedding.weight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optimizer = torch.optim.Adam(model.parameters(), lr=0.01)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课后扩展   ·   tools/check_experiments.py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39–42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没有位置，重排会怎样？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假设：没有位置机制，也没有因果 mask。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只按内容匹配时，输出跟着输入一起重排。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13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operatorname{Attn}(\Pi\mathbf{X})=\Pi\operatorname{Attn}(\mathbf{X})" descr="\operatorname{Attn}(\Pi\mathbf{X})=\Pi\operatorname{Attn}(\mathbf{X}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677" y="2136267"/>
            <a:ext cx="3606165" cy="3543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“我/喜欢/你”换成“你/喜欢/我”，仅查表得到的仍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是同一组内容向量。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无位置、无mask时，Q/K/V随行重排，scores行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列同时重排，输出也对应重排。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内容顺序：我 / 喜欢 / 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94760"/>
            <a:ext cx="5029200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重排为：你 / 喜欢 / 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51960"/>
            <a:ext cx="498348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Q/K/V 都随行重排，scores 的行列一起重排。加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上固定位置坐标后，一般不再满足这个等式。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rearranged = attention(x[permutation])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torch.allclose(rearranged, original[permutation])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09   ·   position_mechanics.py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42–45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把位置向量加进输入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内容与位置使用同样的维度，相加后形状保持不变。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位置是 token 序号，不是原文的字符 offset。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14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X}_{b,t}=\mathbf{E}[I_{b,t}]+\operatorname{PE}(t)" descr="\mathbf{X}_{b,t}=\mathbf{E}[I_{b,t}]+\operatorname{PE}(t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830" y="2123408"/>
            <a:ext cx="3451860" cy="38004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算例：跟着数值走一遍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内容向量表示“是什么”，位置向量提供“在第几个t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oken”；相加后仍是D维。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学习式位置表通过训练更新，直接查询范围受表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长L限制；正弦编码由固定函数生成。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10712"/>
            <a:ext cx="5029200" cy="30175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D=4，位置 t=0 的正弦向量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76472"/>
            <a:ext cx="502920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内容：[0.2, -0.1, 0.4, 0]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42232"/>
            <a:ext cx="502920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位置：[0, 1, 0, 1]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07992"/>
            <a:ext cx="5029200" cy="35636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相加：[0.2, 0.9, 0.4, 1]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pe = sinusoidal(torch.arange(3), 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absolute_original = attention(x + pe)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10   ·   positions.py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45–48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位置 × 频率，得到角度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不同维度对使用不同频率，再交错存放 sin 与 cos。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positions → angles → sin / cos：每一步都有明确形状。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15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omega_i=10000^{-2i/D},\quad\theta_{t,i}=t\omega_i" descr="\omega_i=10000^{-2i/D},\quad\theta_{t,i}=t\omega_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671" y="1920240"/>
            <a:ext cx="3756176" cy="384048"/>
          </a:xfrm>
          <a:prstGeom prst="rect">
            <a:avLst/>
          </a:prstGeom>
        </p:spPr>
      </p:pic>
      <p:pic>
        <p:nvPicPr>
          <p:cNvPr id="18" name="Formula: \operatorname{PE}(t,2i)=\sin\theta_{t,i},\quad\operatorname{PE}(t,2i+1)=\cos\theta_{t,i}" descr="\operatorname{PE}(t,2i)=\sin\theta_{t,i},\quad\operatorname{PE}(t,2i+1)=\cos\theta_{t,i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8895" y="2324576"/>
            <a:ext cx="6983730" cy="38004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算例：跟着数值走一遍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D=4：两对维度的频率为 [1,0.01]。t=1 时角度为 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[1,0.01]。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[T,1] × [1,D/2] 广播得到 [T,D/2]；不是逐个 token 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写循环。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10712"/>
            <a:ext cx="5029200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PE(0) = [0, 1, 0, 1]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31336"/>
            <a:ext cx="502920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PE(1) ≈ [0.8415, 0.5403,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4169663"/>
            <a:ext cx="4023360" cy="32537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0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0.0100, 1.0000]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581144"/>
            <a:ext cx="502920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高低频率提供不同的位置变化尺度。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angles = positions[:, None] * frequencies[None, :]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result[:, 0::2], result[:, 1::2] = angles.sin(), angles.cos()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10   ·   positions.py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48–51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RoPE：位置变成箭头的转角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先看一对二维分量：每前进一个位置，箭头就多转一点。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两个箭头一起转，夹角不变；位置差因此进入注意力分数。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16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440680" cy="28986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50749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① 位置 1 和 3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2592588" y="3602832"/>
            <a:ext cx="4308" cy="8220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2579711" y="3521533"/>
            <a:ext cx="12877" cy="812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2558407" y="3442025"/>
            <a:ext cx="21304" cy="795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2528909" y="3365180"/>
            <a:ext cx="29498" cy="76845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2491540" y="3291840"/>
            <a:ext cx="37369" cy="7334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446710" y="3222807"/>
            <a:ext cx="44830" cy="69033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2394909" y="3158838"/>
            <a:ext cx="51801" cy="639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2336705" y="3100634"/>
            <a:ext cx="58204" cy="582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2272736" y="3048833"/>
            <a:ext cx="63969" cy="5180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2203704" y="3004003"/>
            <a:ext cx="69032" cy="4483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130363" y="2966634"/>
            <a:ext cx="73341" cy="373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2053518" y="2937136"/>
            <a:ext cx="76845" cy="2949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1974010" y="2915832"/>
            <a:ext cx="79508" cy="213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1892711" y="2902955"/>
            <a:ext cx="81299" cy="1287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1810512" y="2898648"/>
            <a:ext cx="82199" cy="430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728312" y="2898648"/>
            <a:ext cx="82200" cy="430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647013" y="2902955"/>
            <a:ext cx="81299" cy="1287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567505" y="2915832"/>
            <a:ext cx="79508" cy="213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490660" y="2937136"/>
            <a:ext cx="76845" cy="2949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417320" y="2966634"/>
            <a:ext cx="73340" cy="373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348287" y="3004003"/>
            <a:ext cx="69033" cy="4483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84318" y="3048833"/>
            <a:ext cx="63969" cy="5180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226114" y="3100634"/>
            <a:ext cx="58204" cy="582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174313" y="3158838"/>
            <a:ext cx="51801" cy="639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129483" y="3222807"/>
            <a:ext cx="44830" cy="69033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092114" y="3291840"/>
            <a:ext cx="37369" cy="7334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62616" y="3365180"/>
            <a:ext cx="29498" cy="76845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1041312" y="3442025"/>
            <a:ext cx="21304" cy="795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28435" y="3521533"/>
            <a:ext cx="12877" cy="812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024128" y="3602832"/>
            <a:ext cx="4307" cy="8220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24128" y="3685032"/>
            <a:ext cx="4307" cy="821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28435" y="3767231"/>
            <a:ext cx="12877" cy="812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41312" y="3848530"/>
            <a:ext cx="21304" cy="795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62616" y="3928038"/>
            <a:ext cx="29498" cy="76845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92114" y="4004883"/>
            <a:ext cx="37369" cy="7334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29483" y="4078224"/>
            <a:ext cx="44830" cy="69032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74313" y="4147256"/>
            <a:ext cx="51801" cy="639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226114" y="4211225"/>
            <a:ext cx="58204" cy="582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84318" y="4269429"/>
            <a:ext cx="63969" cy="5180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48287" y="4321230"/>
            <a:ext cx="69032" cy="4483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417319" y="4366060"/>
            <a:ext cx="73341" cy="373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90660" y="4403429"/>
            <a:ext cx="76845" cy="2949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567505" y="4432927"/>
            <a:ext cx="79508" cy="213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47013" y="4454231"/>
            <a:ext cx="81299" cy="1287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728312" y="4467108"/>
            <a:ext cx="82199" cy="43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810511" y="4467108"/>
            <a:ext cx="82200" cy="43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892711" y="4454231"/>
            <a:ext cx="81299" cy="1287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974010" y="4432927"/>
            <a:ext cx="79508" cy="213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53518" y="4403429"/>
            <a:ext cx="76845" cy="2949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0363" y="4366060"/>
            <a:ext cx="73341" cy="373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203704" y="4321230"/>
            <a:ext cx="69032" cy="4483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72736" y="4269429"/>
            <a:ext cx="63969" cy="5180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336705" y="4211225"/>
            <a:ext cx="58204" cy="582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394909" y="4147256"/>
            <a:ext cx="51801" cy="639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46710" y="4078224"/>
            <a:ext cx="44830" cy="69032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91540" y="4004883"/>
            <a:ext cx="37369" cy="7334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528909" y="3928038"/>
            <a:ext cx="29498" cy="76845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558407" y="3848530"/>
            <a:ext cx="21304" cy="795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579711" y="3767231"/>
            <a:ext cx="12877" cy="812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592588" y="3685032"/>
            <a:ext cx="4308" cy="821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14400" y="3685032"/>
            <a:ext cx="1810512" cy="0"/>
          </a:xfrm>
          <a:prstGeom prst="line">
            <a:avLst/>
          </a:prstGeom>
          <a:ln w="1651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810512" y="2752344"/>
            <a:ext cx="0" cy="1152144"/>
          </a:xfrm>
          <a:prstGeom prst="line">
            <a:avLst/>
          </a:prstGeom>
          <a:ln w="1651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810512" y="3291840"/>
            <a:ext cx="681028" cy="393192"/>
          </a:xfrm>
          <a:prstGeom prst="line">
            <a:avLst/>
          </a:prstGeom>
          <a:ln w="16510">
            <a:solidFill>
              <a:srgbClr val="2458C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810512" y="2898648"/>
            <a:ext cx="0" cy="786384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2140270" y="3470884"/>
            <a:ext cx="10756" cy="1755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2128611" y="3453919"/>
            <a:ext cx="11659" cy="16965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 flipV="1">
            <a:off x="2116079" y="3437588"/>
            <a:ext cx="12532" cy="16331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2102710" y="3421935"/>
            <a:ext cx="13369" cy="15653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 flipV="1">
            <a:off x="2088540" y="3407003"/>
            <a:ext cx="14170" cy="1493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2073608" y="3392833"/>
            <a:ext cx="14932" cy="14170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2057955" y="3379464"/>
            <a:ext cx="15653" cy="13369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2041624" y="3366932"/>
            <a:ext cx="16331" cy="1253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 flipV="1">
            <a:off x="2024659" y="3355273"/>
            <a:ext cx="16965" cy="11659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 flipV="1">
            <a:off x="2007107" y="3344517"/>
            <a:ext cx="17552" cy="10756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 flipV="1">
            <a:off x="1989017" y="3334695"/>
            <a:ext cx="18090" cy="982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 flipV="1">
            <a:off x="1970437" y="3325833"/>
            <a:ext cx="18580" cy="886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1951419" y="3317955"/>
            <a:ext cx="19018" cy="7878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 flipV="1">
            <a:off x="1932015" y="3311084"/>
            <a:ext cx="19404" cy="6871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 flipV="1">
            <a:off x="1912277" y="3305237"/>
            <a:ext cx="19738" cy="5847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 flipV="1">
            <a:off x="1892261" y="3300432"/>
            <a:ext cx="20016" cy="4805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 flipV="1">
            <a:off x="1872020" y="3296680"/>
            <a:ext cx="20241" cy="375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1851611" y="3293993"/>
            <a:ext cx="20409" cy="2687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 flipV="1">
            <a:off x="1831090" y="3292378"/>
            <a:ext cx="20521" cy="1615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 flipV="1">
            <a:off x="1810512" y="3291840"/>
            <a:ext cx="20578" cy="538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2971800" y="2633472"/>
            <a:ext cx="2770632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Q：位置 1 → 30°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71800" y="3090672"/>
            <a:ext cx="2770632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1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K：位置 3 → 90°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71800" y="3675887"/>
            <a:ext cx="2770632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夹角仍为 60°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971800" y="4133087"/>
            <a:ext cx="2770632" cy="30175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位置相差 2 格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72200" y="1901952"/>
            <a:ext cx="5440680" cy="28986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55080" y="2039112"/>
            <a:ext cx="507492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② 两个位置都向后移 2 格</a:t>
            </a:r>
          </a:p>
        </p:txBody>
      </p:sp>
      <p:cxnSp>
        <p:nvCxnSpPr>
          <p:cNvPr id="108" name="Connector 107"/>
          <p:cNvCxnSpPr/>
          <p:nvPr/>
        </p:nvCxnSpPr>
        <p:spPr>
          <a:xfrm flipH="1" flipV="1">
            <a:off x="8216148" y="3602832"/>
            <a:ext cx="4307" cy="8220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8203271" y="3521533"/>
            <a:ext cx="12877" cy="812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 flipV="1">
            <a:off x="8181967" y="3442025"/>
            <a:ext cx="21304" cy="795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8152469" y="3365180"/>
            <a:ext cx="29498" cy="76845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 flipV="1">
            <a:off x="8115100" y="3291840"/>
            <a:ext cx="37369" cy="7334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 flipV="1">
            <a:off x="8070270" y="3222807"/>
            <a:ext cx="44830" cy="69033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 flipV="1">
            <a:off x="8018469" y="3158838"/>
            <a:ext cx="51801" cy="639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 flipV="1">
            <a:off x="7960265" y="3100634"/>
            <a:ext cx="58204" cy="582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 flipV="1">
            <a:off x="7896296" y="3048833"/>
            <a:ext cx="63969" cy="5180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 flipV="1">
            <a:off x="7827263" y="3004003"/>
            <a:ext cx="69033" cy="4483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 flipV="1">
            <a:off x="7753923" y="2966634"/>
            <a:ext cx="73340" cy="373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 flipV="1">
            <a:off x="7677078" y="2937136"/>
            <a:ext cx="76845" cy="2949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 flipV="1">
            <a:off x="7597570" y="2915832"/>
            <a:ext cx="79508" cy="213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 flipV="1">
            <a:off x="7516271" y="2902955"/>
            <a:ext cx="81299" cy="1287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7434071" y="2898648"/>
            <a:ext cx="82200" cy="430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7351872" y="2898648"/>
            <a:ext cx="82199" cy="430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7270573" y="2902955"/>
            <a:ext cx="81299" cy="1287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7191065" y="2915832"/>
            <a:ext cx="79508" cy="213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7114220" y="2937136"/>
            <a:ext cx="76845" cy="2949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>
            <a:off x="7040879" y="2966634"/>
            <a:ext cx="73341" cy="373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6971847" y="3004003"/>
            <a:ext cx="69032" cy="4483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6907878" y="3048833"/>
            <a:ext cx="63969" cy="5180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6849674" y="3100634"/>
            <a:ext cx="58204" cy="582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6797873" y="3158838"/>
            <a:ext cx="51801" cy="639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6753043" y="3222807"/>
            <a:ext cx="44830" cy="69033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6715674" y="3291840"/>
            <a:ext cx="37369" cy="7334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6686176" y="3365180"/>
            <a:ext cx="29498" cy="76845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6664872" y="3442025"/>
            <a:ext cx="21304" cy="795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6651995" y="3521533"/>
            <a:ext cx="12877" cy="812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6647687" y="3602832"/>
            <a:ext cx="4308" cy="8220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6647687" y="3685032"/>
            <a:ext cx="4308" cy="821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6651995" y="3767231"/>
            <a:ext cx="12877" cy="812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6664872" y="3848530"/>
            <a:ext cx="21304" cy="795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6686176" y="3928038"/>
            <a:ext cx="29498" cy="76845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6715674" y="4004883"/>
            <a:ext cx="37369" cy="7334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6753043" y="4078224"/>
            <a:ext cx="44830" cy="69032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797873" y="4147256"/>
            <a:ext cx="51801" cy="639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6849674" y="4211225"/>
            <a:ext cx="58204" cy="582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6907878" y="4269429"/>
            <a:ext cx="63969" cy="5180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6971847" y="4321230"/>
            <a:ext cx="69032" cy="4483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7040879" y="4366060"/>
            <a:ext cx="73341" cy="373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7114220" y="4403429"/>
            <a:ext cx="76845" cy="2949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191065" y="4432927"/>
            <a:ext cx="79508" cy="213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70573" y="4454231"/>
            <a:ext cx="81299" cy="1287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351872" y="4467108"/>
            <a:ext cx="82199" cy="43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7434071" y="4467108"/>
            <a:ext cx="82200" cy="43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7516271" y="4454231"/>
            <a:ext cx="81299" cy="12877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7597570" y="4432927"/>
            <a:ext cx="79508" cy="213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7677078" y="4403429"/>
            <a:ext cx="76845" cy="2949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7753923" y="4366060"/>
            <a:ext cx="73340" cy="373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7827263" y="4321230"/>
            <a:ext cx="69033" cy="44830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7896296" y="4269429"/>
            <a:ext cx="63969" cy="5180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7960265" y="4211225"/>
            <a:ext cx="58204" cy="58204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8018469" y="4147256"/>
            <a:ext cx="51801" cy="6396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8070270" y="4078224"/>
            <a:ext cx="44830" cy="69032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8115100" y="4004883"/>
            <a:ext cx="37369" cy="73341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8152469" y="3928038"/>
            <a:ext cx="29498" cy="76845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8181967" y="3848530"/>
            <a:ext cx="21304" cy="79508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8203271" y="3767231"/>
            <a:ext cx="12877" cy="812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8216148" y="3685032"/>
            <a:ext cx="4307" cy="82199"/>
          </a:xfrm>
          <a:prstGeom prst="line">
            <a:avLst/>
          </a:prstGeom>
          <a:ln w="16510">
            <a:solidFill>
              <a:srgbClr val="DCE3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6537959" y="3685032"/>
            <a:ext cx="1810512" cy="0"/>
          </a:xfrm>
          <a:prstGeom prst="line">
            <a:avLst/>
          </a:prstGeom>
          <a:ln w="1651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7434071" y="2752344"/>
            <a:ext cx="0" cy="1152144"/>
          </a:xfrm>
          <a:prstGeom prst="line">
            <a:avLst/>
          </a:prstGeom>
          <a:ln w="1651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7434071" y="2898648"/>
            <a:ext cx="0" cy="786384"/>
          </a:xfrm>
          <a:prstGeom prst="line">
            <a:avLst/>
          </a:prstGeom>
          <a:ln w="16510">
            <a:solidFill>
              <a:srgbClr val="2458C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 flipV="1">
            <a:off x="6753043" y="3291840"/>
            <a:ext cx="681028" cy="393192"/>
          </a:xfrm>
          <a:prstGeom prst="line">
            <a:avLst/>
          </a:prstGeom>
          <a:ln w="16510">
            <a:solidFill>
              <a:srgbClr val="087F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7413493" y="3291840"/>
            <a:ext cx="20578" cy="538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7392972" y="3292378"/>
            <a:ext cx="20521" cy="1615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7372563" y="3293993"/>
            <a:ext cx="20409" cy="2687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7352322" y="3296680"/>
            <a:ext cx="20241" cy="375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7332306" y="3300432"/>
            <a:ext cx="20016" cy="4805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7312568" y="3305237"/>
            <a:ext cx="19738" cy="5847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7293164" y="3311084"/>
            <a:ext cx="19404" cy="6871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7274146" y="3317955"/>
            <a:ext cx="19018" cy="7878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7255566" y="3325833"/>
            <a:ext cx="18580" cy="886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7237475" y="3334695"/>
            <a:ext cx="18091" cy="982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7219924" y="3344517"/>
            <a:ext cx="17551" cy="10756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>
            <a:off x="7202959" y="3355273"/>
            <a:ext cx="16965" cy="11659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7186628" y="3366932"/>
            <a:ext cx="16331" cy="1253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7170975" y="3379464"/>
            <a:ext cx="15653" cy="13369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H="1">
            <a:off x="7156043" y="3392833"/>
            <a:ext cx="14932" cy="14170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>
            <a:off x="7141873" y="3407003"/>
            <a:ext cx="14170" cy="1493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H="1">
            <a:off x="7128504" y="3421935"/>
            <a:ext cx="13369" cy="15653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7115972" y="3437588"/>
            <a:ext cx="12532" cy="16331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7104313" y="3453919"/>
            <a:ext cx="11659" cy="16965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7093557" y="3470884"/>
            <a:ext cx="10756" cy="17552"/>
          </a:xfrm>
          <a:prstGeom prst="line">
            <a:avLst/>
          </a:prstGeom>
          <a:ln w="16510">
            <a:solidFill>
              <a:srgbClr val="8B9B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8595360" y="2633472"/>
            <a:ext cx="2770632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Q：位置 3 → 90°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595360" y="3090672"/>
            <a:ext cx="2770632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1">
                <a:solidFill>
                  <a:srgbClr val="087F8C"/>
                </a:solidFill>
                <a:latin typeface="DengXian"/>
                <a:ea typeface="DengXian"/>
                <a:cs typeface="DengXian"/>
              </a:defRPr>
            </a:pPr>
            <a:r>
              <a:t>K：位置 5 → 150°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595360" y="3675887"/>
            <a:ext cx="2770632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夹角仍为 60°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595360" y="4133087"/>
            <a:ext cx="2770632" cy="30175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位置相差 2 格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548640" y="5001768"/>
            <a:ext cx="11064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58952" y="5157216"/>
            <a:ext cx="45720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单位箭头的点积 = 夹角的余弦</a:t>
            </a:r>
          </a:p>
        </p:txBody>
      </p:sp>
      <p:pic>
        <p:nvPicPr>
          <p:cNvPr id="198" name="Formula: \cos((3-1)\times30^\circ)=\cos60^\circ=0.5" descr="\cos((3-1)\times30^\circ)=\cos60^\circ=0.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5167788"/>
            <a:ext cx="4937760" cy="317182"/>
          </a:xfrm>
          <a:prstGeom prst="rect">
            <a:avLst/>
          </a:prstGeom>
        </p:spPr>
      </p:pic>
      <p:sp>
        <p:nvSpPr>
          <p:cNvPr id="199" name="TextBox 198"/>
          <p:cNvSpPr txBox="1"/>
          <p:nvPr/>
        </p:nvSpPr>
        <p:spPr>
          <a:xfrm>
            <a:off x="758952" y="5824728"/>
            <a:ext cx="10789920" cy="2468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图解设定：Q、K 起初都为 [1,0]，每格旋转 30°。实验 11：rotate_pair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51–54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从两个箭头，到整个 Q / K 张量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每两个分量组成一支箭头，各对维度按不同速度旋转。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RoPE 旋转 Q 和 K；位置通过它们的点积进入 Attention。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17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5349240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4983479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高维向量：拆成多支二维箭头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414016"/>
            <a:ext cx="4910328" cy="3408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lang="zh-CN" sz="22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[ x0, x1 | x2, x3 | x4, x5 | …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907792"/>
            <a:ext cx="4910328" cy="30810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第 i 对的角度：θ = 位置 t × 频率 ωi。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21050"/>
            <a:ext cx="4910328" cy="6024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例如 d_h=4：两对维度的频率为 1、0.01；同</a:t>
            </a:r>
          </a:p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一位置，一对转得快，一对转得慢。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028694"/>
            <a:ext cx="4910328" cy="6024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Q 和 K 都这样转，再做点积；V 保留原来的内</a:t>
            </a:r>
          </a:p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容向量。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901952"/>
            <a:ext cx="5532120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039112"/>
            <a:ext cx="5166359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一支箭头怎样转？公式逐项对应代码</a:t>
            </a:r>
          </a:p>
        </p:txBody>
      </p:sp>
      <p:pic>
        <p:nvPicPr>
          <p:cNvPr id="24" name="Formula: x'_{2i}=x_{2i}\cos\theta-x_{2i+1}\sin\theta" descr="x'_{2i}=x_{2i}\cos\theta-x_{2i+1}\sin\th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291" y="2462593"/>
            <a:ext cx="3871912" cy="405765"/>
          </a:xfrm>
          <a:prstGeom prst="rect">
            <a:avLst/>
          </a:prstGeom>
        </p:spPr>
      </p:pic>
      <p:pic>
        <p:nvPicPr>
          <p:cNvPr id="25" name="Formula: x'_{2i+1}=x_{2i}\sin\theta+x_{2i+1}\cos\theta" descr="x'_{2i+1}=x_{2i}\sin\theta+x_{2i+1}\cos\th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09" y="3011233"/>
            <a:ext cx="4277677" cy="40576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18504" y="3657600"/>
            <a:ext cx="5047488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原来的两个坐标 → 旋转后的两个坐标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33087"/>
            <a:ext cx="5047488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lang="zh-CN" sz="21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[1,0] 转 30° → [0.8660, 0.5000]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result[..., 0::2] = even * cos - odd * sin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result[..., 1::2] = even * sin + odd * 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11   ·   positions.py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54–56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位置关系与可读范围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RoPE 改变分数；mask 决定哪些 key 可以被读取。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有了位置机制，仍要屏蔽未来 key 与 padding key。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18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883664"/>
            <a:ext cx="11064240" cy="896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Formula: \mathbf{A}=\operatorname{softmax}\!\left(\frac{\widetilde{\mathbf{Q}}\widetilde{\mathbf{K}}^{\mathsf{T}}}{\sqrt{d_h}}+\mathbf{M}\right)" descr="\mathbf{A}=\operatorname{softmax}\!\left(\frac{\widetilde{\mathbf{Q}}\widetilde{\mathbf{K}}^{\mathsf{T}}}{\sqrt{d_h}}+\mathbf{M}\right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951" y="1920240"/>
            <a:ext cx="3887616" cy="78638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48640" y="2935224"/>
            <a:ext cx="5358384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992624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机制：每个量在做什么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935224"/>
            <a:ext cx="5522976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3072384"/>
            <a:ext cx="5157216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S全0、末列为pad：注意力权重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29000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位置机制改变分数的数值关系，因果mask禁止读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取未来，padding key mask禁止读取补齐项。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050791"/>
            <a:ext cx="493776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禁止位置设为-∞，softmax后权重为0；示意中最</a:t>
            </a:r>
          </a:p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后一个key为pad，整列权重为0。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410712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1" y="3410712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3410712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0616" y="3410712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75887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1/2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1" y="3675887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1/2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4" y="3675887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0616" y="3675887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941063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1" y="3941063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1/3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3941063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1/3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0616" y="3941063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206240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1/3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34071" y="4206240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1/3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4206240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1/3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4206240"/>
            <a:ext cx="9144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2458C6"/>
                </a:solidFill>
                <a:latin typeface="Menlo"/>
                <a:ea typeface="Menlo"/>
                <a:cs typeface="Menlo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590288"/>
            <a:ext cx="5029200" cy="2788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pad query 的输出另行清零。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056632"/>
            <a:ext cx="11064240" cy="676656"/>
          </a:xfrm>
          <a:prstGeom prst="roundRect">
            <a:avLst>
              <a:gd name="adj" fmla="val 4000"/>
            </a:avLst>
          </a:prstGeom>
          <a:solidFill>
            <a:srgbClr val="14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5166360"/>
            <a:ext cx="502920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830"/>
              </a:lnSpc>
              <a:spcBef>
                <a:spcPts val="0"/>
              </a:spcBef>
              <a:spcAft>
                <a:spcPts val="0"/>
              </a:spcAft>
              <a:defRPr lang="zh-CN" sz="1500" b="1">
                <a:solidFill>
                  <a:srgbClr val="8BCFD2"/>
                </a:solidFill>
                <a:latin typeface="DengXian"/>
                <a:ea typeface="DengXian"/>
                <a:cs typeface="DengXian"/>
              </a:defRPr>
            </a:pPr>
            <a:r>
              <a:t>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4440" y="509320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forbidden = future | ~valid[None, :]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4440" y="5367528"/>
            <a:ext cx="1011326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weights = scores.masked_fill(forbidden, -torch.inf).softmax(-1)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12   ·   input_pipeline.py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56–58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沿真实输入，把形状接起来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本地 tokenizer → Embedding → 多头 Q/K → RoPE + mask。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把分词、向量、旋转与 mask 接起来，完成一次注意力计算。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19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从本地 ID 到多头注意力输出：每个轴都有含义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04872"/>
            <a:ext cx="10561320" cy="35636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[2,6] → [2,6,8] → Q/K [2,2,6,4] → scores [2,2,6,6] → [2,6,8]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0896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46120"/>
            <a:ext cx="1069848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对应实现与每步目的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39312"/>
            <a:ext cx="22402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1  查表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639312"/>
            <a:ext cx="438912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embedding(ids)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639312"/>
            <a:ext cx="36118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离散地址 → D维参数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059936"/>
            <a:ext cx="22402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2  投影、拆头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059936"/>
            <a:ext cx="438912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Linear → view → transpose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059936"/>
            <a:ext cx="36118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D=8 拆成 H=2、d_h=4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480560"/>
            <a:ext cx="22402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3  位置、遮罩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480560"/>
            <a:ext cx="438912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apply_rope → masked_fill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4480560"/>
            <a:ext cx="36118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位置进入Q/K，mask限制key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901184"/>
            <a:ext cx="22402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4  混合、合头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4901184"/>
            <a:ext cx="438912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softmax → @v → reshape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901184"/>
            <a:ext cx="36118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沿key归一化，再合并各head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33872"/>
            <a:ext cx="1097280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586"/>
              </a:lnSpc>
              <a:spcBef>
                <a:spcPts val="0"/>
              </a:spcBef>
              <a:spcAft>
                <a:spcPts val="0"/>
              </a:spcAft>
              <a:defRPr lang="zh-CN" sz="13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实验 12   ·   input_pipeline.py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01  分词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38528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02  向量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246888"/>
            <a:ext cx="1225296" cy="310896"/>
          </a:xfrm>
          <a:prstGeom prst="roundRect">
            <a:avLst>
              <a:gd name="adj" fmla="val 4000"/>
            </a:avLst>
          </a:prstGeom>
          <a:solidFill>
            <a:srgbClr val="245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283464"/>
            <a:ext cx="1225296" cy="2377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t>03  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4320"/>
            <a:ext cx="24688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707"/>
              </a:lnSpc>
              <a:spcBef>
                <a:spcPts val="0"/>
              </a:spcBef>
              <a:spcAft>
                <a:spcPts val="0"/>
              </a:spcAft>
              <a:defRPr lang="zh-CN" sz="14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58–60 min  / 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lang="zh-CN" sz="3400" b="1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用三个问题，检查是否理解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08176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解释一次编码、一次反传、一次位置计算。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064240" cy="429768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6199632"/>
            <a:ext cx="1069848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lang="zh-CN" sz="19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课后：改词表、查梯度、验证旋转，并保留实验结果。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647688"/>
            <a:ext cx="8046720" cy="1920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1342"/>
              </a:lnSpc>
              <a:spcBef>
                <a:spcPts val="0"/>
              </a:spcBef>
              <a:spcAft>
                <a:spcPts val="0"/>
              </a:spcAft>
              <a:defRPr lang="zh-CN" sz="11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TRANSFORMER NEWBIE  ·  CLASS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29400"/>
            <a:ext cx="1097280" cy="2194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defRPr lang="zh-CN" sz="12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20 /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01952"/>
            <a:ext cx="11064240" cy="38130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039112"/>
            <a:ext cx="10698480" cy="2834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lang="zh-CN" sz="18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先独立回答，再用下面的机制核对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50592"/>
            <a:ext cx="1280160" cy="3931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lang="zh-CN" sz="25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编码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450592"/>
            <a:ext cx="8869680" cy="3840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为什么abc不是最长前缀ab/c？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2889504"/>
            <a:ext cx="88696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核对：可合并的当前相邻候选中，选最小rank。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438144"/>
            <a:ext cx="1280160" cy="3931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lang="zh-CN" sz="25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梯度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438144"/>
            <a:ext cx="8869680" cy="3840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同一ID出现三次，第j行怎样更新？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877056"/>
            <a:ext cx="88696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核对：把三个位置的上游向量梯度相加。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425696"/>
            <a:ext cx="1280160" cy="3931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lang="zh-CN" sz="2500" b="1">
                <a:solidFill>
                  <a:srgbClr val="2458C6"/>
                </a:solidFill>
                <a:latin typeface="DengXian"/>
                <a:ea typeface="DengXian"/>
                <a:cs typeface="DengXian"/>
              </a:defRPr>
            </a:pPr>
            <a:r>
              <a:t>位置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425696"/>
            <a:ext cx="8869680" cy="3840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lang="zh-CN" sz="2300" b="0">
                <a:solidFill>
                  <a:srgbClr val="14263D"/>
                </a:solidFill>
                <a:latin typeface="DengXian"/>
                <a:ea typeface="DengXian"/>
                <a:cs typeface="DengXian"/>
              </a:defRPr>
            </a:pPr>
            <a:r>
              <a:t>RoPE已有相对位移，mask还做什么？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864608"/>
            <a:ext cx="886968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lang="zh-CN" sz="2000" b="0">
                <a:solidFill>
                  <a:srgbClr val="475569"/>
                </a:solidFill>
                <a:latin typeface="DengXian"/>
                <a:ea typeface="DengXian"/>
                <a:cs typeface="DengXian"/>
              </a:defRPr>
            </a:pPr>
            <a:r>
              <a:t>核对：位置参与打分，mask限制哪些key可读。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第二课：Tokenizer、Embedding 与位置机制</dc:title>
  <dc:subject>Transformer 输入表示，60 分钟</dc:subject>
  <dc:creator>Transformer Newbie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