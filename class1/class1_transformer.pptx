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48729"/>
  </p:normalViewPr>
  <p:slideViewPr>
    <p:cSldViewPr snapToGrid="0" snapToObjects="1">
      <p:cViewPr varScale="1">
        <p:scale>
          <a:sx n="39" d="100"/>
          <a:sy n="39" d="100"/>
        </p:scale>
        <p:origin x="2376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62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 页｜0–2 分钟</a:t>
            </a:r>
          </a:p>
          <a:p>
            <a:r>
              <a:t>先让同学给出两个答案，例如茶、牛奶。追问：为什么不是桌子？借此建立上下文影响候选词的直觉。强调：机器需要用数字表达这种选择，本课只解决从文本到下一 token 的主线。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2 页｜2–5 分钟</a:t>
            </a:r>
          </a:p>
          <a:p>
            <a:r>
              <a:t>说明每个环节都配一个具体输出。向量先理解成一个数字列表，矩阵先理解成多个列表。梯度和优化器今天只讲功能，下一节再展开。让同学复述本节最终要回答的问题：模型如何根据前文预测下一个 token？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3 页｜5–8 分钟</a:t>
            </a:r>
          </a:p>
          <a:p>
            <a:r>
              <a:t>这组概率是解释任务的人造例子，不是实测。词表是模型能输出的 token 集合。每个 token 都有一个候选概率，它们加起来为 1。生成选出的 token 会成为下一步的输入；整段回复是多步结果。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4 页｜8–12 分钟</a:t>
            </a:r>
          </a:p>
          <a:p>
            <a:r>
              <a:t>展示 &lt;bos&gt; 我 喜欢 吃 苹果 。 &lt;eos&gt;。x 是前六个 token，y 是后六个 token。模型在“喜欢”位置预测“吃”，不是复述“喜欢”。完整句子在训练数据里，但因果遮罩禁止位置偷看未来。训练阶段有标签，生成阶段没有未来标签。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5 页｜12–15 分钟</a:t>
            </a:r>
          </a:p>
          <a:p>
            <a:r>
              <a:t>运行脚本时先显示词表，以实际输出为准。ID 的数字顺序只是我们为复现结果排序得来；编号 11 不意味着茶比我重要。真实 tokenizer 可产生词、子词、字节等单位，本课不接入外部分词器。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第</a:t>
            </a:r>
            <a:r>
              <a:rPr dirty="0"/>
              <a:t> 6 页｜15–18 </a:t>
            </a:r>
            <a:r>
              <a:rPr dirty="0" err="1"/>
              <a:t>分钟</a:t>
            </a:r>
            <a:endParaRPr dirty="0"/>
          </a:p>
          <a:p>
            <a:r>
              <a:rPr dirty="0" err="1"/>
              <a:t>用</a:t>
            </a:r>
            <a:r>
              <a:rPr dirty="0"/>
              <a:t> Python </a:t>
            </a:r>
            <a:r>
              <a:rPr dirty="0" err="1"/>
              <a:t>列表讲向量，用列表的列表讲矩阵。T</a:t>
            </a:r>
            <a:r>
              <a:rPr dirty="0"/>
              <a:t> </a:t>
            </a:r>
            <a:r>
              <a:rPr dirty="0" err="1"/>
              <a:t>表示几个</a:t>
            </a:r>
            <a:r>
              <a:rPr dirty="0"/>
              <a:t> </a:t>
            </a:r>
            <a:r>
              <a:rPr dirty="0" err="1"/>
              <a:t>token，D</a:t>
            </a:r>
            <a:r>
              <a:rPr dirty="0"/>
              <a:t> </a:t>
            </a:r>
            <a:r>
              <a:rPr dirty="0" err="1"/>
              <a:t>表示每个</a:t>
            </a:r>
            <a:r>
              <a:rPr dirty="0"/>
              <a:t> token </a:t>
            </a:r>
            <a:r>
              <a:rPr dirty="0" err="1"/>
              <a:t>有多少个数字。本课</a:t>
            </a:r>
            <a:r>
              <a:rPr dirty="0"/>
              <a:t> D=32。不要宣称某一维一定代表性别或词性；随机初始化的向量也还没有学到语言关系。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张嘉怡 </a:t>
            </a:r>
            <a:r>
              <a:rPr lang="en-US" altLang="zh-CN" dirty="0"/>
              <a:t>[1,2,3,4,5]</a:t>
            </a:r>
          </a:p>
          <a:p>
            <a:r>
              <a:rPr lang="en-US" dirty="0" err="1"/>
              <a:t>小猫</a:t>
            </a:r>
            <a:r>
              <a:rPr lang="zh-CN" altLang="en-US" dirty="0"/>
              <a:t> </a:t>
            </a:r>
            <a:r>
              <a:rPr lang="en-US" altLang="zh-CN" dirty="0"/>
              <a:t>[1,2.1,3,4,5]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张嘉怡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</a:p>
          <a:p>
            <a:r>
              <a:rPr lang="en-US" dirty="0" err="1"/>
              <a:t>小猫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</a:p>
          <a:p>
            <a:r>
              <a:rPr lang="en-US" dirty="0" err="1"/>
              <a:t>微微妹妹</a:t>
            </a:r>
            <a:r>
              <a:rPr lang="zh-CN" altLang="en-US" dirty="0"/>
              <a:t> 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7 页｜18–20 分钟</a:t>
            </a:r>
          </a:p>
          <a:p>
            <a:r>
              <a:t>普通的无位置、无遮罩自注意力不能区分任意重新排列带来的顺序信息；本课使用学习式位置向量表达位置，并用因果遮罩限制方向。原论文用正弦位置编码，现代模型也常有别的方式；本课不展开比较。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8 页｜20–23 分钟</a:t>
            </a:r>
          </a:p>
          <a:p>
            <a:r>
              <a:t>可以用‘查资料’类比：当前位置提出查询，各位置提供匹配依据和内容。随后立刻回到数字：它不是人类有意识地挑关键词，而是可学习的向量计算。最后选词需要经过后面的输出层。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9 页｜23–26 分钟</a:t>
            </a:r>
          </a:p>
          <a:p>
            <a:r>
              <a:t>Wq/Wk/Wv 是训练得到的参数矩阵。Q/K/V 都由同一序列 X 计算，所以叫 self-attention；不是三个独立句子。它们是类比中的角色，而不是保证每个维度有明确语义。演示一的人造 Q/K/V 跳过投影，演示二会真正学习投影。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10 页｜26–29 分钟</a:t>
            </a:r>
          </a:p>
          <a:p>
            <a:r>
              <a:t>先演示两个列表逐项相乘再求和就是点积。T=3、d_k=2 时，Q/K 是 3×2，分数是 3×3，输出是 3×d_v。softmax 将一行分数变为和为 1 的权重；√d_k 缩放用于缓和高维点积的尺度。实现时 softmax 沿最后一个维度计算。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11 页｜29–32 分钟</a:t>
            </a:r>
          </a:p>
          <a:p>
            <a:r>
              <a:t>这里先不加因果遮罩。让同学算第一列输出：0.401×1 + 0.198×0 + 0.401×3 = 1.604。第二列同理。权重行上的三个值对应被读取的三个位置。所有数字均为演示用，不能解释成真实语言关系。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12 页｜32–35 分钟</a:t>
            </a:r>
          </a:p>
          <a:p>
            <a:r>
              <a:t>此脚本只依赖 Python 标准库。打开第一个函数，从 softmax 到 weighted sum 逐段讲，不读完所有辅助代码。只改 V 不会改变 A，但会改变 AV；Q/K 的变化会影响分数和权重。3 分钟内优先完成改 V 的小实验。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13 页｜35–38 分钟</a:t>
            </a:r>
          </a:p>
          <a:p>
            <a:r>
              <a:t>运行第二次，把无 mask 和有 mask 的矩阵并排看。第一行从约 [0.401, 0.198, 0.401] 变成 [1, 0, 0]。当前位置 token 已经在输入中，因此可以看自己；它要预测的是下一个 token。不是在 softmax 后随便删权重，而是在 softmax 前遮挡未来。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14 页｜38–41 分钟</a:t>
            </a:r>
          </a:p>
          <a:p>
            <a:r>
              <a:t>指着本课 Pre-LN 示意解释：x + Attention(LN(x))，再 x + FFN(LN(x))。多头是同一层里的多个投影，层数是 Block 重复的次数；两者不要混淆。FFN 不在不同 token 之间直接交换信息。LayerNorm 今天只讲归一化的作用；不能省略它在本课图里的位置。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15 页｜41–43 分钟</a:t>
            </a:r>
          </a:p>
          <a:p>
            <a:r>
              <a:t>本课聚焦采用因果自注意力的 decoder-only 语言模型，不把所有大模型都归为这一种。原论文 decoder 还有读取 encoder 输出的 cross-attention；我们没有该模块。最后 Linear 输出 logits，softmax 用于生成概率；训练时 cross_entropy 接收原始 logits。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16 页｜43–46 分钟</a:t>
            </a:r>
          </a:p>
          <a:p>
            <a:r>
              <a:t>先打印 x[0] 和 y[0]，让同学找出右移一位。logits 的最后一维为什么是 12？因为本课词表有 12 个 token，包括两个特殊符号。Attention 为什么是 T×T？每个 query 对每个 key 有一个权重。代码在 CPU 上运行，无需下载模型。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17 页｜46–49 分钟</a:t>
            </a:r>
          </a:p>
          <a:p>
            <a:r>
              <a:t>用一个位置 loss=-log p(正确token) 讲误差，随后解释训练时平均多个位置。展示实际日志的起点和终点，并说明这里只在同一训练集测误差。八句在一些前缀下有多个合法后续，因此即使拟合很好，loss 也不需要降到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18 页｜49–52 分钟</a:t>
            </a:r>
          </a:p>
          <a:p>
            <a:r>
              <a:t>运行带 trace 的生成，逐行指候选概率和增长的上下文。示意路径不保证与实际贪心选择相同；茶/牛奶/苹果/香蕉都可能是合法后续。训练改变参数；generate 只读取参数。提示同学同样的 prompt 本课使用贪心选择，所以可重复；按概率采样则可变化。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19 页｜52–55 分钟</a:t>
            </a:r>
          </a:p>
          <a:p>
            <a:r>
              <a:t>把 prompt 改为词表中的已知 token，避免现场因未知词中断。说明超出词表会报清晰错误，这是本课 tokenizer 的简化。Attention 权重也不是因果解释或人的思维过程。先让同学用“训练 vs 生成”解释现象，再说模型规模不是本节重点。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20 页｜55–58 分钟</a:t>
            </a:r>
          </a:p>
          <a:p>
            <a:r>
              <a:t>答案依次是向量；第一个位置只能读自己；不会。请同学自己画一次完整流程并解释每个箭头。有时间再问 logits 最后一维等于什么：词表大小。若答错，回到相应代码输出，不新增术语。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21 页｜58–60 分钟</a:t>
            </a:r>
          </a:p>
          <a:p>
            <a:r>
              <a:t>课后任务控制在 20–30 分钟。先写预测，再运行，再解释差异。资料来源：Attention Is All You Need https://arxiv.org/abs/1706.03762；PyTorch scaled_dot_product_attention 和 CrossEntropyLoss 官方文档，链接见 student_handout.md。今天不要求完整重写模型。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01 / 建立问题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00–02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Transformer：从一句话到下一个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第一节课 · 60 分钟 · Python 入门即可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rPr dirty="0" err="1"/>
              <a:t>你已经会的：看代码、运行函数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今天新认识的：向量、Attention、预测与训练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65960"/>
            <a:ext cx="44805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7F8C"/>
                </a:solidFill>
                <a:latin typeface="Microsoft YaHei"/>
              </a:defRPr>
            </a:pPr>
            <a:r>
              <a:t>从你熟悉的补词开始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70632"/>
            <a:ext cx="4526280" cy="1325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32C3E"/>
                </a:solidFill>
                <a:latin typeface="Microsoft YaHei"/>
              </a:defRPr>
            </a:pPr>
            <a:r>
              <a:t>我 喜欢 喝</a:t>
            </a:r>
          </a:p>
          <a:p>
            <a:pPr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32C3E"/>
                </a:solidFill>
                <a:latin typeface="Microsoft YaHei"/>
              </a:defRPr>
            </a:pPr>
            <a:r>
              <a:t>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4270248"/>
            <a:ext cx="1645920" cy="512064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87767" y="4352544"/>
            <a:ext cx="294953" cy="3586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32C3E"/>
                </a:solidFill>
                <a:latin typeface="Microsoft YaHei"/>
              </a:defRPr>
            </a:pPr>
            <a:r>
              <a:rPr lang="en-US" dirty="0" err="1"/>
              <a:t>酒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8778240" y="4270248"/>
            <a:ext cx="2057400" cy="51206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4352544"/>
            <a:ext cx="1911095" cy="42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32C3E"/>
                </a:solidFill>
                <a:latin typeface="Microsoft YaHei"/>
              </a:defRPr>
            </a:pPr>
            <a:r>
              <a:t>牛奶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开场：我喜欢喝 ____。你会填什么？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01 / 建立问题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02–05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下课时，你能做到三件事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画出：token → 向量 → Transformer → 概率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解释：Attention 怎样混合其他位置的信息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运行：一个小模型的训练与逐步生成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286000"/>
            <a:ext cx="38862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2368296"/>
            <a:ext cx="3739896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画出数据流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38260" y="2889503"/>
            <a:ext cx="0" cy="25603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8906256" y="3104388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95160" y="3154680"/>
            <a:ext cx="3886200" cy="59436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3236976"/>
            <a:ext cx="3739896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算一次 Attention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38260" y="3758184"/>
            <a:ext cx="0" cy="25603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8906256" y="3973068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95160" y="4023360"/>
            <a:ext cx="38862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8312" y="4105656"/>
            <a:ext cx="3739896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看一次训练与生成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会讲清数据的流动，比背下所有术语更重要。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02 / 语言模型的任务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05–08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生成文本，先预测一个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输入前文：我 喜欢 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输出：整个词表上的概率分布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选择一个 token，接回前文，再预测一次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65960"/>
            <a:ext cx="4389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7F8C"/>
                </a:solidFill>
                <a:latin typeface="Microsoft YaHei"/>
              </a:defRPr>
            </a:pPr>
            <a:r>
              <a:t>下一 token 的概率（示意）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97480"/>
            <a:ext cx="243656" cy="2984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rPr lang="en-US" dirty="0" err="1"/>
              <a:t>酒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909560" y="2697480"/>
            <a:ext cx="1563624" cy="329184"/>
          </a:xfrm>
          <a:prstGeom prst="roundRect">
            <a:avLst>
              <a:gd name="adj" fmla="val 6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07040" y="269748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55848"/>
            <a:ext cx="960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牛奶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355848"/>
            <a:ext cx="781812" cy="329184"/>
          </a:xfrm>
          <a:prstGeom prst="roundRect">
            <a:avLst>
              <a:gd name="adj" fmla="val 6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07040" y="3355848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14216"/>
            <a:ext cx="960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4014216"/>
            <a:ext cx="260604" cy="329184"/>
          </a:xfrm>
          <a:prstGeom prst="roundRect">
            <a:avLst>
              <a:gd name="adj" fmla="val 6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07040" y="4014216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00600"/>
            <a:ext cx="4389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C6F7B"/>
                </a:solidFill>
                <a:latin typeface="Microsoft YaHei"/>
              </a:defRPr>
            </a:pPr>
            <a:r>
              <a:t>这些概率加起来为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5742432"/>
            <a:ext cx="4475584" cy="2731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rPr dirty="0" err="1"/>
              <a:t>示意概率</a:t>
            </a:r>
            <a:r>
              <a:rPr dirty="0"/>
              <a:t>：</a:t>
            </a:r>
            <a:r>
              <a:rPr lang="zh-CN" altLang="en-US" dirty="0"/>
              <a:t>酒</a:t>
            </a:r>
            <a:r>
              <a:rPr dirty="0"/>
              <a:t> 0.60 · </a:t>
            </a:r>
            <a:r>
              <a:rPr dirty="0" err="1"/>
              <a:t>牛奶</a:t>
            </a:r>
            <a:r>
              <a:rPr dirty="0"/>
              <a:t> 0.30 · </a:t>
            </a:r>
            <a:r>
              <a:rPr dirty="0" err="1"/>
              <a:t>其他</a:t>
            </a:r>
            <a:r>
              <a:rPr dirty="0"/>
              <a:t> 0.10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02 / 语言模型的任务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08–12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rPr dirty="0" err="1"/>
              <a:t>训练有答案，生成要自己接着写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rPr dirty="0" err="1"/>
              <a:t>训练：用完整句子构造错开一位的输入和标签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每个位置预测右边的</a:t>
            </a:r>
            <a:r>
              <a:rPr dirty="0"/>
              <a:t> </a:t>
            </a:r>
            <a:r>
              <a:rPr dirty="0" err="1"/>
              <a:t>token，统计误差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生成：只有当前前文，逐步增加一个</a:t>
            </a:r>
            <a:r>
              <a:rPr dirty="0"/>
              <a:t>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75104"/>
            <a:ext cx="4389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7F8C"/>
                </a:solidFill>
                <a:latin typeface="Microsoft YaHei"/>
              </a:defRPr>
            </a:pPr>
            <a:r>
              <a:t>输入 x 与目标 y：错开一位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61488"/>
            <a:ext cx="43434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x: &lt;bos&gt; 我 喜欢 吃 苹果 。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y: 我 喜欢 吃 苹果 。 &lt;eos&gt;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0" y="3886200"/>
            <a:ext cx="0" cy="36576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8929116" y="421081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49440" y="4407408"/>
            <a:ext cx="3977639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22592" y="4489704"/>
            <a:ext cx="3831335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“喜欢”位置的目标是“吃”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训练可并行算多个位置；每个位置仍不能看未来。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03 / 文字怎样变成数字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12–15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第一步：文本 → token →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rPr dirty="0"/>
              <a:t>token </a:t>
            </a:r>
            <a:r>
              <a:rPr dirty="0" err="1"/>
              <a:t>是切分后的单位，不保证等于一个字或</a:t>
            </a:r>
            <a:endParaRPr dirty="0"/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rPr dirty="0" err="1"/>
              <a:t>一个词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ID 是词表中的编号，不表示大小或语义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教学代码：按空格分词；真实模型常用子词切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057400"/>
            <a:ext cx="3886200" cy="51206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2139696"/>
            <a:ext cx="3739896" cy="42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文本：我 喜欢 喝 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38260" y="2578608"/>
            <a:ext cx="0" cy="21031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8906256" y="274777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95160" y="2798064"/>
            <a:ext cx="3886200" cy="512064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2880360"/>
            <a:ext cx="3739896" cy="42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split()：四个 token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38260" y="3319272"/>
            <a:ext cx="0" cy="21031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8906256" y="348843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95160" y="3538728"/>
            <a:ext cx="3886200" cy="51206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8312" y="3621024"/>
            <a:ext cx="3739896" cy="42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ID：[7, 5, 6, 10]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38260" y="4059935"/>
            <a:ext cx="0" cy="21031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8906256" y="422910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95160" y="4279392"/>
            <a:ext cx="3886200" cy="512064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68312" y="4361688"/>
            <a:ext cx="3739896" cy="42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查 embedding 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我 喜欢 喝 茶 → [7, 5, 6, 10]（本课词表）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03 / 文字怎样变成数字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15–18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Embedding：给每个 token 一排数字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查表：一个 ID → 长度为 D 的向量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多个位置叠起来：X 的形状是 [T, 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表里的数字是参数，会在训练中更新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956816"/>
            <a:ext cx="4480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7F8C"/>
                </a:solidFill>
                <a:latin typeface="Microsoft YaHei"/>
              </a:defRPr>
            </a:pPr>
            <a:r>
              <a:t>每个位置 → 一个数字列表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70048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606040"/>
            <a:ext cx="877824" cy="45720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9831" y="2688336"/>
            <a:ext cx="73151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14232" y="2606040"/>
            <a:ext cx="877824" cy="45720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87384" y="2688336"/>
            <a:ext cx="73151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-0.7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01784" y="2606040"/>
            <a:ext cx="877824" cy="45720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74936" y="2688336"/>
            <a:ext cx="73151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1.1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264408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喜欢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3200400"/>
            <a:ext cx="877824" cy="45720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99831" y="3282696"/>
            <a:ext cx="73151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14232" y="3200400"/>
            <a:ext cx="877824" cy="45720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87384" y="3282696"/>
            <a:ext cx="73151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01784" y="3200400"/>
            <a:ext cx="877824" cy="45720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74936" y="3282696"/>
            <a:ext cx="73151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-0.5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858768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3794760"/>
            <a:ext cx="877824" cy="45720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99831" y="3877056"/>
            <a:ext cx="73151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-0.1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14232" y="3794760"/>
            <a:ext cx="877824" cy="45720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7384" y="3877056"/>
            <a:ext cx="73151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01784" y="3794760"/>
            <a:ext cx="877824" cy="45720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74936" y="3877056"/>
            <a:ext cx="73151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709160"/>
            <a:ext cx="4389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F7B"/>
                </a:solidFill>
                <a:latin typeface="Microsoft YaHei"/>
              </a:defRPr>
            </a:pPr>
            <a:r>
              <a:t>示意 3 维；代码实际使用 32 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向量像 [0.2, −0.7, 1.1, …]；某一维未必有固定含义。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03 / 文字怎样变成数字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18–20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位置：谁在前，谁在后？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“猫 追 狗”和“狗 追 猫”包含相同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本课把位置向量加到 token 向量上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Attention 的因果遮罩还会限制可见位置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267712"/>
            <a:ext cx="3886200" cy="54864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2350008"/>
            <a:ext cx="3739896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token 向量 [T, D]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38260" y="2825496"/>
            <a:ext cx="0" cy="25603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8906256" y="304038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95160" y="3090672"/>
            <a:ext cx="3886200" cy="54864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3172968"/>
            <a:ext cx="3739896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+ 位置向量 [T, D]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38260" y="3648456"/>
            <a:ext cx="0" cy="25603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8906256" y="386334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95160" y="3913631"/>
            <a:ext cx="3886200" cy="54864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8312" y="3995927"/>
            <a:ext cx="3739896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带位置信息的 X [T, D]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X = token_embedding(ids) + position_embedding(positions)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04 / Attention 的计算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20–23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Attention 要解决：怎样利用上下文？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一个位置的表示，需要结合其他可见位置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先算匹配分数，再把分数变成权重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按权重混合信息，得到新的向量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74519"/>
            <a:ext cx="4297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Key →    我        喜欢        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23160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286000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8DC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88352" y="2368296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0.401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9056" y="2286000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BAD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2368296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0.198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82912" y="2286000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8DC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56064" y="2368296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0.401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081528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喜欢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944368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BAD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88352" y="3026663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0.198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49056" y="2944368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8DC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026663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0.401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2944368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8DC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56064" y="3026663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0.401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739896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602736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AF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8352" y="3685032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0.248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49056" y="3602736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AF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22208" y="3685032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0.248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82912" y="3602736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76B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56064" y="3685032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0.503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90288"/>
            <a:ext cx="4434840" cy="5669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Query ↓   每一行和为 1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人工示例：先观察计算，再解释结构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Attention 输出的是向量，不是一个单词。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04 / Attention 的计算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23–26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Q、K、V：同一输入的三个变换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Q：当前位置拿什么去匹配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K：各位置拿什么被匹配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V：匹配以后，取回来什么信息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47672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2029967"/>
            <a:ext cx="140817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输入 X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342631" y="2514600"/>
            <a:ext cx="1618489" cy="66751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4855239">
            <a:off x="7310627" y="31409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29400" y="3273552"/>
            <a:ext cx="1426464" cy="54864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2552" y="3355848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Q = XWq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915400" y="2514600"/>
            <a:ext cx="45720" cy="66751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1035095">
            <a:off x="8883396" y="31409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02168" y="3273552"/>
            <a:ext cx="1426464" cy="54864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3355848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K = XWk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61120" y="2514600"/>
            <a:ext cx="1527047" cy="66751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6816683">
            <a:off x="10456163" y="31409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74936" y="3273552"/>
            <a:ext cx="1426464" cy="54864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8" y="3355848"/>
            <a:ext cx="12801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V = XWv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361688"/>
            <a:ext cx="4480560" cy="6583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C6F7B"/>
                </a:solidFill>
                <a:latin typeface="Microsoft YaHei"/>
              </a:defRPr>
            </a:pPr>
            <a:r>
              <a:t>投影参数由训练得到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C6F7B"/>
                </a:solidFill>
                <a:latin typeface="Microsoft YaHei"/>
              </a:defRPr>
            </a:pPr>
            <a:r>
              <a:t>self-attention：三者来自同一序列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Q = XWq，K = XWk，V = XWv（省略偏置）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04 / Attention 的计算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26–29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一个公式，读成三个动作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匹配：QKᵀ / √dₖ → 分数矩阵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归一化：每行 softmax → 权重矩阵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混合：AV → 新的向量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176272"/>
            <a:ext cx="3886200" cy="60350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2258568"/>
            <a:ext cx="3739896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QKᵀ / √dₖ   [T, T]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38260" y="2788920"/>
            <a:ext cx="0" cy="28346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8906256" y="303123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95160" y="3081528"/>
            <a:ext cx="3886200" cy="603504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3163824"/>
            <a:ext cx="3739896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每行 softmax   [T, T]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38260" y="3694176"/>
            <a:ext cx="0" cy="28346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8906256" y="393649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95160" y="3986783"/>
            <a:ext cx="3886200" cy="60350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8312" y="4069079"/>
            <a:ext cx="3739896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权重 @ V   [T, dᵥ]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Attention(Q, K, V) = softmax(QKᵀ / √dₖ) 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04 / Attention 的计算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29–32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手算一行：看到加权混合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q = [1, 0]，keys = [1, 0] / [0, 1] / [1, 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分数 ≈ [0.707, 0, 0.707]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softmax ≈ [0.401, 0.198, 0.401]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74519"/>
            <a:ext cx="4297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Key →    我        喜欢        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23160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286000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8DC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88352" y="2368296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0.401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9056" y="2286000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BAD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2368296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0.198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82912" y="2286000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8DC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56064" y="2368296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0.401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081528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喜欢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944368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BAD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88352" y="3026663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0.198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49056" y="2944368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8DC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026663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0.401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2944368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8DC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56064" y="3026663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0.401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739896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602736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AF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8352" y="3685032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0.248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49056" y="3602736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AF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22208" y="3685032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0.248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82912" y="3602736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76B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56064" y="3685032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0.503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90288"/>
            <a:ext cx="4434840" cy="5669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Query ↓   每一行和为 1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人工示例：先观察计算，再解释结构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V = [[1, 0], [0, 2], [3, 1]] → 输出 ≈ [1.604, 0.797]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04 / Attention 的计算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32–35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演示 1：运行，再改一个数字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运行 attention_demo.py，观察分数、权重、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把最后一个 V 改大：权重是否改变？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只改 Q 或 K：匹配分数会怎样变化？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python class1/code/attention_demo.py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# 或在 Notebook 中调用 attention(Q, K, 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048256"/>
            <a:ext cx="441655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087F8C"/>
                </a:solidFill>
                <a:latin typeface="Microsoft YaHei"/>
              </a:defRPr>
            </a:pPr>
            <a:r>
              <a:t>现场操作：一次只改一项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2743200"/>
            <a:ext cx="3886200" cy="50292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68312" y="2825496"/>
            <a:ext cx="373989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先写预测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38260" y="3255263"/>
            <a:ext cx="0" cy="22860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8906256" y="344271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95160" y="3493008"/>
            <a:ext cx="3886200" cy="50292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68312" y="3575304"/>
            <a:ext cx="373989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运行函数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38260" y="4005072"/>
            <a:ext cx="0" cy="22860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8906256" y="419252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95160" y="4242816"/>
            <a:ext cx="3886200" cy="50292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68312" y="4325112"/>
            <a:ext cx="373989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解释输出变化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先预测结果，再运行验证。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05 / 拼成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35–38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因果遮罩：预测时不能偷看答案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行是当前 query，列是可读的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保留对角线及左侧；未来分数设为 −∞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softmax 后，未来位置的权重变为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74519"/>
            <a:ext cx="4297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Key →    我        喜欢        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23160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286000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88352" y="2368296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1.000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9056" y="2286000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2368296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82912" y="2286000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56064" y="2368296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081528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喜欢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944368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9DC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88352" y="3026663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0.330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49056" y="2944368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51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026663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0.670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2944368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56064" y="3026663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739896"/>
            <a:ext cx="594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32C3E"/>
                </a:solidFill>
                <a:latin typeface="Microsoft YaHei"/>
              </a:defRPr>
            </a:pPr>
            <a:r>
              <a:t>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602736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AF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8352" y="3685032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0.248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49056" y="3602736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AF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22208" y="3685032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0.248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82912" y="3602736"/>
            <a:ext cx="1024128" cy="566928"/>
          </a:xfrm>
          <a:prstGeom prst="roundRect">
            <a:avLst>
              <a:gd name="adj" fmla="val 6000"/>
            </a:avLst>
          </a:prstGeom>
          <a:solidFill>
            <a:srgbClr val="76B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56064" y="3685032"/>
            <a:ext cx="877824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0.503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90288"/>
            <a:ext cx="4434840" cy="5669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Query ↓   每一行和为 1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上三角权重为 0：未来不可见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python class1/code/attention_demo.py --causal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05 / 拼成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38–41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一个 Block：混合上下文，再加工向量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多头 Attention：不同投影，各算一份，再拼接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FFN：对每个位置的向量做相同的非线性变换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残差相加与 LayerNorm：帮助信息传递和训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828800"/>
            <a:ext cx="3474720" cy="32918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5472" y="1911095"/>
            <a:ext cx="332841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输入 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69680" y="2167128"/>
            <a:ext cx="0" cy="10058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8837676" y="22265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0" y="2276856"/>
            <a:ext cx="3474720" cy="32918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05472" y="2359152"/>
            <a:ext cx="332841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LayerNorm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9680" y="2615184"/>
            <a:ext cx="0" cy="10058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8837676" y="267462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32320" y="2724912"/>
            <a:ext cx="3474720" cy="329184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5472" y="2807208"/>
            <a:ext cx="332841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双头因果 Attention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9680" y="3063240"/>
            <a:ext cx="0" cy="10058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8837676" y="312267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2320" y="3172968"/>
            <a:ext cx="3474720" cy="32918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05472" y="3255264"/>
            <a:ext cx="332841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＋ 残差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69680" y="3511296"/>
            <a:ext cx="0" cy="10058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8837676" y="357073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32320" y="3621024"/>
            <a:ext cx="3474720" cy="32918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05472" y="3703320"/>
            <a:ext cx="332841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LayerNorm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869680" y="3959352"/>
            <a:ext cx="0" cy="10058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8837676" y="4018787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132320" y="4069080"/>
            <a:ext cx="3474720" cy="329184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05472" y="4151376"/>
            <a:ext cx="332841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FFN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69680" y="4407408"/>
            <a:ext cx="0" cy="10058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10800000">
            <a:off x="8837676" y="446684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132320" y="4517136"/>
            <a:ext cx="3474720" cy="32918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05472" y="4599432"/>
            <a:ext cx="332841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＋ 残差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69680" y="4855464"/>
            <a:ext cx="0" cy="10058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10800000">
            <a:off x="8837676" y="491490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132320" y="4965192"/>
            <a:ext cx="3474720" cy="32918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05472" y="5047488"/>
            <a:ext cx="332841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输出 x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607040" y="1993392"/>
            <a:ext cx="438912" cy="0"/>
          </a:xfrm>
          <a:prstGeom prst="line">
            <a:avLst/>
          </a:prstGeom>
          <a:ln w="21590">
            <a:solidFill>
              <a:srgbClr val="DAA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045952" y="1993392"/>
            <a:ext cx="0" cy="1344168"/>
          </a:xfrm>
          <a:prstGeom prst="line">
            <a:avLst/>
          </a:prstGeom>
          <a:ln w="21590">
            <a:solidFill>
              <a:srgbClr val="DAA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0634472" y="3337560"/>
            <a:ext cx="411480" cy="0"/>
          </a:xfrm>
          <a:prstGeom prst="line">
            <a:avLst/>
          </a:prstGeom>
          <a:ln w="21590">
            <a:solidFill>
              <a:srgbClr val="DAA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16200000">
            <a:off x="10602468" y="3296412"/>
            <a:ext cx="64008" cy="82296"/>
          </a:xfrm>
          <a:prstGeom prst="triangle">
            <a:avLst/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10607040" y="3337560"/>
            <a:ext cx="704088" cy="0"/>
          </a:xfrm>
          <a:prstGeom prst="line">
            <a:avLst/>
          </a:prstGeom>
          <a:ln w="21590">
            <a:solidFill>
              <a:srgbClr val="DAA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311128" y="3337560"/>
            <a:ext cx="0" cy="1344168"/>
          </a:xfrm>
          <a:prstGeom prst="line">
            <a:avLst/>
          </a:prstGeom>
          <a:ln w="21590">
            <a:solidFill>
              <a:srgbClr val="DAA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0634472" y="4681728"/>
            <a:ext cx="676656" cy="0"/>
          </a:xfrm>
          <a:prstGeom prst="line">
            <a:avLst/>
          </a:prstGeom>
          <a:ln w="21590">
            <a:solidFill>
              <a:srgbClr val="DAA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6200000">
            <a:off x="10602468" y="4640580"/>
            <a:ext cx="64008" cy="82296"/>
          </a:xfrm>
          <a:prstGeom prst="triangle">
            <a:avLst/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32320" y="5330952"/>
            <a:ext cx="42062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Pre-LN；两条金色路径是残差相加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本课：1 个 Block · 2 个 head · D=32 · 每头 16 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05 / 拼成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41–43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架构全貌：把主线连起来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原始 Transformer：Encoder–Decoder，用于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序列到序列任务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今天的生成模型：Decoder-only，无跨注意力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Block 可堆叠；末尾把向量映射为整个词表的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分数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847088"/>
            <a:ext cx="4343400" cy="41148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2592" y="1929384"/>
            <a:ext cx="419709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Token 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21140" y="2267712"/>
            <a:ext cx="0" cy="173736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9089136" y="240030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49440" y="2450592"/>
            <a:ext cx="4343400" cy="41148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22592" y="2532888"/>
            <a:ext cx="419709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Token + Position 向量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21140" y="2871216"/>
            <a:ext cx="0" cy="173736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9089136" y="300380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49440" y="3054096"/>
            <a:ext cx="4343400" cy="41148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22592" y="3136391"/>
            <a:ext cx="419709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因果 Transformer Block × 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21140" y="3474720"/>
            <a:ext cx="0" cy="173736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9089136" y="3607308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49440" y="3657600"/>
            <a:ext cx="4343400" cy="41148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22592" y="3739896"/>
            <a:ext cx="419709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最终 LayerNorm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21140" y="4078224"/>
            <a:ext cx="0" cy="173736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9089136" y="421081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949440" y="4261104"/>
            <a:ext cx="4343400" cy="41148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22592" y="4343400"/>
            <a:ext cx="419709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Linear → logits → softmax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010912"/>
            <a:ext cx="4206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C6F7B"/>
                </a:solidFill>
                <a:latin typeface="Microsoft YaHei"/>
              </a:defRPr>
            </a:pPr>
            <a:r>
              <a:t>本课 decoder-only，无 cross-attention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ID → token+position embedding → Block → LN → logits → 概率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06 / 真正训练一个小模型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43–46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演示 2：先检查输入和形状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数据：8 句人工句子；每句加起止标记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输入 [8, 6] → 向量 [8, 6, 32]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logits [8, 6, 12]；Attention [8, 2, 6, 6]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python class1/code/tiny_transformer.py --steps 200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B = 8; T = 6; D = 32; H = 2; vocab_size = 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901952"/>
            <a:ext cx="3886200" cy="49377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68312" y="1984248"/>
            <a:ext cx="3739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ID： [8, 6]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38260" y="2404872"/>
            <a:ext cx="0" cy="219456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8906256" y="258318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95160" y="2633472"/>
            <a:ext cx="3886200" cy="493776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68312" y="2715768"/>
            <a:ext cx="3739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向量： [8, 6, 32]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38260" y="3136391"/>
            <a:ext cx="0" cy="219457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8906256" y="331470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95160" y="3364992"/>
            <a:ext cx="3886200" cy="49377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68312" y="3447288"/>
            <a:ext cx="3739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权重： [8, 2, 6, 6]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38260" y="3867912"/>
            <a:ext cx="0" cy="219456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8906256" y="404622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995160" y="4096512"/>
            <a:ext cx="3886200" cy="493776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68312" y="4178808"/>
            <a:ext cx="3739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logits： [8, 6, 12]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B 是句子数，T 是位置数，D 是向量长度，H 是头数。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06 / 真正训练一个小模型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46–49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训练：猜得不对，就调整参数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前向计算：得到每个位置的 logits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交叉熵：正确 token 的概率越低，惩罚越大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backward + optimizer.step：计算梯度并更新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参数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892807"/>
            <a:ext cx="44805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087F8C"/>
                </a:solidFill>
                <a:latin typeface="Microsoft YaHei"/>
              </a:defRPr>
            </a:pPr>
            <a:r>
              <a:t>实际运行：训练集 loss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80" y="2651760"/>
            <a:ext cx="0" cy="2057400"/>
          </a:xfrm>
          <a:prstGeom prst="line">
            <a:avLst/>
          </a:prstGeom>
          <a:ln w="21590">
            <a:solidFill>
              <a:srgbClr val="5C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4709160"/>
            <a:ext cx="3886200" cy="0"/>
          </a:xfrm>
          <a:prstGeom prst="line">
            <a:avLst/>
          </a:prstGeom>
          <a:ln w="21590">
            <a:solidFill>
              <a:srgbClr val="5C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40880" y="2804160"/>
            <a:ext cx="19431" cy="494596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60311" y="3298756"/>
            <a:ext cx="466343" cy="115140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26654" y="4450156"/>
            <a:ext cx="485775" cy="398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12429" y="4454139"/>
            <a:ext cx="485776" cy="39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98205" y="4454529"/>
            <a:ext cx="485775" cy="15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83980" y="4454680"/>
            <a:ext cx="485775" cy="10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69755" y="4454784"/>
            <a:ext cx="485775" cy="79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55530" y="4454863"/>
            <a:ext cx="485775" cy="6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441305" y="4454925"/>
            <a:ext cx="485775" cy="49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0" y="2304288"/>
            <a:ext cx="4434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2.601 → 0.347 · 200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882896"/>
            <a:ext cx="3931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C6F7B"/>
                </a:solidFill>
                <a:latin typeface="Microsoft YaHei"/>
              </a:defRPr>
            </a:pPr>
            <a:r>
              <a:t>无验证集；只展示人工语料拟合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logits → cross_entropy → backward → step → 下一轮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06 / 真正训练一个小模型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49–52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生成：看最后一个位置，再接回去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取 logits[0, −1]，转成下一 token 的概率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本课选最高概率 token，并追加到前文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重复，直到 &lt;eos&gt; 或达到长度限制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984248"/>
            <a:ext cx="3886200" cy="48463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2066543"/>
            <a:ext cx="3739896" cy="3931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最后位置的 logits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38260" y="2478024"/>
            <a:ext cx="0" cy="22860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8906256" y="266547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95160" y="2715768"/>
            <a:ext cx="3886200" cy="48463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2798063"/>
            <a:ext cx="3739896" cy="3931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softmax → 下一 token 概率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38260" y="3209544"/>
            <a:ext cx="0" cy="22860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8906256" y="339699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95160" y="3447288"/>
            <a:ext cx="3886200" cy="48463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8312" y="3529584"/>
            <a:ext cx="3739896" cy="3931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选择 token → 接回前文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38260" y="3941063"/>
            <a:ext cx="0" cy="22860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8906256" y="412851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95160" y="4178808"/>
            <a:ext cx="3886200" cy="48463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68312" y="4261104"/>
            <a:ext cx="3739896" cy="3931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再计算一次，直到 &lt;eos&gt;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我 喜欢 → 吃 → 苹果 → 。 → &lt;eos&gt;（示意路径）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06 / 真正训练一个小模型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52–55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读懂结果，也读懂它的边界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loss 下降：模型更会拟合这 8 句训练数据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没有验证集：这不能证明理解或泛化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改 prompt 为“你 喜欢 喝”，观察候选如何变化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029968"/>
            <a:ext cx="44348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087F8C"/>
                </a:solidFill>
                <a:latin typeface="Microsoft YaHei"/>
              </a:defRPr>
            </a:pPr>
            <a:r>
              <a:t>本次实际运行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679192"/>
            <a:ext cx="441655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F7B"/>
                </a:solidFill>
                <a:latin typeface="Microsoft YaHei"/>
              </a:defRPr>
            </a:pPr>
            <a:r>
              <a:t>训练前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063240"/>
            <a:ext cx="4389120" cy="6583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我 喜欢 牛奶 香蕉 你 茶 &lt;eos&gt;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977639"/>
            <a:ext cx="441655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F7B"/>
                </a:solidFill>
                <a:latin typeface="Microsoft YaHei"/>
              </a:defRPr>
            </a:pPr>
            <a:r>
              <a:t>训练后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361688"/>
            <a:ext cx="4389120" cy="6766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我 喜欢 喝 茶 。 &lt;eos&gt;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小模型展示计算链路；大模型还需要大量数据和训练。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07 / 检查理解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55–58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三分钟：把主线讲给我听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Attention 输出的是词，还是向量？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为什么第一行因果 Attention 是 [1, 0, 0]？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生成一个 token 时，模型参数会改变吗？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194560"/>
            <a:ext cx="3886200" cy="60350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2276856"/>
            <a:ext cx="3739896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Attention → 向量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38260" y="2807208"/>
            <a:ext cx="0" cy="28346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8906256" y="304952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95160" y="3099815"/>
            <a:ext cx="3886200" cy="603504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3182111"/>
            <a:ext cx="3739896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因果 mask → 未来权重 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38260" y="3712463"/>
            <a:ext cx="0" cy="283465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8906256" y="395478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95160" y="4005072"/>
            <a:ext cx="3886200" cy="603504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8312" y="4087368"/>
            <a:ext cx="3739896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生成 → 参数保持不变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最后用一句话串起：token、embedding、Attention、logits、生成。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07 / 检查理解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58–60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课后：做两次有预测的实验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只改 V，记录权重和输出分别发生什么变化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换一个合法 prompt，逐步记录生成的候选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用自己的话画出完整计算链路，标明张量形状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286000"/>
            <a:ext cx="38862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2368296"/>
            <a:ext cx="3739896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画出数据流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38260" y="2889503"/>
            <a:ext cx="0" cy="25603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8906256" y="3104388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95160" y="3154680"/>
            <a:ext cx="3886200" cy="59436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3236976"/>
            <a:ext cx="3739896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算一次 Attention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38260" y="3758184"/>
            <a:ext cx="0" cy="25603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8906256" y="3973068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95160" y="4023360"/>
            <a:ext cx="38862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8312" y="4105656"/>
            <a:ext cx="3739896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看一次训练与生成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下一节：用 PyTorch 逐行实现多头 Attention，并理解训练。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2392</Words>
  <Application>Microsoft Macintosh PowerPoint</Application>
  <PresentationFormat>宽屏</PresentationFormat>
  <Paragraphs>453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 — Transformer：从一句话到下一个 token</dc:title>
  <dc:subject>60 分钟入门教学，含 Attention 与 CPU 训练演示</dc:subject>
  <dc:creator>Transformer Newbie</dc:creator>
  <cp:keywords/>
  <dc:description>generated using python-pptx</dc:description>
  <cp:lastModifiedBy>镇源 杨</cp:lastModifiedBy>
  <cp:revision>9</cp:revision>
  <dcterms:created xsi:type="dcterms:W3CDTF">2013-01-27T09:14:16Z</dcterms:created>
  <dcterms:modified xsi:type="dcterms:W3CDTF">2026-10-15T13:17:00Z</dcterms:modified>
  <cp:category/>
</cp:coreProperties>
</file>