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页｜0–3 分钟</a:t>
            </a:r>
          </a:p>
          <a:p>
            <a:r>
              <a:t>请同学补酒或牛奶，追问为什么喝后面常是饮料。整节课沿用这个例子。本课脚本展示真实执行的数字计算，参数人工设置，不是已经训练的完整 Transformer。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页｜3–6 分钟</a:t>
            </a:r>
          </a:p>
          <a:p>
            <a:r>
              <a:t>主线脚本只有 lesson.py，Notebook 原样拆为六个小单元。每一步先问输入是什么，再运行，再问输出是什么。开场不介绍 batch、头数和梯度等术语。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页｜6–9 分钟</a:t>
            </a:r>
          </a:p>
          <a:p>
            <a:r>
              <a:t>运行 split() 和查词表。把列表推导式读成逐个 token 查编号。真实 tokenizer 可以产生子词等单位，本课按空格切分便于观察。只理解用途，不背编号。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页｜9–13 分钟</a:t>
            </a:r>
          </a:p>
          <a:p>
            <a:r>
              <a:t>向量就是数字列表。三个位置叠成 3×2 矩阵，不展开复杂张量。现场看 token、ID、vectors 三个输出。本例表人工设置，真实模型的表由训练更新；不要给某一维指定固定语义。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页｜13–16 分钟</a:t>
            </a:r>
          </a:p>
          <a:p>
            <a:r>
              <a:t>请同学解释词序变化。普通无位置自注意力没有显式位置表示，实际模型会采用位置机制。本课主线省略该机制，只算最后一个位置的 Attention；不能称为完整模型。到第 16 分钟收束。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页｜16–20 分钟</a:t>
            </a:r>
          </a:p>
          <a:p>
            <a:r>
              <a:t>先手算第一维 0.2×1+0.3×0+0.5×1=0.7，第二维 0.8。此页比例人为指定，用于理解加权，不是脚本匹配得到的权重。下一步再算比例的来源。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页｜20–24 分钟</a:t>
            </a:r>
          </a:p>
          <a:p>
            <a:r>
              <a:t>本例用恒等投影，Q 为最后一向量，K/V 为输入向量列表。实际有不同可学习线性投影。本课只算‘喝’这一行，不铺开整个矩阵。Q/K 决定权重，V 提供信息。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页｜24–29 分钟</a:t>
            </a:r>
          </a:p>
          <a:p>
            <a:r>
              <a:t>请同学计算后两项。循环就是对每个 key 做同一操作。√2 对应两维，控制分数尺度，不推导方差。先看点积，再运行 scores 单元。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页｜29–33 分钟</a:t>
            </a:r>
          </a:p>
          <a:p>
            <a:r>
              <a:t>先讲输入输出，再看 exp 结果除以总和。减去最大值用于数值稳定，不改变比例。第三处权重较大是人工数字的结果，不解释成真实词语重要性。显示数相加为 0.999 是四舍五入。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页｜33–38 分钟</a:t>
            </a:r>
          </a:p>
          <a:p>
            <a:r>
              <a:t>从 [0,0] 逐项累加。运行并对照手算，细微误差来自显示取舍。有时间保持 Q/K 不变，只复制 V 并改第三项为 [3,1]，权重不变，输出约 [1.759,0.752]。不要原地改共享列表。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页｜38–42 分钟</a:t>
            </a:r>
          </a:p>
          <a:p>
            <a:r>
              <a:t>‘我 喜欢 喝’是已知前文，喝可读三处。换成训练的第一个位置必须遮挡后面两处。运行 mask_demo.py 或 Notebook 遮罩单元，无需展开上三角矩阵。当前位置可以读自己，因为预测目标是下一个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页｜42–46 分钟</a:t>
            </a:r>
          </a:p>
          <a:p>
            <a:r>
              <a:t>区分两次 softmax：第一次分配输入位置权重，第二次分配输出候选概率。系数 2 是人工输出参数，不是学到的知识。完整模型对整个词表输出，本例只在两个候选间归一化。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页｜46–50 分钟</a:t>
            </a:r>
          </a:p>
          <a:p>
            <a:r>
              <a:t>运行最后单元，追问下次输入是什么。主线只演示一步，人工参数，无训练和结束循环，不能说具备写完整回复的能力。真实生成重复预测，在结束标记或长度条件满足时停止。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页｜50–54 分钟</a:t>
            </a:r>
          </a:p>
          <a:p>
            <a:r>
              <a:t>主线演示输入查表、单头 Attention 与输出映射，省略位置、FFN、残差、归一化。正式 decoder-only 图包含它们。原始 Transformer 是 Encoder–Decoder，decoder 还有读取 encoder 的 cross-attention。本课选择文本生成的 decoder-only 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页｜54–57 分钟</a:t>
            </a:r>
          </a:p>
          <a:p>
            <a:r>
              <a:t>训练用标签和误差调整 embedding、Q/K/V 投影、FFN 和输出层参数；生成不改参数。理解顺畅可由老师运行 optional/tiny_transformer.py，只看 loss 和生成，不展开源码。八句人工训练集上的改善不能证明泛化。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页｜57–60 分钟</a:t>
            </a:r>
          </a:p>
          <a:p>
            <a:r>
              <a:t>答案：ID 编号、embedding 数字表示；向量映射为候选分数，再变概率并选择；仅改 V 不变权重，但输出会变。不看资料画完整链路，并说出只有训练更新参数。课后约 15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开场 / 同一句例子贯穿全课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00–03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第一节：模型怎样接着写一个 token？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例句：我 喜欢 喝 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先说两个可能的答案，再说为什么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今天用几个小步骤，跑通其中一次预测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488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87F8C"/>
                </a:solidFill>
                <a:latin typeface="Microsoft YaHei"/>
              </a:defRPr>
            </a:pPr>
            <a:r>
              <a:t>只用这一句例子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926080"/>
            <a:ext cx="4389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32C3E"/>
                </a:solidFill>
                <a:latin typeface="Microsoft YaHei"/>
              </a:defRPr>
            </a:pPr>
            <a:r>
              <a:t>我 喜欢 喝</a:t>
            </a:r>
          </a:p>
          <a:p>
            <a:pPr>
              <a:lnSpc>
                <a:spcPts val="455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32C3E"/>
                </a:solidFill>
                <a:latin typeface="Microsoft YaHei"/>
              </a:defRPr>
            </a:pPr>
            <a:r>
              <a:t>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4434840"/>
            <a:ext cx="1874519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517136"/>
            <a:ext cx="172821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32C3E"/>
                </a:solidFill>
                <a:latin typeface="Microsoft YaHei"/>
              </a:defRPr>
            </a:pPr>
            <a:r>
              <a:t>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4434840"/>
            <a:ext cx="192024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4517136"/>
            <a:ext cx="177393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32C3E"/>
                </a:solidFill>
                <a:latin typeface="Microsoft YaHei"/>
              </a:defRPr>
            </a:pPr>
            <a:r>
              <a:t>牛奶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本课只追问：文字如何变成下一 token 的概率？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地图 / 每一步都接着上一步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03–06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先看地图：三个问题，三段代码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文字变数字：怎么把词交给计算机？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混合上下文：怎么利用前面的信息？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选择下一项：怎么把向量变成候选概率？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331720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2414015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32C3E"/>
                </a:solidFill>
                <a:latin typeface="Microsoft YaHei"/>
              </a:defRPr>
            </a:pPr>
            <a:r>
              <a:t>① 文字变数字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420" y="2935223"/>
            <a:ext cx="0" cy="27432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9043416" y="316839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03720" y="3218687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3300983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32C3E"/>
                </a:solidFill>
                <a:latin typeface="Microsoft YaHei"/>
              </a:defRPr>
            </a:pPr>
            <a:r>
              <a:t>② 按权重混合信息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5420" y="3822191"/>
            <a:ext cx="0" cy="27432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9043416" y="405536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3720" y="4105656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4187952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32C3E"/>
                </a:solidFill>
                <a:latin typeface="Microsoft YaHei"/>
              </a:defRPr>
            </a:pPr>
            <a:r>
              <a:t>③ 分数 → 概率 → 下一项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文字 → 数字列表 → Attention 向量 → 候选概率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第一段 / 文字变数字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06–09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① 文字变数字：先切分，再编号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按空格切开：我 / 喜欢 / 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724912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查词表：每个 token 对应一个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3814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520439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编号用于查表，大小不代表词义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5513832" cy="859536"/>
          </a:xfrm>
          <a:prstGeom prst="roundRect">
            <a:avLst>
              <a:gd name="adj" fmla="val 6000"/>
            </a:avLst>
          </a:prstGeom>
          <a:solidFill>
            <a:srgbClr val="13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645152"/>
            <a:ext cx="51755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tokens = text.split()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token_ids = [vocab[token] for token in tokens]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2331720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2414015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我 喜欢 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75420" y="2935223"/>
            <a:ext cx="0" cy="27432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9043416" y="316839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3720" y="3218687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3300983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["我", "喜欢", "喝"]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5420" y="3822191"/>
            <a:ext cx="0" cy="27432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9043416" y="405536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4105656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4187952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[0, 1, 2]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输入：我 喜欢 喝 → 输出：[0, 1, 2]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第一段 / 文字变数字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09–13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① Embedding：编号换成数字列表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ID=0 查到 [1,0]，ID=1 查到 [0,1]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724912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ID=2 查到 [1,1]；每个位置有一个向量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3814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520439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本课只用 2 维；实际维度可大很多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5513832" cy="859536"/>
          </a:xfrm>
          <a:prstGeom prst="roundRect">
            <a:avLst>
              <a:gd name="adj" fmla="val 6000"/>
            </a:avLst>
          </a:prstGeom>
          <a:solidFill>
            <a:srgbClr val="13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645152"/>
            <a:ext cx="51755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vectors = [embedding_table[i] for i in token_ids]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# [[1,0], [0,1], [1,1]]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05740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87F8C"/>
                </a:solidFill>
                <a:latin typeface="Microsoft YaHei"/>
              </a:defRPr>
            </a:pPr>
            <a:r>
              <a:t>输入编号 → 查表 → 向量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788920"/>
            <a:ext cx="4251960" cy="50292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2871215"/>
            <a:ext cx="4105656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我    ID=0    →    [1, 0]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3401568"/>
            <a:ext cx="4251960" cy="50292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3483863"/>
            <a:ext cx="4105656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喜欢    ID=1    →    [0, 1]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014215"/>
            <a:ext cx="4251960" cy="50292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4096511"/>
            <a:ext cx="4105656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喝    ID=2    →    [1, 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873752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C6F7B"/>
                </a:solidFill>
                <a:latin typeface="Microsoft YaHei"/>
              </a:defRPr>
            </a:pPr>
            <a:r>
              <a:t>人工数字；每个位置仅有 2 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到这里，文字已经变成可计算的数字。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第一段 / 补上位置的直觉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13–16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① 还需要顺序：谁在前，谁在后？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“我 喜欢 喝”和“喝 喜欢 我”顺序不同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实际模型会让表示带有位置信息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本课位置只讲作用，代码聚焦混合过程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331720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2414015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我 喜欢 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420" y="2935223"/>
            <a:ext cx="0" cy="27432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9043416" y="316839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03720" y="3218687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3300983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与“喝 喜欢 我”不同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5420" y="3822191"/>
            <a:ext cx="0" cy="27432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9043416" y="405536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3720" y="4105656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4187952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32C3E"/>
                </a:solidFill>
                <a:latin typeface="Microsoft YaHei"/>
              </a:defRPr>
            </a:pPr>
            <a:r>
              <a:t>真实模型加入位置信息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检查：ID 是编号，向量是表示，位置表达顺序。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第二段 / 先懂加权，再算权重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16–20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② 先理解混合：每个位置贡献多少？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假设三处贡献比例是 [0.2,0.3,0.5]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对每个数字分别加权求和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得到新向量；接着问：比例从哪来？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993392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2075688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权重：[0.2, 0.3, 0.5]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420" y="2532888"/>
            <a:ext cx="0" cy="21031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9043416" y="270205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03720" y="2752344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834640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V：[1,0] / [0,1] / [1,1]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5420" y="3291840"/>
            <a:ext cx="0" cy="21031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9043416" y="346100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3720" y="3511296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3593591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分别对两个数字加权求和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75420" y="4050791"/>
            <a:ext cx="0" cy="210313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9043416" y="421995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03720" y="4270248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4352544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输出向量：[0.7, 0.8]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0.2×[1,0] + 0.3×[0,1] + 0.5×[1,1] = [0.7,0.8]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第二段 / 为三个角色起名字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20–24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② Q / K / V：查询、匹配、取信息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Q：从“喝”发出的查询 [1,1]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724912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K：三个位置用来匹配的向量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3814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520439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V：三个位置提供的待混合信息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5513832" cy="859536"/>
          </a:xfrm>
          <a:prstGeom prst="roundRect">
            <a:avLst>
              <a:gd name="adj" fmla="val 6000"/>
            </a:avLst>
          </a:prstGeom>
          <a:solidFill>
            <a:srgbClr val="13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645152"/>
            <a:ext cx="51755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query = vectors[-1]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keys = vectors; values = vectors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2331720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2414015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Q：当前位置“喝” → [1,1]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75420" y="2935223"/>
            <a:ext cx="0" cy="27432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9043416" y="316839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3720" y="3218687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3300983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K：用来算匹配分数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5420" y="3822191"/>
            <a:ext cx="0" cy="27432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9043416" y="405536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4105656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4187952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V：按权重混合的信息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010912"/>
            <a:ext cx="4389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本例为恒等投影；实际常分别学习投影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本例三者用相同数字，角色不同；实际通常分别投影。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第二段 / 算出匹配分数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24–29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② 匹配分数：逐项相乘，再相加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[1,1] 与 [1,0]：1×1 + 1×0 =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724912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与 [0,1] 得 1；与 [1,1] 得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3814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520439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除以 √2，约为 [0.707,0.707,1.414]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5513832" cy="859536"/>
          </a:xfrm>
          <a:prstGeom prst="roundRect">
            <a:avLst>
              <a:gd name="adj" fmla="val 6000"/>
            </a:avLst>
          </a:prstGeom>
          <a:solidFill>
            <a:srgbClr val="13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645152"/>
            <a:ext cx="51755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dot = query[0]*key[0] + query[1]*key[1]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score = dot / math.sqrt(2)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965960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2048255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Q：[1,1]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75420" y="2505456"/>
            <a:ext cx="0" cy="201168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9043416" y="266547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3720" y="2715768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2798063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点积：[1, 1, 2]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5420" y="3255263"/>
            <a:ext cx="0" cy="201169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9043416" y="341528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3465576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547872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除以 √2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5420" y="4005072"/>
            <a:ext cx="0" cy="201168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9043416" y="416509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03720" y="4215383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6872" y="4297679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分数：[0.707,0.707,1.414]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匹配分数还不是权重，也不需要加起来等于 1。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第二段 / 从分数到权重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29–33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② Softmax：分数变成混合比例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较大的分数会得到较大的权重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724912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每个权重非负，总和为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3814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520439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得到约 [0.248,0.248,0.503]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5513832" cy="859536"/>
          </a:xfrm>
          <a:prstGeom prst="roundRect">
            <a:avLst>
              <a:gd name="adj" fmla="val 6000"/>
            </a:avLst>
          </a:prstGeom>
          <a:solidFill>
            <a:srgbClr val="13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645152"/>
            <a:ext cx="51755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weights = softmax(scores)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# 每个位置一个权重；完整精度下和为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87F8C"/>
                </a:solidFill>
                <a:latin typeface="Microsoft YaHei"/>
              </a:defRPr>
            </a:pPr>
            <a:r>
              <a:t>Softmax 后的混合权重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4320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2743200"/>
            <a:ext cx="680313" cy="338328"/>
          </a:xfrm>
          <a:prstGeom prst="roundRect">
            <a:avLst>
              <a:gd name="adj" fmla="val 6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61320" y="2743200"/>
            <a:ext cx="64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01568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喜欢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3401568"/>
            <a:ext cx="680313" cy="338328"/>
          </a:xfrm>
          <a:prstGeom prst="roundRect">
            <a:avLst>
              <a:gd name="adj" fmla="val 6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3401568"/>
            <a:ext cx="64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059935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4059935"/>
            <a:ext cx="1379829" cy="338328"/>
          </a:xfrm>
          <a:prstGeom prst="roundRect">
            <a:avLst>
              <a:gd name="adj" fmla="val 6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1320" y="4059935"/>
            <a:ext cx="640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0.503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919472"/>
            <a:ext cx="4389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F7B"/>
                </a:solidFill>
                <a:latin typeface="Microsoft YaHei"/>
              </a:defRPr>
            </a:pPr>
            <a:r>
              <a:t>每个已知输入位置得到一个权重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当前“喝”位置对三个可见位置各有一个混合权重。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第二段 / 回到加权混合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33–38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② 用权重混合 V：Attention 就算完了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第一维：0.248×1 + 0.248×0 + 0.503×1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724912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第二维：0.248×0 + 0.248×1 + 0.503×1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3814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520439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新的向量约为 [0.752,0.752]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5513832" cy="859536"/>
          </a:xfrm>
          <a:prstGeom prst="roundRect">
            <a:avLst>
              <a:gd name="adj" fmla="val 6000"/>
            </a:avLst>
          </a:prstGeom>
          <a:solidFill>
            <a:srgbClr val="13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645152"/>
            <a:ext cx="51755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mixed[0] += weights[i] * values[i][0]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mixed[1] += weights[i] * values[i][1]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993392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2075688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权重：[0.248, 0.248, 0.503]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75420" y="2532888"/>
            <a:ext cx="0" cy="21031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9043416" y="270205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3720" y="2752344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2834640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V：[1,0] / [0,1] / [1,1]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5420" y="3291840"/>
            <a:ext cx="0" cy="21031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9043416" y="346100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3511296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593591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分别对两个数字加权求和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5420" y="4050791"/>
            <a:ext cx="0" cy="210313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9043416" y="421995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03720" y="4270248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6872" y="4352544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输出向量：[0.752, 0.752]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Attention 的输出是向量，还没有选出任何一个词。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第二段 / 因果遮罩只讲一个位置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38–42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② 预测下一项，不能提前看答案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第一个位置只能读自己，不能读后面的词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724912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将未来位置的分数设为 −∞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3814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520439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Softmax 后未来权重为 0：[1,0,0]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5513832" cy="859536"/>
          </a:xfrm>
          <a:prstGeom prst="roundRect">
            <a:avLst>
              <a:gd name="adj" fmla="val 6000"/>
            </a:avLst>
          </a:prstGeom>
          <a:solidFill>
            <a:srgbClr val="13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645152"/>
            <a:ext cx="51755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softmax([0.707, -math.inf, -math.inf])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# [1.0, 0.0, 0.0]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965960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2048255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如果当前在第一个位置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75420" y="2505456"/>
            <a:ext cx="0" cy="201168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9043416" y="266547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3720" y="2715768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2798063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分数：[0.707, −∞, −∞]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5420" y="3255263"/>
            <a:ext cx="0" cy="201169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9043416" y="341528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3465576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547872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未来位置不可读取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5420" y="4005072"/>
            <a:ext cx="0" cy="201168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9043416" y="416509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03720" y="4215383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6872" y="4297679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权重：[1, 0, 0]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主例子算最后一个位置；三个输入 token 都已经可见。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第三段 / 向量到下一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42–46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③ 输出层：把向量变成候选概率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演示只比较“酒”和“牛奶”两个候选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724912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人工输出投影：分数约 [1.503,0.752]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3814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520439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56432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再做 Softmax：概率约 [0.680,0.320]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5513832" cy="859536"/>
          </a:xfrm>
          <a:prstGeom prst="roundRect">
            <a:avLst>
              <a:gd name="adj" fmla="val 6000"/>
            </a:avLst>
          </a:prstGeom>
          <a:solidFill>
            <a:srgbClr val="13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645152"/>
            <a:ext cx="51755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logits = [2*mixed[0], mixed[1]]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probabilities = softmax(logits)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965960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2048255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混合向量：[0.752,0.752]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75420" y="2505456"/>
            <a:ext cx="0" cy="201168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9043416" y="266547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3720" y="2715768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2798063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人工映射 → 两个候选分数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5420" y="3255263"/>
            <a:ext cx="0" cy="201169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9043416" y="341528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3465576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547872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[1.503, 0.752]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5420" y="4005072"/>
            <a:ext cx="0" cy="201168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9043416" y="416509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03720" y="4215383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6872" y="4297679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酒：0.680 / 牛奶：0.320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Attention 权重针对输入位置；这里的概率针对输出候选。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第三段 / 理解一次生成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46–50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③ 选一个 token，接回前文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本例用最高概率选择：酒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前文变成：我 喜欢 喝 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真实生成用更长的前文重复预测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965960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2048255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前文：我 喜欢 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420" y="2505456"/>
            <a:ext cx="0" cy="201168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9043416" y="266547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03720" y="2715768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98063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选择下一 token：酒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5420" y="3255263"/>
            <a:ext cx="0" cy="201169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9043416" y="341528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3720" y="3465576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3547872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新前文：我 喜欢 喝 酒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75420" y="4005072"/>
            <a:ext cx="0" cy="201168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9043416" y="416509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03720" y="4215383"/>
            <a:ext cx="4343400" cy="530352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4297679"/>
            <a:ext cx="4197096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真实生成会重复预测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运行结果是一小步；一段回复由很多小步组成。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全貌 / 算过核心，再认识其余模块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50–54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把这条主线放回 Transformer 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输入端：token 表示 + 位置信息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Block：Attention 混合，FFN 逐位置加工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残差、归一化帮助训练；Block 可叠多层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874519"/>
            <a:ext cx="4343400" cy="44805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1956815"/>
            <a:ext cx="4197096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32C3E"/>
                </a:solidFill>
                <a:latin typeface="Microsoft YaHei"/>
              </a:defRPr>
            </a:pPr>
            <a:r>
              <a:t>Token 表示 + 位置信息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420" y="2331720"/>
            <a:ext cx="0" cy="164592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9043416" y="245516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03720" y="2505456"/>
            <a:ext cx="4343400" cy="448056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587751"/>
            <a:ext cx="4197096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32C3E"/>
                </a:solidFill>
                <a:latin typeface="Microsoft YaHei"/>
              </a:defRPr>
            </a:pPr>
            <a:r>
              <a:t>Block：Attention + FFN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5420" y="2962655"/>
            <a:ext cx="0" cy="164593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9043416" y="308610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3720" y="3136391"/>
            <a:ext cx="4343400" cy="44805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3218687"/>
            <a:ext cx="4197096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32C3E"/>
                </a:solidFill>
                <a:latin typeface="Microsoft YaHei"/>
              </a:defRPr>
            </a:pPr>
            <a:r>
              <a:t>内部包含残差与归一化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75420" y="3593591"/>
            <a:ext cx="0" cy="164593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9043416" y="371703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03720" y="3767327"/>
            <a:ext cx="4343400" cy="448056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3849623"/>
            <a:ext cx="4197096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32C3E"/>
                </a:solidFill>
                <a:latin typeface="Microsoft YaHei"/>
              </a:defRPr>
            </a:pPr>
            <a:r>
              <a:t>最终归一化 + 输出映射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75420" y="4224527"/>
            <a:ext cx="0" cy="164593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0800000">
            <a:off x="9043416" y="434797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03720" y="4398264"/>
            <a:ext cx="4343400" cy="44805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4480559"/>
            <a:ext cx="4197096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32C3E"/>
                </a:solidFill>
                <a:latin typeface="Microsoft YaHei"/>
              </a:defRPr>
            </a:pPr>
            <a:r>
              <a:t>整个词表的概率 → 下一 token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148072"/>
            <a:ext cx="4343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C6F7B"/>
                </a:solidFill>
                <a:latin typeface="Microsoft YaHei"/>
              </a:defRPr>
            </a:pPr>
            <a:r>
              <a:t>文本生成的 decoder-only 架构示意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今天理解流向；多头、归一化和训练实现留到后续课程。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全貌 / 参数如何获得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54–57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这些数字从哪来？训练与生成分开看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本课的 embedding 和输出系数是手动设置的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实际训练根据正确后续和误差更新参数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生成使用已有参数，逐步增加上下文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5740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87F8C"/>
                </a:solidFill>
                <a:latin typeface="Microsoft YaHei"/>
              </a:defRPr>
            </a:pPr>
            <a:r>
              <a:t>训练：改变参数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697480"/>
            <a:ext cx="4297680" cy="585216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2779776"/>
            <a:ext cx="4151376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句子 → 预测 → 误差 → 更新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0332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87F8C"/>
                </a:solidFill>
                <a:latin typeface="Microsoft YaHei"/>
              </a:defRPr>
            </a:pPr>
            <a:r>
              <a:t>生成：增加上下文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4343400"/>
            <a:ext cx="4297680" cy="58521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4425696"/>
            <a:ext cx="4151376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32C3E"/>
                </a:solidFill>
                <a:latin typeface="Microsoft YaHei"/>
              </a:defRPr>
            </a:pPr>
            <a:r>
              <a:t>前文 → 预测 → 接上新 token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课堂代码展示计算过程；完整训练演示在 optional/。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检查 / 三个问题与一个实验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359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6F7B"/>
                </a:solidFill>
                <a:latin typeface="Microsoft YaHei"/>
              </a:defRPr>
            </a:pPr>
            <a:r>
              <a:t>57–60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185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32C3E"/>
                </a:solidFill>
                <a:latin typeface="Microsoft YaHei"/>
              </a:defRPr>
            </a:pPr>
            <a:r>
              <a:t>最后三分钟：自己讲通这条链路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700784"/>
            <a:ext cx="5166360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ID 和向量，分别是什么？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Attention 之后，还要哪一步才选出词？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673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DA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849624"/>
            <a:ext cx="2011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2C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4983480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32C3E"/>
                </a:solidFill>
                <a:latin typeface="Microsoft YaHei"/>
              </a:defRPr>
            </a:pPr>
            <a:r>
              <a:t>只改 V，权重和输出分别怎样变化？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331720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2414015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文字 → 数字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420" y="2935223"/>
            <a:ext cx="0" cy="27432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9043416" y="3168396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03720" y="3218687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DE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3300983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权重 → 混合向量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5420" y="3822191"/>
            <a:ext cx="0" cy="274321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9043416" y="4055364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3720" y="4105656"/>
            <a:ext cx="4343400" cy="594360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4187952"/>
            <a:ext cx="41970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32C3E"/>
                </a:solidFill>
                <a:latin typeface="Microsoft YaHei"/>
              </a:defRPr>
            </a:pPr>
            <a:r>
              <a:t>分数 → 概率 → 下一 token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596128"/>
            <a:ext cx="10991088" cy="630936"/>
          </a:xfrm>
          <a:prstGeom prst="roundRect">
            <a:avLst>
              <a:gd name="adj" fmla="val 6000"/>
            </a:avLst>
          </a:prstGeom>
          <a:solidFill>
            <a:srgbClr val="E6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5742432"/>
            <a:ext cx="1057960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课后：画流程图，再做一次“先猜、再跑、再解释”的实验。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64808"/>
            <a:ext cx="8412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TRANSFORMER NEWBIE  /  CLASS 1  /  先预测 · 再运行 · 再解释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64808"/>
            <a:ext cx="8412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F7B"/>
                </a:solidFill>
                <a:latin typeface="Microsoft YaHei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 — Transformer：从一句话到下一个 token</dc:title>
  <dc:subject>60 分钟入门教学，简明版：文字、加权混合、下一 token</dc:subject>
  <dc:creator>Transformer Newbie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